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FactoryPilot: a chat interface over live S/4HANA warehouse data, running natively on SAP BTP. Every answer shows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The point is that this is not a data problem — it is an access problem, and that is what makes it solvable without changing anything in S/4.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point is the one that separates this from a chatbot demo. A write never executes on the model's say-so.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4 and 5 can end the request early. The ordering of quota before cache is deliberate and worth calling out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branches are the whole behaviour model. Emphasise the third: a write is proposed, never executed 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the split: three objects on Graph, two on the Hub. If asked why not everything on Graph — those entities are not in the namespace.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'why not just call the OData services directly'. The credential and association points land hardest with architects.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separation is a commercial point as much as a technical one: a client can take the chat plane without the token governance, or vice versa.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read-only decision is a selling point, not a limitation. Say it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room has a security lead, this is the slide they came for. The 'two authorities' line is the one that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not to over-claim 'free'. The wording here is deliberate: free today, with a paid fallback that you control and can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have time for one slide after the demo, this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wins over the sceptic in the room. It says the failure modes were found and closed, rather than never considered.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the check. A claim someone can verify in front of you is worth more than a bigger claim they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what is not built buys credibility for everything that is. The AI Core line is the opener for a data-residency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taking a question from the room live, in the app. That is the whole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B32"/>
        </a:solidFill>
      </p:bgPr>
    </p:bg>
    <p:spTree>
      <p:nvGrpSpPr>
        <p:cNvPr id="1" name=""/>
        <p:cNvGrpSpPr/>
        <p:nvPr/>
      </p:nvGrpSpPr>
      <p:grpSpPr>
        <a:xfrm>
          <a:off x="0" y="0"/>
          <a:ext cx="0" cy="0"/>
          <a:chOff x="0" y="0"/>
          <a:chExt cx="0" cy="0"/>
        </a:xfrm>
      </p:grpSpPr>
      <p:sp>
        <p:nvSpPr>
          <p:cNvPr id="2" name="Text 0"/>
          <p:cNvSpPr txBox="1"/>
          <p:nvPr/>
        </p:nvSpPr>
        <p:spPr>
          <a:xfrm>
            <a:off x="640080" y="2286000"/>
            <a:ext cx="96012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FactoryPilot_CAPM</a:t>
            </a:r>
            <a:endParaRPr lang="en-US" sz="5400" dirty="0"/>
          </a:p>
        </p:txBody>
      </p:sp>
      <p:sp>
        <p:nvSpPr>
          <p:cNvPr id="3" name="Text 1"/>
          <p:cNvSpPr txBox="1"/>
          <p:nvPr/>
        </p:nvSpPr>
        <p:spPr>
          <a:xfrm>
            <a:off x="640080" y="3310128"/>
            <a:ext cx="8778240" cy="548640"/>
          </a:xfrm>
          <a:prstGeom prst="rect">
            <a:avLst/>
          </a:prstGeom>
          <a:noFill/>
          <a:ln/>
        </p:spPr>
        <p:txBody>
          <a:bodyPr wrap="square" lIns="0" tIns="0" rIns="0" bIns="0" rtlCol="0" anchor="ctr"/>
          <a:lstStyle/>
          <a:p>
            <a:pPr indent="0" marL="0">
              <a:buNone/>
            </a:pPr>
            <a:r>
              <a:rPr lang="en-US" sz="1900" dirty="0">
                <a:solidFill>
                  <a:srgbClr val="C6D0D7"/>
                </a:solidFill>
                <a:latin typeface="Calibri" pitchFamily="34" charset="0"/>
                <a:ea typeface="Calibri" pitchFamily="34" charset="-122"/>
                <a:cs typeface="Calibri" pitchFamily="34" charset="-120"/>
              </a:rPr>
              <a:t>Ask your warehouse a question. Get the answer, and where it came from.</a:t>
            </a:r>
            <a:endParaRPr lang="en-US" sz="1900" dirty="0"/>
          </a:p>
        </p:txBody>
      </p:sp>
      <p:sp>
        <p:nvSpPr>
          <p:cNvPr id="4" name="Text 2"/>
          <p:cNvSpPr txBox="1"/>
          <p:nvPr/>
        </p:nvSpPr>
        <p:spPr>
          <a:xfrm>
            <a:off x="640080" y="4069080"/>
            <a:ext cx="9601200" cy="365760"/>
          </a:xfrm>
          <a:prstGeom prst="rect">
            <a:avLst/>
          </a:prstGeom>
          <a:noFill/>
          <a:ln/>
        </p:spPr>
        <p:txBody>
          <a:bodyPr wrap="square" lIns="0" tIns="0" rIns="0" bIns="0" rtlCol="0" anchor="ctr"/>
          <a:lstStyle/>
          <a:p>
            <a:pPr indent="0" marL="0">
              <a:buNone/>
            </a:pPr>
            <a:r>
              <a:rPr lang="en-US" sz="1300" dirty="0">
                <a:solidFill>
                  <a:srgbClr val="E08A1E"/>
                </a:solidFill>
                <a:latin typeface="Calibri" pitchFamily="34" charset="0"/>
                <a:ea typeface="Calibri" pitchFamily="34" charset="-122"/>
                <a:cs typeface="Calibri" pitchFamily="34" charset="-120"/>
              </a:rPr>
              <a:t>An AI copilot for SAP S/4HANA warehouse operations  ·  built on SAP BTP with SAP Graph</a:t>
            </a:r>
            <a:endParaRPr lang="en-US" sz="1300" dirty="0"/>
          </a:p>
        </p:txBody>
      </p:sp>
      <p:sp>
        <p:nvSpPr>
          <p:cNvPr id="5" name="Shape 3"/>
          <p:cNvSpPr/>
          <p:nvPr/>
        </p:nvSpPr>
        <p:spPr>
          <a:xfrm>
            <a:off x="9966960" y="3749040"/>
            <a:ext cx="292608" cy="457200"/>
          </a:xfrm>
          <a:prstGeom prst="rect">
            <a:avLst/>
          </a:prstGeom>
          <a:solidFill>
            <a:srgbClr val="3A4650"/>
          </a:solidFill>
          <a:ln/>
        </p:spPr>
      </p:sp>
      <p:sp>
        <p:nvSpPr>
          <p:cNvPr id="6" name="Shape 4"/>
          <p:cNvSpPr/>
          <p:nvPr/>
        </p:nvSpPr>
        <p:spPr>
          <a:xfrm>
            <a:off x="10351008" y="3493008"/>
            <a:ext cx="292608" cy="713232"/>
          </a:xfrm>
          <a:prstGeom prst="rect">
            <a:avLst/>
          </a:prstGeom>
          <a:solidFill>
            <a:srgbClr val="3A4650"/>
          </a:solidFill>
          <a:ln/>
        </p:spPr>
      </p:sp>
      <p:sp>
        <p:nvSpPr>
          <p:cNvPr id="7" name="Shape 5"/>
          <p:cNvSpPr/>
          <p:nvPr/>
        </p:nvSpPr>
        <p:spPr>
          <a:xfrm>
            <a:off x="10735056" y="3182112"/>
            <a:ext cx="292608" cy="1024128"/>
          </a:xfrm>
          <a:prstGeom prst="rect">
            <a:avLst/>
          </a:prstGeom>
          <a:solidFill>
            <a:srgbClr val="E08A1E"/>
          </a:solidFill>
          <a:ln/>
        </p:spPr>
      </p:sp>
      <p:sp>
        <p:nvSpPr>
          <p:cNvPr id="8" name="Text 6"/>
          <p:cNvSpPr txBox="1"/>
          <p:nvPr/>
        </p:nvSpPr>
        <p:spPr>
          <a:xfrm>
            <a:off x="640080" y="5989320"/>
            <a:ext cx="4572000" cy="274320"/>
          </a:xfrm>
          <a:prstGeom prst="rect">
            <a:avLst/>
          </a:prstGeom>
          <a:noFill/>
          <a:ln/>
        </p:spPr>
        <p:txBody>
          <a:bodyPr wrap="square" lIns="0" tIns="0" rIns="0" bIns="0" rtlCol="0" anchor="ctr"/>
          <a:lstStyle/>
          <a:p>
            <a:pPr indent="0" marL="0">
              <a:buNone/>
            </a:pPr>
            <a:r>
              <a:rPr lang="en-US" sz="1000" dirty="0">
                <a:solidFill>
                  <a:srgbClr val="6B7A87"/>
                </a:solidFill>
                <a:latin typeface="Courier New" pitchFamily="34" charset="0"/>
                <a:ea typeface="Courier New" pitchFamily="34" charset="-122"/>
                <a:cs typeface="Courier New" pitchFamily="34" charset="-120"/>
              </a:rPr>
              <a:t>Client demonstration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indent="0" marL="0">
              <a:buNone/>
            </a:pPr>
            <a:r>
              <a:rPr lang="en-US" sz="3400" b="1" dirty="0">
                <a:solidFill>
                  <a:srgbClr val="232B32"/>
                </a:solidFill>
                <a:latin typeface="Cambria" pitchFamily="34" charset="0"/>
                <a:ea typeface="Cambria" pitchFamily="34" charset="-122"/>
                <a:cs typeface="Cambria" pitchFamily="34" charset="-120"/>
              </a:rPr>
              <a:t>The number already exists</a:t>
            </a:r>
            <a:endParaRPr lang="en-US" sz="3400" dirty="0"/>
          </a:p>
        </p:txBody>
      </p:sp>
      <p:sp>
        <p:nvSpPr>
          <p:cNvPr id="3" name="Text 1"/>
          <p:cNvSpPr txBox="1"/>
          <p:nvPr/>
        </p:nvSpPr>
        <p:spPr>
          <a:xfrm>
            <a:off x="640080" y="1060704"/>
            <a:ext cx="10881360" cy="365760"/>
          </a:xfrm>
          <a:prstGeom prst="rect">
            <a:avLst/>
          </a:prstGeom>
          <a:noFill/>
          <a:ln/>
        </p:spPr>
        <p:txBody>
          <a:bodyPr wrap="square" lIns="0" tIns="0" rIns="0" bIns="0" rtlCol="0" anchor="ctr"/>
          <a:lstStyle/>
          <a:p>
            <a:pPr indent="0" marL="0">
              <a:buNone/>
            </a:pPr>
            <a:r>
              <a:rPr lang="en-US" sz="1400" dirty="0">
                <a:solidFill>
                  <a:srgbClr val="6B7A87"/>
                </a:solidFill>
                <a:latin typeface="Calibri" pitchFamily="34" charset="0"/>
                <a:ea typeface="Calibri" pitchFamily="34" charset="-122"/>
                <a:cs typeface="Calibri" pitchFamily="34" charset="-120"/>
              </a:rPr>
              <a:t>The difficulty was never missing data</a:t>
            </a:r>
            <a:endParaRPr lang="en-US" sz="1400" dirty="0"/>
          </a:p>
        </p:txBody>
      </p:sp>
      <p:sp>
        <p:nvSpPr>
          <p:cNvPr id="4" name="Shape 2"/>
          <p:cNvSpPr/>
          <p:nvPr/>
        </p:nvSpPr>
        <p:spPr>
          <a:xfrm>
            <a:off x="640080" y="1691640"/>
            <a:ext cx="5349240" cy="4114800"/>
          </a:xfrm>
          <a:prstGeom prst="roundRect">
            <a:avLst>
              <a:gd name="adj" fmla="val 1333"/>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5" name="Text 3"/>
          <p:cNvSpPr txBox="1"/>
          <p:nvPr/>
        </p:nvSpPr>
        <p:spPr>
          <a:xfrm>
            <a:off x="960120" y="1920240"/>
            <a:ext cx="4663440" cy="320040"/>
          </a:xfrm>
          <a:prstGeom prst="rect">
            <a:avLst/>
          </a:prstGeom>
          <a:noFill/>
          <a:ln/>
        </p:spPr>
        <p:txBody>
          <a:bodyPr wrap="square" lIns="0" tIns="0" rIns="0" bIns="0" rtlCol="0" anchor="ctr"/>
          <a:lstStyle/>
          <a:p>
            <a:pPr indent="0" marL="0">
              <a:buNone/>
            </a:pPr>
            <a:r>
              <a:rPr lang="en-US" sz="1700" b="1" dirty="0">
                <a:solidFill>
                  <a:srgbClr val="232B32"/>
                </a:solidFill>
                <a:latin typeface="Cambria" pitchFamily="34" charset="0"/>
                <a:ea typeface="Cambria" pitchFamily="34" charset="-122"/>
                <a:cs typeface="Cambria" pitchFamily="34" charset="-120"/>
              </a:rPr>
              <a:t>What it costs today</a:t>
            </a:r>
            <a:endParaRPr lang="en-US" sz="1700" dirty="0"/>
          </a:p>
        </p:txBody>
      </p:sp>
      <p:sp>
        <p:nvSpPr>
          <p:cNvPr id="6" name="Shape 4"/>
          <p:cNvSpPr/>
          <p:nvPr/>
        </p:nvSpPr>
        <p:spPr>
          <a:xfrm>
            <a:off x="960120" y="2395728"/>
            <a:ext cx="329184" cy="329184"/>
          </a:xfrm>
          <a:prstGeom prst="ellipse">
            <a:avLst/>
          </a:prstGeom>
          <a:solidFill>
            <a:srgbClr val="E4E9EC"/>
          </a:solidFill>
          <a:ln/>
        </p:spPr>
      </p:sp>
      <p:sp>
        <p:nvSpPr>
          <p:cNvPr id="7" name="Text 5"/>
          <p:cNvSpPr txBox="1"/>
          <p:nvPr/>
        </p:nvSpPr>
        <p:spPr>
          <a:xfrm>
            <a:off x="960120" y="2395728"/>
            <a:ext cx="329184" cy="329184"/>
          </a:xfrm>
          <a:prstGeom prst="rect">
            <a:avLst/>
          </a:prstGeom>
          <a:noFill/>
          <a:ln/>
        </p:spPr>
        <p:txBody>
          <a:bodyPr wrap="square" lIns="0" tIns="0" rIns="0" bIns="0" rtlCol="0" anchor="ctr"/>
          <a:lstStyle/>
          <a:p>
            <a:pPr algn="ctr" indent="0" marL="0">
              <a:buNone/>
            </a:pPr>
            <a:r>
              <a:rPr lang="en-US" sz="1100" b="1" dirty="0">
                <a:solidFill>
                  <a:srgbClr val="232B32"/>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1417320" y="2359152"/>
            <a:ext cx="4206240" cy="274320"/>
          </a:xfrm>
          <a:prstGeom prst="rect">
            <a:avLst/>
          </a:prstGeom>
          <a:noFill/>
          <a:ln/>
        </p:spPr>
        <p:txBody>
          <a:bodyPr wrap="square" lIns="0" tIns="0" rIns="0" bIns="0" rtlCol="0" anchor="ctr"/>
          <a:lstStyle/>
          <a:p>
            <a:pPr indent="0" marL="0">
              <a:buNone/>
            </a:pPr>
            <a:r>
              <a:rPr lang="en-US" sz="1450" b="1" dirty="0">
                <a:solidFill>
                  <a:srgbClr val="232B32"/>
                </a:solidFill>
                <a:latin typeface="Calibri" pitchFamily="34" charset="0"/>
                <a:ea typeface="Calibri" pitchFamily="34" charset="-122"/>
                <a:cs typeface="Calibri" pitchFamily="34" charset="-120"/>
              </a:rPr>
              <a:t>A transaction code</a:t>
            </a:r>
            <a:endParaRPr lang="en-US" sz="1450" dirty="0"/>
          </a:p>
        </p:txBody>
      </p:sp>
      <p:sp>
        <p:nvSpPr>
          <p:cNvPr id="9" name="Text 7"/>
          <p:cNvSpPr txBox="1"/>
          <p:nvPr/>
        </p:nvSpPr>
        <p:spPr>
          <a:xfrm>
            <a:off x="1417320" y="2651760"/>
            <a:ext cx="4206240" cy="457200"/>
          </a:xfrm>
          <a:prstGeom prst="rect">
            <a:avLst/>
          </a:prstGeom>
          <a:noFill/>
          <a:ln/>
        </p:spPr>
        <p:txBody>
          <a:bodyPr wrap="square" lIns="0" tIns="0" rIns="0" bIns="0" rtlCol="0" anchor="ctr"/>
          <a:lstStyle/>
          <a:p>
            <a:pPr indent="0" marL="0">
              <a:buNone/>
            </a:pPr>
            <a:r>
              <a:rPr lang="en-US" sz="1250" dirty="0">
                <a:solidFill>
                  <a:srgbClr val="6B7A87"/>
                </a:solidFill>
                <a:latin typeface="Calibri" pitchFamily="34" charset="0"/>
                <a:ea typeface="Calibri" pitchFamily="34" charset="-122"/>
                <a:cs typeface="Calibri" pitchFamily="34" charset="-120"/>
              </a:rPr>
              <a:t>and a screen someone had to be trained on</a:t>
            </a:r>
            <a:endParaRPr lang="en-US" sz="1250" dirty="0"/>
          </a:p>
        </p:txBody>
      </p:sp>
      <p:sp>
        <p:nvSpPr>
          <p:cNvPr id="10" name="Shape 8"/>
          <p:cNvSpPr/>
          <p:nvPr/>
        </p:nvSpPr>
        <p:spPr>
          <a:xfrm>
            <a:off x="960120" y="3419856"/>
            <a:ext cx="329184" cy="329184"/>
          </a:xfrm>
          <a:prstGeom prst="ellipse">
            <a:avLst/>
          </a:prstGeom>
          <a:solidFill>
            <a:srgbClr val="E4E9EC"/>
          </a:solidFill>
          <a:ln/>
        </p:spPr>
      </p:sp>
      <p:sp>
        <p:nvSpPr>
          <p:cNvPr id="11" name="Text 9"/>
          <p:cNvSpPr txBox="1"/>
          <p:nvPr/>
        </p:nvSpPr>
        <p:spPr>
          <a:xfrm>
            <a:off x="960120" y="3419856"/>
            <a:ext cx="329184" cy="329184"/>
          </a:xfrm>
          <a:prstGeom prst="rect">
            <a:avLst/>
          </a:prstGeom>
          <a:noFill/>
          <a:ln/>
        </p:spPr>
        <p:txBody>
          <a:bodyPr wrap="square" lIns="0" tIns="0" rIns="0" bIns="0" rtlCol="0" anchor="ctr"/>
          <a:lstStyle/>
          <a:p>
            <a:pPr algn="ctr" indent="0" marL="0">
              <a:buNone/>
            </a:pPr>
            <a:r>
              <a:rPr lang="en-US" sz="1100" b="1" dirty="0">
                <a:solidFill>
                  <a:srgbClr val="232B32"/>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1417320" y="3383280"/>
            <a:ext cx="4206240" cy="274320"/>
          </a:xfrm>
          <a:prstGeom prst="rect">
            <a:avLst/>
          </a:prstGeom>
          <a:noFill/>
          <a:ln/>
        </p:spPr>
        <p:txBody>
          <a:bodyPr wrap="square" lIns="0" tIns="0" rIns="0" bIns="0" rtlCol="0" anchor="ctr"/>
          <a:lstStyle/>
          <a:p>
            <a:pPr indent="0" marL="0">
              <a:buNone/>
            </a:pPr>
            <a:r>
              <a:rPr lang="en-US" sz="1450" b="1" dirty="0">
                <a:solidFill>
                  <a:srgbClr val="232B32"/>
                </a:solidFill>
                <a:latin typeface="Calibri" pitchFamily="34" charset="0"/>
                <a:ea typeface="Calibri" pitchFamily="34" charset="-122"/>
                <a:cs typeface="Calibri" pitchFamily="34" charset="-120"/>
              </a:rPr>
              <a:t>Fourteen selection fields</a:t>
            </a:r>
            <a:endParaRPr lang="en-US" sz="1450" dirty="0"/>
          </a:p>
        </p:txBody>
      </p:sp>
      <p:sp>
        <p:nvSpPr>
          <p:cNvPr id="13" name="Text 11"/>
          <p:cNvSpPr txBox="1"/>
          <p:nvPr/>
        </p:nvSpPr>
        <p:spPr>
          <a:xfrm>
            <a:off x="1417320" y="3675888"/>
            <a:ext cx="4206240" cy="457200"/>
          </a:xfrm>
          <a:prstGeom prst="rect">
            <a:avLst/>
          </a:prstGeom>
          <a:noFill/>
          <a:ln/>
        </p:spPr>
        <p:txBody>
          <a:bodyPr wrap="square" lIns="0" tIns="0" rIns="0" bIns="0" rtlCol="0" anchor="ctr"/>
          <a:lstStyle/>
          <a:p>
            <a:pPr indent="0" marL="0">
              <a:buNone/>
            </a:pPr>
            <a:r>
              <a:rPr lang="en-US" sz="1250" dirty="0">
                <a:solidFill>
                  <a:srgbClr val="6B7A87"/>
                </a:solidFill>
                <a:latin typeface="Calibri" pitchFamily="34" charset="0"/>
                <a:ea typeface="Calibri" pitchFamily="34" charset="-122"/>
                <a:cs typeface="Calibri" pitchFamily="34" charset="-120"/>
              </a:rPr>
              <a:t>and a colleague who knows which one matters</a:t>
            </a:r>
            <a:endParaRPr lang="en-US" sz="1250" dirty="0"/>
          </a:p>
        </p:txBody>
      </p:sp>
      <p:sp>
        <p:nvSpPr>
          <p:cNvPr id="14" name="Shape 12"/>
          <p:cNvSpPr/>
          <p:nvPr/>
        </p:nvSpPr>
        <p:spPr>
          <a:xfrm>
            <a:off x="960120" y="4443984"/>
            <a:ext cx="329184" cy="329184"/>
          </a:xfrm>
          <a:prstGeom prst="ellipse">
            <a:avLst/>
          </a:prstGeom>
          <a:solidFill>
            <a:srgbClr val="E4E9EC"/>
          </a:solidFill>
          <a:ln/>
        </p:spPr>
      </p:sp>
      <p:sp>
        <p:nvSpPr>
          <p:cNvPr id="15" name="Text 13"/>
          <p:cNvSpPr txBox="1"/>
          <p:nvPr/>
        </p:nvSpPr>
        <p:spPr>
          <a:xfrm>
            <a:off x="960120" y="4443984"/>
            <a:ext cx="329184" cy="329184"/>
          </a:xfrm>
          <a:prstGeom prst="rect">
            <a:avLst/>
          </a:prstGeom>
          <a:noFill/>
          <a:ln/>
        </p:spPr>
        <p:txBody>
          <a:bodyPr wrap="square" lIns="0" tIns="0" rIns="0" bIns="0" rtlCol="0" anchor="ctr"/>
          <a:lstStyle/>
          <a:p>
            <a:pPr algn="ctr" indent="0" marL="0">
              <a:buNone/>
            </a:pPr>
            <a:r>
              <a:rPr lang="en-US" sz="1100" b="1" dirty="0">
                <a:solidFill>
                  <a:srgbClr val="232B32"/>
                </a:solidFill>
                <a:latin typeface="Calibri" pitchFamily="34" charset="0"/>
                <a:ea typeface="Calibri" pitchFamily="34" charset="-122"/>
                <a:cs typeface="Calibri" pitchFamily="34" charset="-120"/>
              </a:rPr>
              <a:t>3</a:t>
            </a:r>
            <a:endParaRPr lang="en-US" sz="1100" dirty="0"/>
          </a:p>
        </p:txBody>
      </p:sp>
      <p:sp>
        <p:nvSpPr>
          <p:cNvPr id="16" name="Text 14"/>
          <p:cNvSpPr txBox="1"/>
          <p:nvPr/>
        </p:nvSpPr>
        <p:spPr>
          <a:xfrm>
            <a:off x="1417320" y="4407408"/>
            <a:ext cx="4206240" cy="274320"/>
          </a:xfrm>
          <a:prstGeom prst="rect">
            <a:avLst/>
          </a:prstGeom>
          <a:noFill/>
          <a:ln/>
        </p:spPr>
        <p:txBody>
          <a:bodyPr wrap="square" lIns="0" tIns="0" rIns="0" bIns="0" rtlCol="0" anchor="ctr"/>
          <a:lstStyle/>
          <a:p>
            <a:pPr indent="0" marL="0">
              <a:buNone/>
            </a:pPr>
            <a:r>
              <a:rPr lang="en-US" sz="1450" b="1" dirty="0">
                <a:solidFill>
                  <a:srgbClr val="232B32"/>
                </a:solidFill>
                <a:latin typeface="Calibri" pitchFamily="34" charset="0"/>
                <a:ea typeface="Calibri" pitchFamily="34" charset="-122"/>
                <a:cs typeface="Calibri" pitchFamily="34" charset="-120"/>
              </a:rPr>
              <a:t>So it gets asked, not looked up</a:t>
            </a:r>
            <a:endParaRPr lang="en-US" sz="1450" dirty="0"/>
          </a:p>
        </p:txBody>
      </p:sp>
      <p:sp>
        <p:nvSpPr>
          <p:cNvPr id="17" name="Text 15"/>
          <p:cNvSpPr txBox="1"/>
          <p:nvPr/>
        </p:nvSpPr>
        <p:spPr>
          <a:xfrm>
            <a:off x="1417320" y="4700016"/>
            <a:ext cx="4206240" cy="457200"/>
          </a:xfrm>
          <a:prstGeom prst="rect">
            <a:avLst/>
          </a:prstGeom>
          <a:noFill/>
          <a:ln/>
        </p:spPr>
        <p:txBody>
          <a:bodyPr wrap="square" lIns="0" tIns="0" rIns="0" bIns="0" rtlCol="0" anchor="ctr"/>
          <a:lstStyle/>
          <a:p>
            <a:pPr indent="0" marL="0">
              <a:buNone/>
            </a:pPr>
            <a:r>
              <a:rPr lang="en-US" sz="1250" dirty="0">
                <a:solidFill>
                  <a:srgbClr val="6B7A87"/>
                </a:solidFill>
                <a:latin typeface="Calibri" pitchFamily="34" charset="0"/>
                <a:ea typeface="Calibri" pitchFamily="34" charset="-122"/>
                <a:cs typeface="Calibri" pitchFamily="34" charset="-120"/>
              </a:rPr>
              <a:t>a message, a call, a spreadsheet from Tuesday</a:t>
            </a:r>
            <a:endParaRPr lang="en-US" sz="1250" dirty="0"/>
          </a:p>
        </p:txBody>
      </p:sp>
      <p:sp>
        <p:nvSpPr>
          <p:cNvPr id="18" name="Shape 16"/>
          <p:cNvSpPr/>
          <p:nvPr/>
        </p:nvSpPr>
        <p:spPr>
          <a:xfrm>
            <a:off x="6446520" y="1691640"/>
            <a:ext cx="5074920" cy="4114800"/>
          </a:xfrm>
          <a:prstGeom prst="roundRect">
            <a:avLst>
              <a:gd name="adj" fmla="val 1333"/>
            </a:avLst>
          </a:prstGeom>
          <a:solidFill>
            <a:srgbClr val="232B32"/>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19" name="Text 17"/>
          <p:cNvSpPr txBox="1"/>
          <p:nvPr/>
        </p:nvSpPr>
        <p:spPr>
          <a:xfrm>
            <a:off x="6766560" y="1920240"/>
            <a:ext cx="4480560" cy="320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The cost of the delay</a:t>
            </a:r>
            <a:endParaRPr lang="en-US" sz="1700" dirty="0"/>
          </a:p>
        </p:txBody>
      </p:sp>
      <p:sp>
        <p:nvSpPr>
          <p:cNvPr id="20" name="Text 18"/>
          <p:cNvSpPr txBox="1"/>
          <p:nvPr/>
        </p:nvSpPr>
        <p:spPr>
          <a:xfrm>
            <a:off x="6766560" y="2395728"/>
            <a:ext cx="4434840" cy="777240"/>
          </a:xfrm>
          <a:prstGeom prst="rect">
            <a:avLst/>
          </a:prstGeom>
          <a:noFill/>
          <a:ln/>
        </p:spPr>
        <p:txBody>
          <a:bodyPr wrap="square" lIns="0" tIns="0" rIns="0" bIns="0" rtlCol="0" anchor="ctr"/>
          <a:lstStyle/>
          <a:p>
            <a:pPr indent="0" marL="0">
              <a:lnSpc>
                <a:spcPct val="120000"/>
              </a:lnSpc>
              <a:buNone/>
            </a:pPr>
            <a:r>
              <a:rPr lang="en-US" sz="1600" dirty="0">
                <a:solidFill>
                  <a:srgbClr val="C6D0D7"/>
                </a:solidFill>
                <a:latin typeface="Calibri" pitchFamily="34" charset="0"/>
                <a:ea typeface="Calibri" pitchFamily="34" charset="-122"/>
                <a:cs typeface="Calibri" pitchFamily="34" charset="-120"/>
              </a:rPr>
              <a:t>The decision waits on a person,</a:t>
            </a:r>
            <a:endParaRPr lang="en-US" sz="1600" dirty="0"/>
          </a:p>
          <a:p>
            <a:pPr indent="0" marL="0">
              <a:lnSpc>
                <a:spcPct val="120000"/>
              </a:lnSpc>
              <a:buNone/>
            </a:pPr>
            <a:r>
              <a:rPr lang="en-US" sz="1600" dirty="0">
                <a:solidFill>
                  <a:srgbClr val="C6D0D7"/>
                </a:solidFill>
                <a:latin typeface="Calibri" pitchFamily="34" charset="0"/>
                <a:ea typeface="Calibri" pitchFamily="34" charset="-122"/>
                <a:cs typeface="Calibri" pitchFamily="34" charset="-120"/>
              </a:rPr>
              <a:t>and the person is on the shop floor.</a:t>
            </a:r>
            <a:endParaRPr lang="en-US" sz="1600" dirty="0"/>
          </a:p>
        </p:txBody>
      </p:sp>
      <p:sp>
        <p:nvSpPr>
          <p:cNvPr id="21" name="Text 19"/>
          <p:cNvSpPr txBox="1"/>
          <p:nvPr/>
        </p:nvSpPr>
        <p:spPr>
          <a:xfrm>
            <a:off x="6766560" y="3429000"/>
            <a:ext cx="4434840" cy="1188720"/>
          </a:xfrm>
          <a:prstGeom prst="rect">
            <a:avLst/>
          </a:prstGeom>
          <a:noFill/>
          <a:ln/>
        </p:spPr>
        <p:txBody>
          <a:bodyPr wrap="square" lIns="0" tIns="0" rIns="0" bIns="0" rtlCol="0" anchor="ctr"/>
          <a:lstStyle/>
          <a:p>
            <a:pPr indent="0" marL="0">
              <a:lnSpc>
                <a:spcPct val="135000"/>
              </a:lnSpc>
              <a:buNone/>
            </a:pPr>
            <a:r>
              <a:rPr lang="en-US" sz="1300" dirty="0">
                <a:solidFill>
                  <a:srgbClr val="94A3AD"/>
                </a:solidFill>
                <a:latin typeface="Calibri" pitchFamily="34" charset="0"/>
                <a:ea typeface="Calibri" pitchFamily="34" charset="-122"/>
                <a:cs typeface="Calibri" pitchFamily="34" charset="-120"/>
              </a:rPr>
              <a:t>Stock is moved on a guess.</a:t>
            </a:r>
            <a:endParaRPr lang="en-US" sz="1300" dirty="0"/>
          </a:p>
          <a:p>
            <a:pPr indent="0" marL="0">
              <a:lnSpc>
                <a:spcPct val="135000"/>
              </a:lnSpc>
              <a:buNone/>
            </a:pPr>
            <a:r>
              <a:rPr lang="en-US" sz="1300" dirty="0">
                <a:solidFill>
                  <a:srgbClr val="94A3AD"/>
                </a:solidFill>
                <a:latin typeface="Calibri" pitchFamily="34" charset="0"/>
                <a:ea typeface="Calibri" pitchFamily="34" charset="-122"/>
                <a:cs typeface="Calibri" pitchFamily="34" charset="-120"/>
              </a:rPr>
              <a:t>A count stays open because nobody checked.</a:t>
            </a:r>
            <a:endParaRPr lang="en-US" sz="1300" dirty="0"/>
          </a:p>
          <a:p>
            <a:pPr indent="0" marL="0">
              <a:lnSpc>
                <a:spcPct val="135000"/>
              </a:lnSpc>
              <a:buNone/>
            </a:pPr>
            <a:r>
              <a:rPr lang="en-US" sz="1300" dirty="0">
                <a:solidFill>
                  <a:srgbClr val="94A3AD"/>
                </a:solidFill>
                <a:latin typeface="Calibri" pitchFamily="34" charset="0"/>
                <a:ea typeface="Calibri" pitchFamily="34" charset="-122"/>
                <a:cs typeface="Calibri" pitchFamily="34" charset="-120"/>
              </a:rPr>
              <a:t>A delivery is chased that already shipped.</a:t>
            </a:r>
            <a:endParaRPr lang="en-US" sz="1300" dirty="0"/>
          </a:p>
        </p:txBody>
      </p:sp>
      <p:sp>
        <p:nvSpPr>
          <p:cNvPr id="22" name="Text 20"/>
          <p:cNvSpPr txBox="1"/>
          <p:nvPr/>
        </p:nvSpPr>
        <p:spPr>
          <a:xfrm>
            <a:off x="6766560" y="4892040"/>
            <a:ext cx="4434840" cy="640080"/>
          </a:xfrm>
          <a:prstGeom prst="rect">
            <a:avLst/>
          </a:prstGeom>
          <a:noFill/>
          <a:ln/>
        </p:spPr>
        <p:txBody>
          <a:bodyPr wrap="square" lIns="0" tIns="0" rIns="0" bIns="0" rtlCol="0" anchor="ctr"/>
          <a:lstStyle/>
          <a:p>
            <a:pPr indent="0" marL="0">
              <a:buNone/>
            </a:pPr>
            <a:r>
              <a:rPr lang="en-US" sz="1350" i="1" dirty="0">
                <a:solidFill>
                  <a:srgbClr val="E08A1E"/>
                </a:solidFill>
                <a:latin typeface="Calibri" pitchFamily="34" charset="0"/>
                <a:ea typeface="Calibri" pitchFamily="34" charset="-122"/>
                <a:cs typeface="Calibri" pitchFamily="34" charset="-120"/>
              </a:rPr>
              <a:t>The data was always in S/4HANA. Only the access was hard.</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indent="0" marL="0">
              <a:buNone/>
            </a:pPr>
            <a:r>
              <a:rPr lang="en-US" sz="3400" b="1" dirty="0">
                <a:solidFill>
                  <a:srgbClr val="232B32"/>
                </a:solidFill>
                <a:latin typeface="Cambria" pitchFamily="34" charset="0"/>
                <a:ea typeface="Cambria" pitchFamily="34" charset="-122"/>
                <a:cs typeface="Cambria" pitchFamily="34" charset="-120"/>
              </a:rPr>
              <a:t>What FactoryPilot is</a:t>
            </a:r>
            <a:endParaRPr lang="en-US" sz="3400" dirty="0"/>
          </a:p>
        </p:txBody>
      </p:sp>
      <p:sp>
        <p:nvSpPr>
          <p:cNvPr id="3" name="Text 1"/>
          <p:cNvSpPr txBox="1"/>
          <p:nvPr/>
        </p:nvSpPr>
        <p:spPr>
          <a:xfrm>
            <a:off x="640080" y="1060704"/>
            <a:ext cx="10881360" cy="365760"/>
          </a:xfrm>
          <a:prstGeom prst="rect">
            <a:avLst/>
          </a:prstGeom>
          <a:noFill/>
          <a:ln/>
        </p:spPr>
        <p:txBody>
          <a:bodyPr wrap="square" lIns="0" tIns="0" rIns="0" bIns="0" rtlCol="0" anchor="ctr"/>
          <a:lstStyle/>
          <a:p>
            <a:pPr indent="0" marL="0">
              <a:buNone/>
            </a:pPr>
            <a:r>
              <a:rPr lang="en-US" sz="1400" dirty="0">
                <a:solidFill>
                  <a:srgbClr val="6B7A87"/>
                </a:solidFill>
                <a:latin typeface="Calibri" pitchFamily="34" charset="0"/>
                <a:ea typeface="Calibri" pitchFamily="34" charset="-122"/>
                <a:cs typeface="Calibri" pitchFamily="34" charset="-120"/>
              </a:rPr>
              <a:t>One sentence, then the whole product follows from it</a:t>
            </a:r>
            <a:endParaRPr lang="en-US" sz="1400" dirty="0"/>
          </a:p>
        </p:txBody>
      </p:sp>
      <p:sp>
        <p:nvSpPr>
          <p:cNvPr id="4" name="Shape 2"/>
          <p:cNvSpPr/>
          <p:nvPr/>
        </p:nvSpPr>
        <p:spPr>
          <a:xfrm>
            <a:off x="640080" y="1645920"/>
            <a:ext cx="10881360" cy="1234440"/>
          </a:xfrm>
          <a:prstGeom prst="roundRect">
            <a:avLst>
              <a:gd name="adj" fmla="val 4444"/>
            </a:avLst>
          </a:prstGeom>
          <a:solidFill>
            <a:srgbClr val="232B32"/>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5" name="Text 3"/>
          <p:cNvSpPr txBox="1"/>
          <p:nvPr/>
        </p:nvSpPr>
        <p:spPr>
          <a:xfrm>
            <a:off x="1051560" y="1874520"/>
            <a:ext cx="10058400" cy="777240"/>
          </a:xfrm>
          <a:prstGeom prst="rect">
            <a:avLst/>
          </a:prstGeom>
          <a:noFill/>
          <a:ln/>
        </p:spPr>
        <p:txBody>
          <a:bodyPr wrap="square" lIns="0" tIns="0" rIns="0" bIns="0" rtlCol="0" anchor="ctr"/>
          <a:lstStyle/>
          <a:p>
            <a:pPr indent="0" marL="0">
              <a:lnSpc>
                <a:spcPct val="110000"/>
              </a:lnSpc>
              <a:buNone/>
            </a:pPr>
            <a:r>
              <a:rPr lang="en-US" sz="2300" b="1" dirty="0">
                <a:solidFill>
                  <a:srgbClr val="FFFFFF"/>
                </a:solidFill>
                <a:latin typeface="Cambria" pitchFamily="34" charset="0"/>
                <a:ea typeface="Cambria" pitchFamily="34" charset="-122"/>
                <a:cs typeface="Cambria" pitchFamily="34" charset="-120"/>
              </a:rPr>
              <a:t>A chat window over your live S/4HANA data that shows you where every figure came from.</a:t>
            </a:r>
            <a:endParaRPr lang="en-US" sz="2300" dirty="0"/>
          </a:p>
        </p:txBody>
      </p:sp>
      <p:sp>
        <p:nvSpPr>
          <p:cNvPr id="6" name="Shape 4"/>
          <p:cNvSpPr/>
          <p:nvPr/>
        </p:nvSpPr>
        <p:spPr>
          <a:xfrm>
            <a:off x="640080" y="3200400"/>
            <a:ext cx="310896" cy="310896"/>
          </a:xfrm>
          <a:prstGeom prst="ellipse">
            <a:avLst/>
          </a:prstGeom>
          <a:solidFill>
            <a:srgbClr val="2F7A6E"/>
          </a:solidFill>
          <a:ln/>
        </p:spPr>
      </p:sp>
      <p:sp>
        <p:nvSpPr>
          <p:cNvPr id="7" name="Text 5"/>
          <p:cNvSpPr txBox="1"/>
          <p:nvPr/>
        </p:nvSpPr>
        <p:spPr>
          <a:xfrm>
            <a:off x="640080" y="32004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8" name="Text 6"/>
          <p:cNvSpPr txBox="1"/>
          <p:nvPr/>
        </p:nvSpPr>
        <p:spPr>
          <a:xfrm>
            <a:off x="1097280" y="3172968"/>
            <a:ext cx="4754880" cy="292608"/>
          </a:xfrm>
          <a:prstGeom prst="rect">
            <a:avLst/>
          </a:prstGeom>
          <a:noFill/>
          <a:ln/>
        </p:spPr>
        <p:txBody>
          <a:bodyPr wrap="square" lIns="0" tIns="0" rIns="0" bIns="0" rtlCol="0" anchor="ctr"/>
          <a:lstStyle/>
          <a:p>
            <a:pPr indent="0" marL="0">
              <a:buNone/>
            </a:pPr>
            <a:r>
              <a:rPr lang="en-US" sz="1500" b="1" dirty="0">
                <a:solidFill>
                  <a:srgbClr val="232B32"/>
                </a:solidFill>
                <a:latin typeface="Calibri" pitchFamily="34" charset="0"/>
                <a:ea typeface="Calibri" pitchFamily="34" charset="-122"/>
                <a:cs typeface="Calibri" pitchFamily="34" charset="-120"/>
              </a:rPr>
              <a:t>Ask in your own words</a:t>
            </a:r>
            <a:endParaRPr lang="en-US" sz="1500" dirty="0"/>
          </a:p>
        </p:txBody>
      </p:sp>
      <p:sp>
        <p:nvSpPr>
          <p:cNvPr id="9" name="Text 7"/>
          <p:cNvSpPr txBox="1"/>
          <p:nvPr/>
        </p:nvSpPr>
        <p:spPr>
          <a:xfrm>
            <a:off x="1097280" y="3493008"/>
            <a:ext cx="4754880" cy="731520"/>
          </a:xfrm>
          <a:prstGeom prst="rect">
            <a:avLst/>
          </a:prstGeom>
          <a:noFill/>
          <a:ln/>
        </p:spPr>
        <p:txBody>
          <a:bodyPr wrap="square" lIns="0" tIns="0" rIns="0" bIns="0" rtlCol="0" anchor="ctr"/>
          <a:lstStyle/>
          <a:p>
            <a:pPr indent="0" marL="0">
              <a:lnSpc>
                <a:spcPct val="120000"/>
              </a:lnSpc>
              <a:buNone/>
            </a:pPr>
            <a:r>
              <a:rPr lang="en-US" sz="1250" dirty="0">
                <a:solidFill>
                  <a:srgbClr val="6B7A87"/>
                </a:solidFill>
                <a:latin typeface="Calibri" pitchFamily="34" charset="0"/>
                <a:ea typeface="Calibri" pitchFamily="34" charset="-122"/>
                <a:cs typeface="Calibri" pitchFamily="34" charset="-120"/>
              </a:rPr>
              <a:t>No transaction code, no training. “How much stock is in plant 1710?”</a:t>
            </a:r>
            <a:endParaRPr lang="en-US" sz="1250" dirty="0"/>
          </a:p>
        </p:txBody>
      </p:sp>
      <p:sp>
        <p:nvSpPr>
          <p:cNvPr id="10" name="Shape 8"/>
          <p:cNvSpPr/>
          <p:nvPr/>
        </p:nvSpPr>
        <p:spPr>
          <a:xfrm>
            <a:off x="6126480" y="3200400"/>
            <a:ext cx="310896" cy="310896"/>
          </a:xfrm>
          <a:prstGeom prst="ellipse">
            <a:avLst/>
          </a:prstGeom>
          <a:solidFill>
            <a:srgbClr val="E08A1E"/>
          </a:solidFill>
          <a:ln/>
        </p:spPr>
      </p:sp>
      <p:sp>
        <p:nvSpPr>
          <p:cNvPr id="11" name="Text 9"/>
          <p:cNvSpPr txBox="1"/>
          <p:nvPr/>
        </p:nvSpPr>
        <p:spPr>
          <a:xfrm>
            <a:off x="6126480" y="32004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2" name="Text 10"/>
          <p:cNvSpPr txBox="1"/>
          <p:nvPr/>
        </p:nvSpPr>
        <p:spPr>
          <a:xfrm>
            <a:off x="6583680" y="3172968"/>
            <a:ext cx="4754880" cy="292608"/>
          </a:xfrm>
          <a:prstGeom prst="rect">
            <a:avLst/>
          </a:prstGeom>
          <a:noFill/>
          <a:ln/>
        </p:spPr>
        <p:txBody>
          <a:bodyPr wrap="square" lIns="0" tIns="0" rIns="0" bIns="0" rtlCol="0" anchor="ctr"/>
          <a:lstStyle/>
          <a:p>
            <a:pPr indent="0" marL="0">
              <a:buNone/>
            </a:pPr>
            <a:r>
              <a:rPr lang="en-US" sz="1500" b="1" dirty="0">
                <a:solidFill>
                  <a:srgbClr val="232B32"/>
                </a:solidFill>
                <a:latin typeface="Calibri" pitchFamily="34" charset="0"/>
                <a:ea typeface="Calibri" pitchFamily="34" charset="-122"/>
                <a:cs typeface="Calibri" pitchFamily="34" charset="-120"/>
              </a:rPr>
              <a:t>Answered from live SAP</a:t>
            </a:r>
            <a:endParaRPr lang="en-US" sz="1500" dirty="0"/>
          </a:p>
        </p:txBody>
      </p:sp>
      <p:sp>
        <p:nvSpPr>
          <p:cNvPr id="13" name="Text 11"/>
          <p:cNvSpPr txBox="1"/>
          <p:nvPr/>
        </p:nvSpPr>
        <p:spPr>
          <a:xfrm>
            <a:off x="6583680" y="3493008"/>
            <a:ext cx="4754880" cy="731520"/>
          </a:xfrm>
          <a:prstGeom prst="rect">
            <a:avLst/>
          </a:prstGeom>
          <a:noFill/>
          <a:ln/>
        </p:spPr>
        <p:txBody>
          <a:bodyPr wrap="square" lIns="0" tIns="0" rIns="0" bIns="0" rtlCol="0" anchor="ctr"/>
          <a:lstStyle/>
          <a:p>
            <a:pPr indent="0" marL="0">
              <a:lnSpc>
                <a:spcPct val="120000"/>
              </a:lnSpc>
              <a:buNone/>
            </a:pPr>
            <a:r>
              <a:rPr lang="en-US" sz="1250" dirty="0">
                <a:solidFill>
                  <a:srgbClr val="6B7A87"/>
                </a:solidFill>
                <a:latin typeface="Calibri" pitchFamily="34" charset="0"/>
                <a:ea typeface="Calibri" pitchFamily="34" charset="-122"/>
                <a:cs typeface="Calibri" pitchFamily="34" charset="-120"/>
              </a:rPr>
              <a:t>Read through SAP Graph at question time. Nothing is copied or staged.</a:t>
            </a:r>
            <a:endParaRPr lang="en-US" sz="1250" dirty="0"/>
          </a:p>
        </p:txBody>
      </p:sp>
      <p:sp>
        <p:nvSpPr>
          <p:cNvPr id="14" name="Shape 12"/>
          <p:cNvSpPr/>
          <p:nvPr/>
        </p:nvSpPr>
        <p:spPr>
          <a:xfrm>
            <a:off x="640080" y="4681728"/>
            <a:ext cx="310896" cy="310896"/>
          </a:xfrm>
          <a:prstGeom prst="ellipse">
            <a:avLst/>
          </a:prstGeom>
          <a:solidFill>
            <a:srgbClr val="2F7A6E"/>
          </a:solidFill>
          <a:ln/>
        </p:spPr>
      </p:sp>
      <p:sp>
        <p:nvSpPr>
          <p:cNvPr id="15" name="Text 13"/>
          <p:cNvSpPr txBox="1"/>
          <p:nvPr/>
        </p:nvSpPr>
        <p:spPr>
          <a:xfrm>
            <a:off x="640080" y="46817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6" name="Text 14"/>
          <p:cNvSpPr txBox="1"/>
          <p:nvPr/>
        </p:nvSpPr>
        <p:spPr>
          <a:xfrm>
            <a:off x="1097280" y="4654296"/>
            <a:ext cx="4754880" cy="292608"/>
          </a:xfrm>
          <a:prstGeom prst="rect">
            <a:avLst/>
          </a:prstGeom>
          <a:noFill/>
          <a:ln/>
        </p:spPr>
        <p:txBody>
          <a:bodyPr wrap="square" lIns="0" tIns="0" rIns="0" bIns="0" rtlCol="0" anchor="ctr"/>
          <a:lstStyle/>
          <a:p>
            <a:pPr indent="0" marL="0">
              <a:buNone/>
            </a:pPr>
            <a:r>
              <a:rPr lang="en-US" sz="1500" b="1" dirty="0">
                <a:solidFill>
                  <a:srgbClr val="232B32"/>
                </a:solidFill>
                <a:latin typeface="Calibri" pitchFamily="34" charset="0"/>
                <a:ea typeface="Calibri" pitchFamily="34" charset="-122"/>
                <a:cs typeface="Calibri" pitchFamily="34" charset="-120"/>
              </a:rPr>
              <a:t>Every answer shows its source</a:t>
            </a:r>
            <a:endParaRPr lang="en-US" sz="1500" dirty="0"/>
          </a:p>
        </p:txBody>
      </p:sp>
      <p:sp>
        <p:nvSpPr>
          <p:cNvPr id="17" name="Text 15"/>
          <p:cNvSpPr txBox="1"/>
          <p:nvPr/>
        </p:nvSpPr>
        <p:spPr>
          <a:xfrm>
            <a:off x="1097280" y="4974336"/>
            <a:ext cx="4754880" cy="731520"/>
          </a:xfrm>
          <a:prstGeom prst="rect">
            <a:avLst/>
          </a:prstGeom>
          <a:noFill/>
          <a:ln/>
        </p:spPr>
        <p:txBody>
          <a:bodyPr wrap="square" lIns="0" tIns="0" rIns="0" bIns="0" rtlCol="0" anchor="ctr"/>
          <a:lstStyle/>
          <a:p>
            <a:pPr indent="0" marL="0">
              <a:lnSpc>
                <a:spcPct val="120000"/>
              </a:lnSpc>
              <a:buNone/>
            </a:pPr>
            <a:r>
              <a:rPr lang="en-US" sz="1250" dirty="0">
                <a:solidFill>
                  <a:srgbClr val="6B7A87"/>
                </a:solidFill>
                <a:latin typeface="Calibri" pitchFamily="34" charset="0"/>
                <a:ea typeface="Calibri" pitchFamily="34" charset="-122"/>
                <a:cs typeface="Calibri" pitchFamily="34" charset="-120"/>
              </a:rPr>
              <a:t>The system, the row count, and the exact query that was sent.</a:t>
            </a:r>
            <a:endParaRPr lang="en-US" sz="1250" dirty="0"/>
          </a:p>
        </p:txBody>
      </p:sp>
      <p:sp>
        <p:nvSpPr>
          <p:cNvPr id="18" name="Shape 16"/>
          <p:cNvSpPr/>
          <p:nvPr/>
        </p:nvSpPr>
        <p:spPr>
          <a:xfrm>
            <a:off x="6126480" y="4681728"/>
            <a:ext cx="310896" cy="310896"/>
          </a:xfrm>
          <a:prstGeom prst="ellipse">
            <a:avLst/>
          </a:prstGeom>
          <a:solidFill>
            <a:srgbClr val="A8322A"/>
          </a:solidFill>
          <a:ln/>
        </p:spPr>
      </p:sp>
      <p:sp>
        <p:nvSpPr>
          <p:cNvPr id="19" name="Text 17"/>
          <p:cNvSpPr txBox="1"/>
          <p:nvPr/>
        </p:nvSpPr>
        <p:spPr>
          <a:xfrm>
            <a:off x="6126480" y="46817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0" name="Text 18"/>
          <p:cNvSpPr txBox="1"/>
          <p:nvPr/>
        </p:nvSpPr>
        <p:spPr>
          <a:xfrm>
            <a:off x="6583680" y="4654296"/>
            <a:ext cx="4754880" cy="292608"/>
          </a:xfrm>
          <a:prstGeom prst="rect">
            <a:avLst/>
          </a:prstGeom>
          <a:noFill/>
          <a:ln/>
        </p:spPr>
        <p:txBody>
          <a:bodyPr wrap="square" lIns="0" tIns="0" rIns="0" bIns="0" rtlCol="0" anchor="ctr"/>
          <a:lstStyle/>
          <a:p>
            <a:pPr indent="0" marL="0">
              <a:buNone/>
            </a:pPr>
            <a:r>
              <a:rPr lang="en-US" sz="1500" b="1" dirty="0">
                <a:solidFill>
                  <a:srgbClr val="232B32"/>
                </a:solidFill>
                <a:latin typeface="Calibri" pitchFamily="34" charset="0"/>
                <a:ea typeface="Calibri" pitchFamily="34" charset="-122"/>
                <a:cs typeface="Calibri" pitchFamily="34" charset="-120"/>
              </a:rPr>
              <a:t>A write always stops for a human</a:t>
            </a:r>
            <a:endParaRPr lang="en-US" sz="1500" dirty="0"/>
          </a:p>
        </p:txBody>
      </p:sp>
      <p:sp>
        <p:nvSpPr>
          <p:cNvPr id="21" name="Text 19"/>
          <p:cNvSpPr txBox="1"/>
          <p:nvPr/>
        </p:nvSpPr>
        <p:spPr>
          <a:xfrm>
            <a:off x="6583680" y="4974336"/>
            <a:ext cx="4754880" cy="731520"/>
          </a:xfrm>
          <a:prstGeom prst="rect">
            <a:avLst/>
          </a:prstGeom>
          <a:noFill/>
          <a:ln/>
        </p:spPr>
        <p:txBody>
          <a:bodyPr wrap="square" lIns="0" tIns="0" rIns="0" bIns="0" rtlCol="0" anchor="ctr"/>
          <a:lstStyle/>
          <a:p>
            <a:pPr indent="0" marL="0">
              <a:lnSpc>
                <a:spcPct val="120000"/>
              </a:lnSpc>
              <a:buNone/>
            </a:pPr>
            <a:r>
              <a:rPr lang="en-US" sz="1250" dirty="0">
                <a:solidFill>
                  <a:srgbClr val="6B7A87"/>
                </a:solidFill>
                <a:latin typeface="Calibri" pitchFamily="34" charset="0"/>
                <a:ea typeface="Calibri" pitchFamily="34" charset="-122"/>
                <a:cs typeface="Calibri" pitchFamily="34" charset="-120"/>
              </a:rPr>
              <a:t>It proposes the movement. A person approves it. Never the other way round.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indent="0" marL="0">
              <a:buNone/>
            </a:pPr>
            <a:r>
              <a:rPr lang="en-US" sz="3400" b="1" dirty="0">
                <a:solidFill>
                  <a:srgbClr val="232B32"/>
                </a:solidFill>
                <a:latin typeface="Cambria" pitchFamily="34" charset="0"/>
                <a:ea typeface="Cambria" pitchFamily="34" charset="-122"/>
                <a:cs typeface="Cambria" pitchFamily="34" charset="-120"/>
              </a:rPr>
              <a:t>How a question becomes an answer</a:t>
            </a:r>
            <a:endParaRPr lang="en-US" sz="3400" dirty="0"/>
          </a:p>
        </p:txBody>
      </p:sp>
      <p:sp>
        <p:nvSpPr>
          <p:cNvPr id="3" name="Text 1"/>
          <p:cNvSpPr txBox="1"/>
          <p:nvPr/>
        </p:nvSpPr>
        <p:spPr>
          <a:xfrm>
            <a:off x="640080" y="1060704"/>
            <a:ext cx="10881360" cy="365760"/>
          </a:xfrm>
          <a:prstGeom prst="rect">
            <a:avLst/>
          </a:prstGeom>
          <a:noFill/>
          <a:ln/>
        </p:spPr>
        <p:txBody>
          <a:bodyPr wrap="square" lIns="0" tIns="0" rIns="0" bIns="0" rtlCol="0" anchor="ctr"/>
          <a:lstStyle/>
          <a:p>
            <a:pPr indent="0" marL="0">
              <a:buNone/>
            </a:pPr>
            <a:r>
              <a:rPr lang="en-US" sz="1400" dirty="0">
                <a:solidFill>
                  <a:srgbClr val="6B7A87"/>
                </a:solidFill>
                <a:latin typeface="Calibri" pitchFamily="34" charset="0"/>
                <a:ea typeface="Calibri" pitchFamily="34" charset="-122"/>
                <a:cs typeface="Calibri" pitchFamily="34" charset="-120"/>
              </a:rPr>
              <a:t>Eight gates. Two of them answer without reaching SAP or a model.</a:t>
            </a:r>
            <a:endParaRPr lang="en-US" sz="1400" dirty="0"/>
          </a:p>
        </p:txBody>
      </p:sp>
      <p:sp>
        <p:nvSpPr>
          <p:cNvPr id="4" name="Shape 2"/>
          <p:cNvSpPr/>
          <p:nvPr/>
        </p:nvSpPr>
        <p:spPr>
          <a:xfrm>
            <a:off x="640080" y="2011680"/>
            <a:ext cx="1316736" cy="1600200"/>
          </a:xfrm>
          <a:prstGeom prst="roundRect">
            <a:avLst>
              <a:gd name="adj" fmla="val 4167"/>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5" name="Shape 3"/>
          <p:cNvSpPr/>
          <p:nvPr/>
        </p:nvSpPr>
        <p:spPr>
          <a:xfrm>
            <a:off x="758952" y="2139696"/>
            <a:ext cx="292608" cy="292608"/>
          </a:xfrm>
          <a:prstGeom prst="ellipse">
            <a:avLst/>
          </a:prstGeom>
          <a:solidFill>
            <a:srgbClr val="E4E9EC"/>
          </a:solidFill>
          <a:ln/>
        </p:spPr>
      </p:sp>
      <p:sp>
        <p:nvSpPr>
          <p:cNvPr id="6" name="Text 4"/>
          <p:cNvSpPr txBox="1"/>
          <p:nvPr/>
        </p:nvSpPr>
        <p:spPr>
          <a:xfrm>
            <a:off x="758952" y="2139696"/>
            <a:ext cx="292608" cy="292608"/>
          </a:xfrm>
          <a:prstGeom prst="rect">
            <a:avLst/>
          </a:prstGeom>
          <a:noFill/>
          <a:ln/>
        </p:spPr>
        <p:txBody>
          <a:bodyPr wrap="square" lIns="0" tIns="0" rIns="0" bIns="0" rtlCol="0" anchor="ctr"/>
          <a:lstStyle/>
          <a:p>
            <a:pPr algn="ctr" indent="0" marL="0">
              <a:buNone/>
            </a:pPr>
            <a:r>
              <a:rPr lang="en-US" sz="1100" b="1" dirty="0">
                <a:solidFill>
                  <a:srgbClr val="232B32"/>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731520" y="2578608"/>
            <a:ext cx="1133856" cy="502920"/>
          </a:xfrm>
          <a:prstGeom prst="rect">
            <a:avLst/>
          </a:prstGeom>
          <a:noFill/>
          <a:ln/>
        </p:spPr>
        <p:txBody>
          <a:bodyPr wrap="square" lIns="0" tIns="0" rIns="0" bIns="0" rtlCol="0" anchor="ctr"/>
          <a:lstStyle/>
          <a:p>
            <a:pPr indent="0" marL="0">
              <a:lnSpc>
                <a:spcPct val="105000"/>
              </a:lnSpc>
              <a:buNone/>
            </a:pPr>
            <a:r>
              <a:rPr lang="en-US" sz="1150" b="1" dirty="0">
                <a:solidFill>
                  <a:srgbClr val="232B32"/>
                </a:solidFill>
                <a:latin typeface="Calibri" pitchFamily="34" charset="0"/>
                <a:ea typeface="Calibri" pitchFamily="34" charset="-122"/>
                <a:cs typeface="Calibri" pitchFamily="34" charset="-120"/>
              </a:rPr>
              <a:t>Approuter</a:t>
            </a:r>
            <a:endParaRPr lang="en-US" sz="1150" dirty="0"/>
          </a:p>
        </p:txBody>
      </p:sp>
      <p:sp>
        <p:nvSpPr>
          <p:cNvPr id="8" name="Text 6"/>
          <p:cNvSpPr txBox="1"/>
          <p:nvPr/>
        </p:nvSpPr>
        <p:spPr>
          <a:xfrm>
            <a:off x="731520" y="3072384"/>
            <a:ext cx="1133856" cy="457200"/>
          </a:xfrm>
          <a:prstGeom prst="rect">
            <a:avLst/>
          </a:prstGeom>
          <a:noFill/>
          <a:ln/>
        </p:spPr>
        <p:txBody>
          <a:bodyPr wrap="square" lIns="0" tIns="0" rIns="0" bIns="0" rtlCol="0" anchor="ctr"/>
          <a:lstStyle/>
          <a:p>
            <a:pPr indent="0" marL="0">
              <a:lnSpc>
                <a:spcPct val="110000"/>
              </a:lnSpc>
              <a:buNone/>
            </a:pPr>
            <a:r>
              <a:rPr lang="en-US" sz="900" dirty="0">
                <a:solidFill>
                  <a:srgbClr val="6B7A87"/>
                </a:solidFill>
                <a:latin typeface="Calibri" pitchFamily="34" charset="0"/>
                <a:ea typeface="Calibri" pitchFamily="34" charset="-122"/>
                <a:cs typeface="Calibri" pitchFamily="34" charset="-120"/>
              </a:rPr>
              <a:t>XSUAA token</a:t>
            </a:r>
            <a:endParaRPr lang="en-US" sz="900" dirty="0"/>
          </a:p>
        </p:txBody>
      </p:sp>
      <p:sp>
        <p:nvSpPr>
          <p:cNvPr id="9" name="Text 7"/>
          <p:cNvSpPr txBox="1"/>
          <p:nvPr/>
        </p:nvSpPr>
        <p:spPr>
          <a:xfrm>
            <a:off x="1938528" y="2606040"/>
            <a:ext cx="146304" cy="274320"/>
          </a:xfrm>
          <a:prstGeom prst="rect">
            <a:avLst/>
          </a:prstGeom>
          <a:noFill/>
          <a:ln/>
        </p:spPr>
        <p:txBody>
          <a:bodyPr wrap="square" lIns="0" tIns="0" rIns="0" bIns="0" rtlCol="0" anchor="ctr"/>
          <a:lstStyle/>
          <a:p>
            <a:pPr algn="ctr" indent="0" marL="0">
              <a:buNone/>
            </a:pPr>
            <a:r>
              <a:rPr lang="en-US" sz="1500" dirty="0">
                <a:solidFill>
                  <a:srgbClr val="D8DEE3"/>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2061972" y="2011680"/>
            <a:ext cx="1316736" cy="1600200"/>
          </a:xfrm>
          <a:prstGeom prst="roundRect">
            <a:avLst>
              <a:gd name="adj" fmla="val 4167"/>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11" name="Shape 9"/>
          <p:cNvSpPr/>
          <p:nvPr/>
        </p:nvSpPr>
        <p:spPr>
          <a:xfrm>
            <a:off x="2180844" y="2139696"/>
            <a:ext cx="292608" cy="292608"/>
          </a:xfrm>
          <a:prstGeom prst="ellipse">
            <a:avLst/>
          </a:prstGeom>
          <a:solidFill>
            <a:srgbClr val="E4E9EC"/>
          </a:solidFill>
          <a:ln/>
        </p:spPr>
      </p:sp>
      <p:sp>
        <p:nvSpPr>
          <p:cNvPr id="12" name="Text 10"/>
          <p:cNvSpPr txBox="1"/>
          <p:nvPr/>
        </p:nvSpPr>
        <p:spPr>
          <a:xfrm>
            <a:off x="2180844" y="2139696"/>
            <a:ext cx="292608" cy="292608"/>
          </a:xfrm>
          <a:prstGeom prst="rect">
            <a:avLst/>
          </a:prstGeom>
          <a:noFill/>
          <a:ln/>
        </p:spPr>
        <p:txBody>
          <a:bodyPr wrap="square" lIns="0" tIns="0" rIns="0" bIns="0" rtlCol="0" anchor="ctr"/>
          <a:lstStyle/>
          <a:p>
            <a:pPr algn="ctr" indent="0" marL="0">
              <a:buNone/>
            </a:pPr>
            <a:r>
              <a:rPr lang="en-US" sz="1100" b="1" dirty="0">
                <a:solidFill>
                  <a:srgbClr val="232B32"/>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2153412" y="2578608"/>
            <a:ext cx="1133856" cy="502920"/>
          </a:xfrm>
          <a:prstGeom prst="rect">
            <a:avLst/>
          </a:prstGeom>
          <a:noFill/>
          <a:ln/>
        </p:spPr>
        <p:txBody>
          <a:bodyPr wrap="square" lIns="0" tIns="0" rIns="0" bIns="0" rtlCol="0" anchor="ctr"/>
          <a:lstStyle/>
          <a:p>
            <a:pPr indent="0" marL="0">
              <a:lnSpc>
                <a:spcPct val="105000"/>
              </a:lnSpc>
              <a:buNone/>
            </a:pPr>
            <a:r>
              <a:rPr lang="en-US" sz="1150" b="1" dirty="0">
                <a:solidFill>
                  <a:srgbClr val="232B32"/>
                </a:solidFill>
                <a:latin typeface="Calibri" pitchFamily="34" charset="0"/>
                <a:ea typeface="Calibri" pitchFamily="34" charset="-122"/>
                <a:cs typeface="Calibri" pitchFamily="34" charset="-120"/>
              </a:rPr>
              <a:t>Provision</a:t>
            </a:r>
            <a:endParaRPr lang="en-US" sz="1150" dirty="0"/>
          </a:p>
        </p:txBody>
      </p:sp>
      <p:sp>
        <p:nvSpPr>
          <p:cNvPr id="14" name="Text 12"/>
          <p:cNvSpPr txBox="1"/>
          <p:nvPr/>
        </p:nvSpPr>
        <p:spPr>
          <a:xfrm>
            <a:off x="2153412" y="3072384"/>
            <a:ext cx="1133856" cy="457200"/>
          </a:xfrm>
          <a:prstGeom prst="rect">
            <a:avLst/>
          </a:prstGeom>
          <a:noFill/>
          <a:ln/>
        </p:spPr>
        <p:txBody>
          <a:bodyPr wrap="square" lIns="0" tIns="0" rIns="0" bIns="0" rtlCol="0" anchor="ctr"/>
          <a:lstStyle/>
          <a:p>
            <a:pPr indent="0" marL="0">
              <a:lnSpc>
                <a:spcPct val="110000"/>
              </a:lnSpc>
              <a:buNone/>
            </a:pPr>
            <a:r>
              <a:rPr lang="en-US" sz="900" dirty="0">
                <a:solidFill>
                  <a:srgbClr val="6B7A87"/>
                </a:solidFill>
                <a:latin typeface="Calibri" pitchFamily="34" charset="0"/>
                <a:ea typeface="Calibri" pitchFamily="34" charset="-122"/>
                <a:cs typeface="Calibri" pitchFamily="34" charset="-120"/>
              </a:rPr>
              <a:t>first sight → a row</a:t>
            </a:r>
            <a:endParaRPr lang="en-US" sz="900" dirty="0"/>
          </a:p>
        </p:txBody>
      </p:sp>
      <p:sp>
        <p:nvSpPr>
          <p:cNvPr id="15" name="Text 13"/>
          <p:cNvSpPr txBox="1"/>
          <p:nvPr/>
        </p:nvSpPr>
        <p:spPr>
          <a:xfrm>
            <a:off x="3360420" y="2606040"/>
            <a:ext cx="146304" cy="274320"/>
          </a:xfrm>
          <a:prstGeom prst="rect">
            <a:avLst/>
          </a:prstGeom>
          <a:noFill/>
          <a:ln/>
        </p:spPr>
        <p:txBody>
          <a:bodyPr wrap="square" lIns="0" tIns="0" rIns="0" bIns="0" rtlCol="0" anchor="ctr"/>
          <a:lstStyle/>
          <a:p>
            <a:pPr algn="ctr" indent="0" marL="0">
              <a:buNone/>
            </a:pPr>
            <a:r>
              <a:rPr lang="en-US" sz="1500" dirty="0">
                <a:solidFill>
                  <a:srgbClr val="D8DEE3"/>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3483864" y="2011680"/>
            <a:ext cx="1316736" cy="1600200"/>
          </a:xfrm>
          <a:prstGeom prst="roundRect">
            <a:avLst>
              <a:gd name="adj" fmla="val 4167"/>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17" name="Shape 15"/>
          <p:cNvSpPr/>
          <p:nvPr/>
        </p:nvSpPr>
        <p:spPr>
          <a:xfrm>
            <a:off x="3602736" y="2139696"/>
            <a:ext cx="292608" cy="292608"/>
          </a:xfrm>
          <a:prstGeom prst="ellipse">
            <a:avLst/>
          </a:prstGeom>
          <a:solidFill>
            <a:srgbClr val="E4E9EC"/>
          </a:solidFill>
          <a:ln/>
        </p:spPr>
      </p:sp>
      <p:sp>
        <p:nvSpPr>
          <p:cNvPr id="18" name="Text 16"/>
          <p:cNvSpPr txBox="1"/>
          <p:nvPr/>
        </p:nvSpPr>
        <p:spPr>
          <a:xfrm>
            <a:off x="3602736" y="2139696"/>
            <a:ext cx="292608" cy="292608"/>
          </a:xfrm>
          <a:prstGeom prst="rect">
            <a:avLst/>
          </a:prstGeom>
          <a:noFill/>
          <a:ln/>
        </p:spPr>
        <p:txBody>
          <a:bodyPr wrap="square" lIns="0" tIns="0" rIns="0" bIns="0" rtlCol="0" anchor="ctr"/>
          <a:lstStyle/>
          <a:p>
            <a:pPr algn="ctr" indent="0" marL="0">
              <a:buNone/>
            </a:pPr>
            <a:r>
              <a:rPr lang="en-US" sz="1100" b="1" dirty="0">
                <a:solidFill>
                  <a:srgbClr val="232B32"/>
                </a:solidFill>
                <a:latin typeface="Calibri" pitchFamily="34" charset="0"/>
                <a:ea typeface="Calibri" pitchFamily="34" charset="-122"/>
                <a:cs typeface="Calibri" pitchFamily="34" charset="-120"/>
              </a:rPr>
              <a:t>3</a:t>
            </a:r>
            <a:endParaRPr lang="en-US" sz="1100" dirty="0"/>
          </a:p>
        </p:txBody>
      </p:sp>
      <p:sp>
        <p:nvSpPr>
          <p:cNvPr id="19" name="Text 17"/>
          <p:cNvSpPr txBox="1"/>
          <p:nvPr/>
        </p:nvSpPr>
        <p:spPr>
          <a:xfrm>
            <a:off x="3575304" y="2578608"/>
            <a:ext cx="1133856" cy="502920"/>
          </a:xfrm>
          <a:prstGeom prst="rect">
            <a:avLst/>
          </a:prstGeom>
          <a:noFill/>
          <a:ln/>
        </p:spPr>
        <p:txBody>
          <a:bodyPr wrap="square" lIns="0" tIns="0" rIns="0" bIns="0" rtlCol="0" anchor="ctr"/>
          <a:lstStyle/>
          <a:p>
            <a:pPr indent="0" marL="0">
              <a:lnSpc>
                <a:spcPct val="105000"/>
              </a:lnSpc>
              <a:buNone/>
            </a:pPr>
            <a:r>
              <a:rPr lang="en-US" sz="1150" b="1" dirty="0">
                <a:solidFill>
                  <a:srgbClr val="232B32"/>
                </a:solidFill>
                <a:latin typeface="Calibri" pitchFamily="34" charset="0"/>
                <a:ea typeface="Calibri" pitchFamily="34" charset="-122"/>
                <a:cs typeface="Calibri" pitchFamily="34" charset="-120"/>
              </a:rPr>
              <a:t>Route</a:t>
            </a:r>
            <a:endParaRPr lang="en-US" sz="1150" dirty="0"/>
          </a:p>
        </p:txBody>
      </p:sp>
      <p:sp>
        <p:nvSpPr>
          <p:cNvPr id="20" name="Text 18"/>
          <p:cNvSpPr txBox="1"/>
          <p:nvPr/>
        </p:nvSpPr>
        <p:spPr>
          <a:xfrm>
            <a:off x="3575304" y="3072384"/>
            <a:ext cx="1133856" cy="457200"/>
          </a:xfrm>
          <a:prstGeom prst="rect">
            <a:avLst/>
          </a:prstGeom>
          <a:noFill/>
          <a:ln/>
        </p:spPr>
        <p:txBody>
          <a:bodyPr wrap="square" lIns="0" tIns="0" rIns="0" bIns="0" rtlCol="0" anchor="ctr"/>
          <a:lstStyle/>
          <a:p>
            <a:pPr indent="0" marL="0">
              <a:lnSpc>
                <a:spcPct val="110000"/>
              </a:lnSpc>
              <a:buNone/>
            </a:pPr>
            <a:r>
              <a:rPr lang="en-US" sz="900" dirty="0">
                <a:solidFill>
                  <a:srgbClr val="6B7A87"/>
                </a:solidFill>
                <a:latin typeface="Calibri" pitchFamily="34" charset="0"/>
                <a:ea typeface="Calibri" pitchFamily="34" charset="-122"/>
                <a:cs typeface="Calibri" pitchFamily="34" charset="-120"/>
              </a:rPr>
              <a:t>light or heavy model</a:t>
            </a:r>
            <a:endParaRPr lang="en-US" sz="900" dirty="0"/>
          </a:p>
        </p:txBody>
      </p:sp>
      <p:sp>
        <p:nvSpPr>
          <p:cNvPr id="21" name="Text 19"/>
          <p:cNvSpPr txBox="1"/>
          <p:nvPr/>
        </p:nvSpPr>
        <p:spPr>
          <a:xfrm>
            <a:off x="4782312" y="2606040"/>
            <a:ext cx="146304" cy="274320"/>
          </a:xfrm>
          <a:prstGeom prst="rect">
            <a:avLst/>
          </a:prstGeom>
          <a:noFill/>
          <a:ln/>
        </p:spPr>
        <p:txBody>
          <a:bodyPr wrap="square" lIns="0" tIns="0" rIns="0" bIns="0" rtlCol="0" anchor="ctr"/>
          <a:lstStyle/>
          <a:p>
            <a:pPr algn="ctr" indent="0" marL="0">
              <a:buNone/>
            </a:pPr>
            <a:r>
              <a:rPr lang="en-US" sz="1500" dirty="0">
                <a:solidFill>
                  <a:srgbClr val="D8DEE3"/>
                </a:solidFill>
                <a:latin typeface="Calibri" pitchFamily="34" charset="0"/>
                <a:ea typeface="Calibri" pitchFamily="34" charset="-122"/>
                <a:cs typeface="Calibri" pitchFamily="34" charset="-120"/>
              </a:rPr>
              <a:t>›</a:t>
            </a:r>
            <a:endParaRPr lang="en-US" sz="1500" dirty="0"/>
          </a:p>
        </p:txBody>
      </p:sp>
      <p:sp>
        <p:nvSpPr>
          <p:cNvPr id="22" name="Shape 20"/>
          <p:cNvSpPr/>
          <p:nvPr/>
        </p:nvSpPr>
        <p:spPr>
          <a:xfrm>
            <a:off x="4905756" y="2011680"/>
            <a:ext cx="1316736" cy="1600200"/>
          </a:xfrm>
          <a:prstGeom prst="roundRect">
            <a:avLst>
              <a:gd name="adj" fmla="val 4167"/>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23" name="Shape 21"/>
          <p:cNvSpPr/>
          <p:nvPr/>
        </p:nvSpPr>
        <p:spPr>
          <a:xfrm>
            <a:off x="5024628" y="2139696"/>
            <a:ext cx="292608" cy="292608"/>
          </a:xfrm>
          <a:prstGeom prst="ellipse">
            <a:avLst/>
          </a:prstGeom>
          <a:solidFill>
            <a:srgbClr val="E08A1E"/>
          </a:solidFill>
          <a:ln/>
        </p:spPr>
      </p:sp>
      <p:sp>
        <p:nvSpPr>
          <p:cNvPr id="24" name="Text 22"/>
          <p:cNvSpPr txBox="1"/>
          <p:nvPr/>
        </p:nvSpPr>
        <p:spPr>
          <a:xfrm>
            <a:off x="5024628" y="213969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3"/>
          <p:cNvSpPr txBox="1"/>
          <p:nvPr/>
        </p:nvSpPr>
        <p:spPr>
          <a:xfrm>
            <a:off x="4997196" y="2578608"/>
            <a:ext cx="1133856" cy="502920"/>
          </a:xfrm>
          <a:prstGeom prst="rect">
            <a:avLst/>
          </a:prstGeom>
          <a:noFill/>
          <a:ln/>
        </p:spPr>
        <p:txBody>
          <a:bodyPr wrap="square" lIns="0" tIns="0" rIns="0" bIns="0" rtlCol="0" anchor="ctr"/>
          <a:lstStyle/>
          <a:p>
            <a:pPr indent="0" marL="0">
              <a:lnSpc>
                <a:spcPct val="105000"/>
              </a:lnSpc>
              <a:buNone/>
            </a:pPr>
            <a:r>
              <a:rPr lang="en-US" sz="1150" b="1" dirty="0">
                <a:solidFill>
                  <a:srgbClr val="232B32"/>
                </a:solidFill>
                <a:latin typeface="Calibri" pitchFamily="34" charset="0"/>
                <a:ea typeface="Calibri" pitchFamily="34" charset="-122"/>
                <a:cs typeface="Calibri" pitchFamily="34" charset="-120"/>
              </a:rPr>
              <a:t>Quota</a:t>
            </a:r>
            <a:endParaRPr lang="en-US" sz="1150" dirty="0"/>
          </a:p>
        </p:txBody>
      </p:sp>
      <p:sp>
        <p:nvSpPr>
          <p:cNvPr id="26" name="Text 24"/>
          <p:cNvSpPr txBox="1"/>
          <p:nvPr/>
        </p:nvSpPr>
        <p:spPr>
          <a:xfrm>
            <a:off x="4997196" y="3072384"/>
            <a:ext cx="1133856" cy="457200"/>
          </a:xfrm>
          <a:prstGeom prst="rect">
            <a:avLst/>
          </a:prstGeom>
          <a:noFill/>
          <a:ln/>
        </p:spPr>
        <p:txBody>
          <a:bodyPr wrap="square" lIns="0" tIns="0" rIns="0" bIns="0" rtlCol="0" anchor="ctr"/>
          <a:lstStyle/>
          <a:p>
            <a:pPr indent="0" marL="0">
              <a:lnSpc>
                <a:spcPct val="110000"/>
              </a:lnSpc>
              <a:buNone/>
            </a:pPr>
            <a:r>
              <a:rPr lang="en-US" sz="900" dirty="0">
                <a:solidFill>
                  <a:srgbClr val="6B7A87"/>
                </a:solidFill>
                <a:latin typeface="Calibri" pitchFamily="34" charset="0"/>
                <a:ea typeface="Calibri" pitchFamily="34" charset="-122"/>
                <a:cs typeface="Calibri" pitchFamily="34" charset="-120"/>
              </a:rPr>
              <a:t>reserved before spend</a:t>
            </a:r>
            <a:endParaRPr lang="en-US" sz="900" dirty="0"/>
          </a:p>
        </p:txBody>
      </p:sp>
      <p:sp>
        <p:nvSpPr>
          <p:cNvPr id="27" name="Text 25"/>
          <p:cNvSpPr txBox="1"/>
          <p:nvPr/>
        </p:nvSpPr>
        <p:spPr>
          <a:xfrm>
            <a:off x="6204204" y="2606040"/>
            <a:ext cx="146304" cy="274320"/>
          </a:xfrm>
          <a:prstGeom prst="rect">
            <a:avLst/>
          </a:prstGeom>
          <a:noFill/>
          <a:ln/>
        </p:spPr>
        <p:txBody>
          <a:bodyPr wrap="square" lIns="0" tIns="0" rIns="0" bIns="0" rtlCol="0" anchor="ctr"/>
          <a:lstStyle/>
          <a:p>
            <a:pPr algn="ctr" indent="0" marL="0">
              <a:buNone/>
            </a:pPr>
            <a:r>
              <a:rPr lang="en-US" sz="1500" dirty="0">
                <a:solidFill>
                  <a:srgbClr val="D8DEE3"/>
                </a:solidFill>
                <a:latin typeface="Calibri" pitchFamily="34" charset="0"/>
                <a:ea typeface="Calibri" pitchFamily="34" charset="-122"/>
                <a:cs typeface="Calibri" pitchFamily="34" charset="-120"/>
              </a:rPr>
              <a:t>›</a:t>
            </a:r>
            <a:endParaRPr lang="en-US" sz="1500" dirty="0"/>
          </a:p>
        </p:txBody>
      </p:sp>
      <p:sp>
        <p:nvSpPr>
          <p:cNvPr id="28" name="Shape 26"/>
          <p:cNvSpPr/>
          <p:nvPr/>
        </p:nvSpPr>
        <p:spPr>
          <a:xfrm>
            <a:off x="6327648" y="2011680"/>
            <a:ext cx="1316736" cy="1600200"/>
          </a:xfrm>
          <a:prstGeom prst="roundRect">
            <a:avLst>
              <a:gd name="adj" fmla="val 4167"/>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29" name="Shape 27"/>
          <p:cNvSpPr/>
          <p:nvPr/>
        </p:nvSpPr>
        <p:spPr>
          <a:xfrm>
            <a:off x="6446520" y="2139696"/>
            <a:ext cx="292608" cy="292608"/>
          </a:xfrm>
          <a:prstGeom prst="ellipse">
            <a:avLst/>
          </a:prstGeom>
          <a:solidFill>
            <a:srgbClr val="E08A1E"/>
          </a:solidFill>
          <a:ln/>
        </p:spPr>
      </p:sp>
      <p:sp>
        <p:nvSpPr>
          <p:cNvPr id="30" name="Text 28"/>
          <p:cNvSpPr txBox="1"/>
          <p:nvPr/>
        </p:nvSpPr>
        <p:spPr>
          <a:xfrm>
            <a:off x="6446520" y="213969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9"/>
          <p:cNvSpPr txBox="1"/>
          <p:nvPr/>
        </p:nvSpPr>
        <p:spPr>
          <a:xfrm>
            <a:off x="6419088" y="2578608"/>
            <a:ext cx="1133856" cy="502920"/>
          </a:xfrm>
          <a:prstGeom prst="rect">
            <a:avLst/>
          </a:prstGeom>
          <a:noFill/>
          <a:ln/>
        </p:spPr>
        <p:txBody>
          <a:bodyPr wrap="square" lIns="0" tIns="0" rIns="0" bIns="0" rtlCol="0" anchor="ctr"/>
          <a:lstStyle/>
          <a:p>
            <a:pPr indent="0" marL="0">
              <a:lnSpc>
                <a:spcPct val="105000"/>
              </a:lnSpc>
              <a:buNone/>
            </a:pPr>
            <a:r>
              <a:rPr lang="en-US" sz="1150" b="1" dirty="0">
                <a:solidFill>
                  <a:srgbClr val="232B32"/>
                </a:solidFill>
                <a:latin typeface="Calibri" pitchFamily="34" charset="0"/>
                <a:ea typeface="Calibri" pitchFamily="34" charset="-122"/>
                <a:cs typeface="Calibri" pitchFamily="34" charset="-120"/>
              </a:rPr>
              <a:t>Cache</a:t>
            </a:r>
            <a:endParaRPr lang="en-US" sz="1150" dirty="0"/>
          </a:p>
        </p:txBody>
      </p:sp>
      <p:sp>
        <p:nvSpPr>
          <p:cNvPr id="32" name="Text 30"/>
          <p:cNvSpPr txBox="1"/>
          <p:nvPr/>
        </p:nvSpPr>
        <p:spPr>
          <a:xfrm>
            <a:off x="6419088" y="3072384"/>
            <a:ext cx="1133856" cy="457200"/>
          </a:xfrm>
          <a:prstGeom prst="rect">
            <a:avLst/>
          </a:prstGeom>
          <a:noFill/>
          <a:ln/>
        </p:spPr>
        <p:txBody>
          <a:bodyPr wrap="square" lIns="0" tIns="0" rIns="0" bIns="0" rtlCol="0" anchor="ctr"/>
          <a:lstStyle/>
          <a:p>
            <a:pPr indent="0" marL="0">
              <a:lnSpc>
                <a:spcPct val="110000"/>
              </a:lnSpc>
              <a:buNone/>
            </a:pPr>
            <a:r>
              <a:rPr lang="en-US" sz="900" dirty="0">
                <a:solidFill>
                  <a:srgbClr val="6B7A87"/>
                </a:solidFill>
                <a:latin typeface="Calibri" pitchFamily="34" charset="0"/>
                <a:ea typeface="Calibri" pitchFamily="34" charset="-122"/>
                <a:cs typeface="Calibri" pitchFamily="34" charset="-120"/>
              </a:rPr>
              <a:t>hit → ~5 ms</a:t>
            </a:r>
            <a:endParaRPr lang="en-US" sz="900" dirty="0"/>
          </a:p>
        </p:txBody>
      </p:sp>
      <p:sp>
        <p:nvSpPr>
          <p:cNvPr id="33" name="Text 31"/>
          <p:cNvSpPr txBox="1"/>
          <p:nvPr/>
        </p:nvSpPr>
        <p:spPr>
          <a:xfrm>
            <a:off x="7626096" y="2606040"/>
            <a:ext cx="146304" cy="274320"/>
          </a:xfrm>
          <a:prstGeom prst="rect">
            <a:avLst/>
          </a:prstGeom>
          <a:noFill/>
          <a:ln/>
        </p:spPr>
        <p:txBody>
          <a:bodyPr wrap="square" lIns="0" tIns="0" rIns="0" bIns="0" rtlCol="0" anchor="ctr"/>
          <a:lstStyle/>
          <a:p>
            <a:pPr algn="ctr" indent="0" marL="0">
              <a:buNone/>
            </a:pPr>
            <a:r>
              <a:rPr lang="en-US" sz="1500" dirty="0">
                <a:solidFill>
                  <a:srgbClr val="D8DEE3"/>
                </a:solidFill>
                <a:latin typeface="Calibri" pitchFamily="34" charset="0"/>
                <a:ea typeface="Calibri" pitchFamily="34" charset="-122"/>
                <a:cs typeface="Calibri" pitchFamily="34" charset="-120"/>
              </a:rPr>
              <a:t>›</a:t>
            </a:r>
            <a:endParaRPr lang="en-US" sz="1500" dirty="0"/>
          </a:p>
        </p:txBody>
      </p:sp>
      <p:sp>
        <p:nvSpPr>
          <p:cNvPr id="34" name="Shape 32"/>
          <p:cNvSpPr/>
          <p:nvPr/>
        </p:nvSpPr>
        <p:spPr>
          <a:xfrm>
            <a:off x="7749540" y="2011680"/>
            <a:ext cx="1316736" cy="1600200"/>
          </a:xfrm>
          <a:prstGeom prst="roundRect">
            <a:avLst>
              <a:gd name="adj" fmla="val 4167"/>
            </a:avLst>
          </a:prstGeom>
          <a:solidFill>
            <a:srgbClr val="232B32"/>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35" name="Shape 33"/>
          <p:cNvSpPr/>
          <p:nvPr/>
        </p:nvSpPr>
        <p:spPr>
          <a:xfrm>
            <a:off x="7868412" y="2139696"/>
            <a:ext cx="292608" cy="292608"/>
          </a:xfrm>
          <a:prstGeom prst="ellipse">
            <a:avLst/>
          </a:prstGeom>
          <a:solidFill>
            <a:srgbClr val="E08A1E"/>
          </a:solidFill>
          <a:ln/>
        </p:spPr>
      </p:sp>
      <p:sp>
        <p:nvSpPr>
          <p:cNvPr id="36" name="Text 34"/>
          <p:cNvSpPr txBox="1"/>
          <p:nvPr/>
        </p:nvSpPr>
        <p:spPr>
          <a:xfrm>
            <a:off x="7868412" y="213969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7" name="Text 35"/>
          <p:cNvSpPr txBox="1"/>
          <p:nvPr/>
        </p:nvSpPr>
        <p:spPr>
          <a:xfrm>
            <a:off x="7840980" y="2578608"/>
            <a:ext cx="1133856" cy="502920"/>
          </a:xfrm>
          <a:prstGeom prst="rect">
            <a:avLst/>
          </a:prstGeom>
          <a:noFill/>
          <a:ln/>
        </p:spPr>
        <p:txBody>
          <a:bodyPr wrap="square" lIns="0" tIns="0" rIns="0" bIns="0" rtlCol="0" anchor="ctr"/>
          <a:lstStyle/>
          <a:p>
            <a:pPr indent="0" marL="0">
              <a:lnSpc>
                <a:spcPct val="105000"/>
              </a:lnSpc>
              <a:buNone/>
            </a:pPr>
            <a:r>
              <a:rPr lang="en-US" sz="1150" b="1" dirty="0">
                <a:solidFill>
                  <a:srgbClr val="FFFFFF"/>
                </a:solidFill>
                <a:latin typeface="Calibri" pitchFamily="34" charset="0"/>
                <a:ea typeface="Calibri" pitchFamily="34" charset="-122"/>
                <a:cs typeface="Calibri" pitchFamily="34" charset="-120"/>
              </a:rPr>
              <a:t>Agent loop</a:t>
            </a:r>
            <a:endParaRPr lang="en-US" sz="1150" dirty="0"/>
          </a:p>
        </p:txBody>
      </p:sp>
      <p:sp>
        <p:nvSpPr>
          <p:cNvPr id="38" name="Text 36"/>
          <p:cNvSpPr txBox="1"/>
          <p:nvPr/>
        </p:nvSpPr>
        <p:spPr>
          <a:xfrm>
            <a:off x="7840980" y="3072384"/>
            <a:ext cx="1133856" cy="457200"/>
          </a:xfrm>
          <a:prstGeom prst="rect">
            <a:avLst/>
          </a:prstGeom>
          <a:noFill/>
          <a:ln/>
        </p:spPr>
        <p:txBody>
          <a:bodyPr wrap="square" lIns="0" tIns="0" rIns="0" bIns="0" rtlCol="0" anchor="ctr"/>
          <a:lstStyle/>
          <a:p>
            <a:pPr indent="0" marL="0">
              <a:lnSpc>
                <a:spcPct val="110000"/>
              </a:lnSpc>
              <a:buNone/>
            </a:pPr>
            <a:r>
              <a:rPr lang="en-US" sz="900" dirty="0">
                <a:solidFill>
                  <a:srgbClr val="9FB0BB"/>
                </a:solidFill>
                <a:latin typeface="Calibri" pitchFamily="34" charset="0"/>
                <a:ea typeface="Calibri" pitchFamily="34" charset="-122"/>
                <a:cs typeface="Calibri" pitchFamily="34" charset="-120"/>
              </a:rPr>
              <a:t>≤ 8 rounds</a:t>
            </a:r>
            <a:endParaRPr lang="en-US" sz="900" dirty="0"/>
          </a:p>
        </p:txBody>
      </p:sp>
      <p:sp>
        <p:nvSpPr>
          <p:cNvPr id="39" name="Text 37"/>
          <p:cNvSpPr txBox="1"/>
          <p:nvPr/>
        </p:nvSpPr>
        <p:spPr>
          <a:xfrm>
            <a:off x="9047988" y="2606040"/>
            <a:ext cx="146304" cy="274320"/>
          </a:xfrm>
          <a:prstGeom prst="rect">
            <a:avLst/>
          </a:prstGeom>
          <a:noFill/>
          <a:ln/>
        </p:spPr>
        <p:txBody>
          <a:bodyPr wrap="square" lIns="0" tIns="0" rIns="0" bIns="0" rtlCol="0" anchor="ctr"/>
          <a:lstStyle/>
          <a:p>
            <a:pPr algn="ctr" indent="0" marL="0">
              <a:buNone/>
            </a:pPr>
            <a:r>
              <a:rPr lang="en-US" sz="1500" dirty="0">
                <a:solidFill>
                  <a:srgbClr val="D8DEE3"/>
                </a:solidFill>
                <a:latin typeface="Calibri" pitchFamily="34" charset="0"/>
                <a:ea typeface="Calibri" pitchFamily="34" charset="-122"/>
                <a:cs typeface="Calibri" pitchFamily="34" charset="-120"/>
              </a:rPr>
              <a:t>›</a:t>
            </a:r>
            <a:endParaRPr lang="en-US" sz="1500" dirty="0"/>
          </a:p>
        </p:txBody>
      </p:sp>
      <p:sp>
        <p:nvSpPr>
          <p:cNvPr id="40" name="Shape 38"/>
          <p:cNvSpPr/>
          <p:nvPr/>
        </p:nvSpPr>
        <p:spPr>
          <a:xfrm>
            <a:off x="9171432" y="2011680"/>
            <a:ext cx="1316736" cy="1600200"/>
          </a:xfrm>
          <a:prstGeom prst="roundRect">
            <a:avLst>
              <a:gd name="adj" fmla="val 4167"/>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41" name="Shape 39"/>
          <p:cNvSpPr/>
          <p:nvPr/>
        </p:nvSpPr>
        <p:spPr>
          <a:xfrm>
            <a:off x="9290304" y="2139696"/>
            <a:ext cx="292608" cy="292608"/>
          </a:xfrm>
          <a:prstGeom prst="ellipse">
            <a:avLst/>
          </a:prstGeom>
          <a:solidFill>
            <a:srgbClr val="E4E9EC"/>
          </a:solidFill>
          <a:ln/>
        </p:spPr>
      </p:sp>
      <p:sp>
        <p:nvSpPr>
          <p:cNvPr id="42" name="Text 40"/>
          <p:cNvSpPr txBox="1"/>
          <p:nvPr/>
        </p:nvSpPr>
        <p:spPr>
          <a:xfrm>
            <a:off x="9290304" y="2139696"/>
            <a:ext cx="292608" cy="292608"/>
          </a:xfrm>
          <a:prstGeom prst="rect">
            <a:avLst/>
          </a:prstGeom>
          <a:noFill/>
          <a:ln/>
        </p:spPr>
        <p:txBody>
          <a:bodyPr wrap="square" lIns="0" tIns="0" rIns="0" bIns="0" rtlCol="0" anchor="ctr"/>
          <a:lstStyle/>
          <a:p>
            <a:pPr algn="ctr" indent="0" marL="0">
              <a:buNone/>
            </a:pPr>
            <a:r>
              <a:rPr lang="en-US" sz="1100" b="1" dirty="0">
                <a:solidFill>
                  <a:srgbClr val="232B32"/>
                </a:solidFill>
                <a:latin typeface="Calibri" pitchFamily="34" charset="0"/>
                <a:ea typeface="Calibri" pitchFamily="34" charset="-122"/>
                <a:cs typeface="Calibri" pitchFamily="34" charset="-120"/>
              </a:rPr>
              <a:t>7</a:t>
            </a:r>
            <a:endParaRPr lang="en-US" sz="1100" dirty="0"/>
          </a:p>
        </p:txBody>
      </p:sp>
      <p:sp>
        <p:nvSpPr>
          <p:cNvPr id="43" name="Text 41"/>
          <p:cNvSpPr txBox="1"/>
          <p:nvPr/>
        </p:nvSpPr>
        <p:spPr>
          <a:xfrm>
            <a:off x="9262872" y="2578608"/>
            <a:ext cx="1133856" cy="502920"/>
          </a:xfrm>
          <a:prstGeom prst="rect">
            <a:avLst/>
          </a:prstGeom>
          <a:noFill/>
          <a:ln/>
        </p:spPr>
        <p:txBody>
          <a:bodyPr wrap="square" lIns="0" tIns="0" rIns="0" bIns="0" rtlCol="0" anchor="ctr"/>
          <a:lstStyle/>
          <a:p>
            <a:pPr indent="0" marL="0">
              <a:lnSpc>
                <a:spcPct val="105000"/>
              </a:lnSpc>
              <a:buNone/>
            </a:pPr>
            <a:r>
              <a:rPr lang="en-US" sz="1150" b="1" dirty="0">
                <a:solidFill>
                  <a:srgbClr val="232B32"/>
                </a:solidFill>
                <a:latin typeface="Calibri" pitchFamily="34" charset="0"/>
                <a:ea typeface="Calibri" pitchFamily="34" charset="-122"/>
                <a:cs typeface="Calibri" pitchFamily="34" charset="-120"/>
              </a:rPr>
              <a:t>Cache write</a:t>
            </a:r>
            <a:endParaRPr lang="en-US" sz="1150" dirty="0"/>
          </a:p>
        </p:txBody>
      </p:sp>
      <p:sp>
        <p:nvSpPr>
          <p:cNvPr id="44" name="Text 42"/>
          <p:cNvSpPr txBox="1"/>
          <p:nvPr/>
        </p:nvSpPr>
        <p:spPr>
          <a:xfrm>
            <a:off x="9262872" y="3072384"/>
            <a:ext cx="1133856" cy="457200"/>
          </a:xfrm>
          <a:prstGeom prst="rect">
            <a:avLst/>
          </a:prstGeom>
          <a:noFill/>
          <a:ln/>
        </p:spPr>
        <p:txBody>
          <a:bodyPr wrap="square" lIns="0" tIns="0" rIns="0" bIns="0" rtlCol="0" anchor="ctr"/>
          <a:lstStyle/>
          <a:p>
            <a:pPr indent="0" marL="0">
              <a:lnSpc>
                <a:spcPct val="110000"/>
              </a:lnSpc>
              <a:buNone/>
            </a:pPr>
            <a:r>
              <a:rPr lang="en-US" sz="900" dirty="0">
                <a:solidFill>
                  <a:srgbClr val="6B7A87"/>
                </a:solidFill>
                <a:latin typeface="Calibri" pitchFamily="34" charset="0"/>
                <a:ea typeface="Calibri" pitchFamily="34" charset="-122"/>
                <a:cs typeface="Calibri" pitchFamily="34" charset="-120"/>
              </a:rPr>
              <a:t>on success only</a:t>
            </a:r>
            <a:endParaRPr lang="en-US" sz="900" dirty="0"/>
          </a:p>
        </p:txBody>
      </p:sp>
      <p:sp>
        <p:nvSpPr>
          <p:cNvPr id="45" name="Text 43"/>
          <p:cNvSpPr txBox="1"/>
          <p:nvPr/>
        </p:nvSpPr>
        <p:spPr>
          <a:xfrm>
            <a:off x="10469880" y="2606040"/>
            <a:ext cx="146304" cy="274320"/>
          </a:xfrm>
          <a:prstGeom prst="rect">
            <a:avLst/>
          </a:prstGeom>
          <a:noFill/>
          <a:ln/>
        </p:spPr>
        <p:txBody>
          <a:bodyPr wrap="square" lIns="0" tIns="0" rIns="0" bIns="0" rtlCol="0" anchor="ctr"/>
          <a:lstStyle/>
          <a:p>
            <a:pPr algn="ctr" indent="0" marL="0">
              <a:buNone/>
            </a:pPr>
            <a:r>
              <a:rPr lang="en-US" sz="1500" dirty="0">
                <a:solidFill>
                  <a:srgbClr val="D8DEE3"/>
                </a:solidFill>
                <a:latin typeface="Calibri" pitchFamily="34" charset="0"/>
                <a:ea typeface="Calibri" pitchFamily="34" charset="-122"/>
                <a:cs typeface="Calibri" pitchFamily="34" charset="-120"/>
              </a:rPr>
              <a:t>›</a:t>
            </a:r>
            <a:endParaRPr lang="en-US" sz="1500" dirty="0"/>
          </a:p>
        </p:txBody>
      </p:sp>
      <p:sp>
        <p:nvSpPr>
          <p:cNvPr id="46" name="Shape 44"/>
          <p:cNvSpPr/>
          <p:nvPr/>
        </p:nvSpPr>
        <p:spPr>
          <a:xfrm>
            <a:off x="10593324" y="2011680"/>
            <a:ext cx="1316736" cy="1600200"/>
          </a:xfrm>
          <a:prstGeom prst="roundRect">
            <a:avLst>
              <a:gd name="adj" fmla="val 4167"/>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47" name="Shape 45"/>
          <p:cNvSpPr/>
          <p:nvPr/>
        </p:nvSpPr>
        <p:spPr>
          <a:xfrm>
            <a:off x="10712196" y="2139696"/>
            <a:ext cx="292608" cy="292608"/>
          </a:xfrm>
          <a:prstGeom prst="ellipse">
            <a:avLst/>
          </a:prstGeom>
          <a:solidFill>
            <a:srgbClr val="E4E9EC"/>
          </a:solidFill>
          <a:ln/>
        </p:spPr>
      </p:sp>
      <p:sp>
        <p:nvSpPr>
          <p:cNvPr id="48" name="Text 46"/>
          <p:cNvSpPr txBox="1"/>
          <p:nvPr/>
        </p:nvSpPr>
        <p:spPr>
          <a:xfrm>
            <a:off x="10712196" y="2139696"/>
            <a:ext cx="292608" cy="292608"/>
          </a:xfrm>
          <a:prstGeom prst="rect">
            <a:avLst/>
          </a:prstGeom>
          <a:noFill/>
          <a:ln/>
        </p:spPr>
        <p:txBody>
          <a:bodyPr wrap="square" lIns="0" tIns="0" rIns="0" bIns="0" rtlCol="0" anchor="ctr"/>
          <a:lstStyle/>
          <a:p>
            <a:pPr algn="ctr" indent="0" marL="0">
              <a:buNone/>
            </a:pPr>
            <a:r>
              <a:rPr lang="en-US" sz="1100" b="1" dirty="0">
                <a:solidFill>
                  <a:srgbClr val="232B32"/>
                </a:solidFill>
                <a:latin typeface="Calibri" pitchFamily="34" charset="0"/>
                <a:ea typeface="Calibri" pitchFamily="34" charset="-122"/>
                <a:cs typeface="Calibri" pitchFamily="34" charset="-120"/>
              </a:rPr>
              <a:t>8</a:t>
            </a:r>
            <a:endParaRPr lang="en-US" sz="1100" dirty="0"/>
          </a:p>
        </p:txBody>
      </p:sp>
      <p:sp>
        <p:nvSpPr>
          <p:cNvPr id="49" name="Text 47"/>
          <p:cNvSpPr txBox="1"/>
          <p:nvPr/>
        </p:nvSpPr>
        <p:spPr>
          <a:xfrm>
            <a:off x="10684764" y="2578608"/>
            <a:ext cx="1133856" cy="502920"/>
          </a:xfrm>
          <a:prstGeom prst="rect">
            <a:avLst/>
          </a:prstGeom>
          <a:noFill/>
          <a:ln/>
        </p:spPr>
        <p:txBody>
          <a:bodyPr wrap="square" lIns="0" tIns="0" rIns="0" bIns="0" rtlCol="0" anchor="ctr"/>
          <a:lstStyle/>
          <a:p>
            <a:pPr indent="0" marL="0">
              <a:lnSpc>
                <a:spcPct val="105000"/>
              </a:lnSpc>
              <a:buNone/>
            </a:pPr>
            <a:r>
              <a:rPr lang="en-US" sz="1150" b="1" dirty="0">
                <a:solidFill>
                  <a:srgbClr val="232B32"/>
                </a:solidFill>
                <a:latin typeface="Calibri" pitchFamily="34" charset="0"/>
                <a:ea typeface="Calibri" pitchFamily="34" charset="-122"/>
                <a:cs typeface="Calibri" pitchFamily="34" charset="-120"/>
              </a:rPr>
              <a:t>Audit</a:t>
            </a:r>
            <a:endParaRPr lang="en-US" sz="1150" dirty="0"/>
          </a:p>
        </p:txBody>
      </p:sp>
      <p:sp>
        <p:nvSpPr>
          <p:cNvPr id="50" name="Text 48"/>
          <p:cNvSpPr txBox="1"/>
          <p:nvPr/>
        </p:nvSpPr>
        <p:spPr>
          <a:xfrm>
            <a:off x="10684764" y="3072384"/>
            <a:ext cx="1133856" cy="457200"/>
          </a:xfrm>
          <a:prstGeom prst="rect">
            <a:avLst/>
          </a:prstGeom>
          <a:noFill/>
          <a:ln/>
        </p:spPr>
        <p:txBody>
          <a:bodyPr wrap="square" lIns="0" tIns="0" rIns="0" bIns="0" rtlCol="0" anchor="ctr"/>
          <a:lstStyle/>
          <a:p>
            <a:pPr indent="0" marL="0">
              <a:lnSpc>
                <a:spcPct val="110000"/>
              </a:lnSpc>
              <a:buNone/>
            </a:pPr>
            <a:r>
              <a:rPr lang="en-US" sz="900" dirty="0">
                <a:solidFill>
                  <a:srgbClr val="6B7A87"/>
                </a:solidFill>
                <a:latin typeface="Calibri" pitchFamily="34" charset="0"/>
                <a:ea typeface="Calibri" pitchFamily="34" charset="-122"/>
                <a:cs typeface="Calibri" pitchFamily="34" charset="-120"/>
              </a:rPr>
              <a:t>every path, one row</a:t>
            </a:r>
            <a:endParaRPr lang="en-US" sz="900" dirty="0"/>
          </a:p>
        </p:txBody>
      </p:sp>
      <p:sp>
        <p:nvSpPr>
          <p:cNvPr id="51" name="Shape 49"/>
          <p:cNvSpPr/>
          <p:nvPr/>
        </p:nvSpPr>
        <p:spPr>
          <a:xfrm>
            <a:off x="640080" y="4069080"/>
            <a:ext cx="274320" cy="274320"/>
          </a:xfrm>
          <a:prstGeom prst="ellipse">
            <a:avLst/>
          </a:prstGeom>
          <a:solidFill>
            <a:srgbClr val="E08A1E"/>
          </a:solidFill>
          <a:ln/>
        </p:spPr>
      </p:sp>
      <p:sp>
        <p:nvSpPr>
          <p:cNvPr id="52" name="Text 50"/>
          <p:cNvSpPr txBox="1"/>
          <p:nvPr/>
        </p:nvSpPr>
        <p:spPr>
          <a:xfrm>
            <a:off x="640080" y="40690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3" name="Text 51"/>
          <p:cNvSpPr txBox="1"/>
          <p:nvPr/>
        </p:nvSpPr>
        <p:spPr>
          <a:xfrm>
            <a:off x="1042416" y="4023360"/>
            <a:ext cx="3108960" cy="457200"/>
          </a:xfrm>
          <a:prstGeom prst="rect">
            <a:avLst/>
          </a:prstGeom>
          <a:noFill/>
          <a:ln/>
        </p:spPr>
        <p:txBody>
          <a:bodyPr wrap="square" lIns="0" tIns="0" rIns="0" bIns="0" rtlCol="0" anchor="ctr"/>
          <a:lstStyle/>
          <a:p>
            <a:pPr indent="0" marL="0">
              <a:lnSpc>
                <a:spcPct val="110000"/>
              </a:lnSpc>
              <a:buNone/>
            </a:pPr>
            <a:r>
              <a:rPr lang="en-US" sz="1250" b="1" dirty="0">
                <a:solidFill>
                  <a:srgbClr val="232B32"/>
                </a:solidFill>
                <a:latin typeface="Calibri" pitchFamily="34" charset="0"/>
                <a:ea typeface="Calibri" pitchFamily="34" charset="-122"/>
                <a:cs typeface="Calibri" pitchFamily="34" charset="-120"/>
              </a:rPr>
              <a:t>Quota is reserved before the cache is read</a:t>
            </a:r>
            <a:endParaRPr lang="en-US" sz="1250" dirty="0"/>
          </a:p>
        </p:txBody>
      </p:sp>
      <p:sp>
        <p:nvSpPr>
          <p:cNvPr id="54" name="Text 52"/>
          <p:cNvSpPr txBox="1"/>
          <p:nvPr/>
        </p:nvSpPr>
        <p:spPr>
          <a:xfrm>
            <a:off x="1042416" y="4443984"/>
            <a:ext cx="3108960" cy="1005840"/>
          </a:xfrm>
          <a:prstGeom prst="rect">
            <a:avLst/>
          </a:prstGeom>
          <a:noFill/>
          <a:ln/>
        </p:spPr>
        <p:txBody>
          <a:bodyPr wrap="square" lIns="0" tIns="0" rIns="0" bIns="0" rtlCol="0" anchor="ctr"/>
          <a:lstStyle/>
          <a:p>
            <a:pPr indent="0" marL="0">
              <a:lnSpc>
                <a:spcPct val="120000"/>
              </a:lnSpc>
              <a:buNone/>
            </a:pPr>
            <a:r>
              <a:rPr lang="en-US" sz="1100" dirty="0">
                <a:solidFill>
                  <a:srgbClr val="6B7A87"/>
                </a:solidFill>
                <a:latin typeface="Calibri" pitchFamily="34" charset="0"/>
                <a:ea typeface="Calibri" pitchFamily="34" charset="-122"/>
                <a:cs typeface="Calibri" pitchFamily="34" charset="-120"/>
              </a:rPr>
              <a:t>Otherwise one question could be pinned and asked free forever, and the limit would be unenforceable.</a:t>
            </a:r>
            <a:endParaRPr lang="en-US" sz="1100" dirty="0"/>
          </a:p>
        </p:txBody>
      </p:sp>
      <p:sp>
        <p:nvSpPr>
          <p:cNvPr id="55" name="Shape 53"/>
          <p:cNvSpPr/>
          <p:nvPr/>
        </p:nvSpPr>
        <p:spPr>
          <a:xfrm>
            <a:off x="4352544" y="4069080"/>
            <a:ext cx="274320" cy="274320"/>
          </a:xfrm>
          <a:prstGeom prst="ellipse">
            <a:avLst/>
          </a:prstGeom>
          <a:solidFill>
            <a:srgbClr val="2F7A6E"/>
          </a:solidFill>
          <a:ln/>
        </p:spPr>
      </p:sp>
      <p:sp>
        <p:nvSpPr>
          <p:cNvPr id="56" name="Text 54"/>
          <p:cNvSpPr txBox="1"/>
          <p:nvPr/>
        </p:nvSpPr>
        <p:spPr>
          <a:xfrm>
            <a:off x="4352544" y="40690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7" name="Text 55"/>
          <p:cNvSpPr txBox="1"/>
          <p:nvPr/>
        </p:nvSpPr>
        <p:spPr>
          <a:xfrm>
            <a:off x="4754880" y="4023360"/>
            <a:ext cx="3108960" cy="457200"/>
          </a:xfrm>
          <a:prstGeom prst="rect">
            <a:avLst/>
          </a:prstGeom>
          <a:noFill/>
          <a:ln/>
        </p:spPr>
        <p:txBody>
          <a:bodyPr wrap="square" lIns="0" tIns="0" rIns="0" bIns="0" rtlCol="0" anchor="ctr"/>
          <a:lstStyle/>
          <a:p>
            <a:pPr indent="0" marL="0">
              <a:lnSpc>
                <a:spcPct val="110000"/>
              </a:lnSpc>
              <a:buNone/>
            </a:pPr>
            <a:r>
              <a:rPr lang="en-US" sz="1250" b="1" dirty="0">
                <a:solidFill>
                  <a:srgbClr val="232B32"/>
                </a:solidFill>
                <a:latin typeface="Calibri" pitchFamily="34" charset="0"/>
                <a:ea typeface="Calibri" pitchFamily="34" charset="-122"/>
                <a:cs typeface="Calibri" pitchFamily="34" charset="-120"/>
              </a:rPr>
              <a:t>Every path writes exactly one audit row</a:t>
            </a:r>
            <a:endParaRPr lang="en-US" sz="1250" dirty="0"/>
          </a:p>
        </p:txBody>
      </p:sp>
      <p:sp>
        <p:nvSpPr>
          <p:cNvPr id="58" name="Text 56"/>
          <p:cNvSpPr txBox="1"/>
          <p:nvPr/>
        </p:nvSpPr>
        <p:spPr>
          <a:xfrm>
            <a:off x="4754880" y="4443984"/>
            <a:ext cx="3108960" cy="1005840"/>
          </a:xfrm>
          <a:prstGeom prst="rect">
            <a:avLst/>
          </a:prstGeom>
          <a:noFill/>
          <a:ln/>
        </p:spPr>
        <p:txBody>
          <a:bodyPr wrap="square" lIns="0" tIns="0" rIns="0" bIns="0" rtlCol="0" anchor="ctr"/>
          <a:lstStyle/>
          <a:p>
            <a:pPr indent="0" marL="0">
              <a:lnSpc>
                <a:spcPct val="120000"/>
              </a:lnSpc>
              <a:buNone/>
            </a:pPr>
            <a:r>
              <a:rPr lang="en-US" sz="1100" dirty="0">
                <a:solidFill>
                  <a:srgbClr val="6B7A87"/>
                </a:solidFill>
                <a:latin typeface="Calibri" pitchFamily="34" charset="0"/>
                <a:ea typeface="Calibri" pitchFamily="34" charset="-122"/>
                <a:cs typeface="Calibri" pitchFamily="34" charset="-120"/>
              </a:rPr>
              <a:t>Including both early exits. A refused question is as auditable as an answered one.</a:t>
            </a:r>
            <a:endParaRPr lang="en-US" sz="1100" dirty="0"/>
          </a:p>
        </p:txBody>
      </p:sp>
      <p:sp>
        <p:nvSpPr>
          <p:cNvPr id="59" name="Shape 57"/>
          <p:cNvSpPr/>
          <p:nvPr/>
        </p:nvSpPr>
        <p:spPr>
          <a:xfrm>
            <a:off x="8065008" y="4069080"/>
            <a:ext cx="274320" cy="274320"/>
          </a:xfrm>
          <a:prstGeom prst="ellipse">
            <a:avLst/>
          </a:prstGeom>
          <a:solidFill>
            <a:srgbClr val="232B32"/>
          </a:solidFill>
          <a:ln/>
        </p:spPr>
      </p:sp>
      <p:sp>
        <p:nvSpPr>
          <p:cNvPr id="60" name="Text 58"/>
          <p:cNvSpPr txBox="1"/>
          <p:nvPr/>
        </p:nvSpPr>
        <p:spPr>
          <a:xfrm>
            <a:off x="8065008" y="40690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61" name="Text 59"/>
          <p:cNvSpPr txBox="1"/>
          <p:nvPr/>
        </p:nvSpPr>
        <p:spPr>
          <a:xfrm>
            <a:off x="8467344" y="4023360"/>
            <a:ext cx="3108960" cy="457200"/>
          </a:xfrm>
          <a:prstGeom prst="rect">
            <a:avLst/>
          </a:prstGeom>
          <a:noFill/>
          <a:ln/>
        </p:spPr>
        <p:txBody>
          <a:bodyPr wrap="square" lIns="0" tIns="0" rIns="0" bIns="0" rtlCol="0" anchor="ctr"/>
          <a:lstStyle/>
          <a:p>
            <a:pPr indent="0" marL="0">
              <a:lnSpc>
                <a:spcPct val="110000"/>
              </a:lnSpc>
              <a:buNone/>
            </a:pPr>
            <a:r>
              <a:rPr lang="en-US" sz="1250" b="1" dirty="0">
                <a:solidFill>
                  <a:srgbClr val="232B32"/>
                </a:solidFill>
                <a:latin typeface="Calibri" pitchFamily="34" charset="0"/>
                <a:ea typeface="Calibri" pitchFamily="34" charset="-122"/>
                <a:cs typeface="Calibri" pitchFamily="34" charset="-120"/>
              </a:rPr>
              <a:t>A 75-second budget, end to end</a:t>
            </a:r>
            <a:endParaRPr lang="en-US" sz="1250" dirty="0"/>
          </a:p>
        </p:txBody>
      </p:sp>
      <p:sp>
        <p:nvSpPr>
          <p:cNvPr id="62" name="Text 60"/>
          <p:cNvSpPr txBox="1"/>
          <p:nvPr/>
        </p:nvSpPr>
        <p:spPr>
          <a:xfrm>
            <a:off x="8467344" y="4443984"/>
            <a:ext cx="3108960" cy="1005840"/>
          </a:xfrm>
          <a:prstGeom prst="rect">
            <a:avLst/>
          </a:prstGeom>
          <a:noFill/>
          <a:ln/>
        </p:spPr>
        <p:txBody>
          <a:bodyPr wrap="square" lIns="0" tIns="0" rIns="0" bIns="0" rtlCol="0" anchor="ctr"/>
          <a:lstStyle/>
          <a:p>
            <a:pPr indent="0" marL="0">
              <a:lnSpc>
                <a:spcPct val="120000"/>
              </a:lnSpc>
              <a:buNone/>
            </a:pPr>
            <a:r>
              <a:rPr lang="en-US" sz="1100" dirty="0">
                <a:solidFill>
                  <a:srgbClr val="6B7A87"/>
                </a:solidFill>
                <a:latin typeface="Calibri" pitchFamily="34" charset="0"/>
                <a:ea typeface="Calibri" pitchFamily="34" charset="-122"/>
                <a:cs typeface="Calibri" pitchFamily="34" charset="-120"/>
              </a:rPr>
              <a:t>The service always answers before the gateway gives up, so a slow question degrades into a partial answer — never a timeout.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indent="0" marL="0">
              <a:buNone/>
            </a:pPr>
            <a:r>
              <a:rPr lang="en-US" sz="3400" b="1" dirty="0">
                <a:solidFill>
                  <a:srgbClr val="232B32"/>
                </a:solidFill>
                <a:latin typeface="Cambria" pitchFamily="34" charset="0"/>
                <a:ea typeface="Cambria" pitchFamily="34" charset="-122"/>
                <a:cs typeface="Cambria" pitchFamily="34" charset="-120"/>
              </a:rPr>
              <a:t>Nothing classifies your question but the model</a:t>
            </a:r>
            <a:endParaRPr lang="en-US" sz="3400" dirty="0"/>
          </a:p>
        </p:txBody>
      </p:sp>
      <p:sp>
        <p:nvSpPr>
          <p:cNvPr id="3" name="Text 1"/>
          <p:cNvSpPr txBox="1"/>
          <p:nvPr/>
        </p:nvSpPr>
        <p:spPr>
          <a:xfrm>
            <a:off x="640080" y="1060704"/>
            <a:ext cx="10881360" cy="365760"/>
          </a:xfrm>
          <a:prstGeom prst="rect">
            <a:avLst/>
          </a:prstGeom>
          <a:noFill/>
          <a:ln/>
        </p:spPr>
        <p:txBody>
          <a:bodyPr wrap="square" lIns="0" tIns="0" rIns="0" bIns="0" rtlCol="0" anchor="ctr"/>
          <a:lstStyle/>
          <a:p>
            <a:pPr indent="0" marL="0">
              <a:buNone/>
            </a:pPr>
            <a:r>
              <a:rPr lang="en-US" sz="1400" dirty="0">
                <a:solidFill>
                  <a:srgbClr val="6B7A87"/>
                </a:solidFill>
                <a:latin typeface="Calibri" pitchFamily="34" charset="0"/>
                <a:ea typeface="Calibri" pitchFamily="34" charset="-122"/>
                <a:cs typeface="Calibri" pitchFamily="34" charset="-120"/>
              </a:rPr>
              <a:t>No keyword list. The model gets a tool catalogue built from your registry and chooses.</a:t>
            </a:r>
            <a:endParaRPr lang="en-US" sz="1400" dirty="0"/>
          </a:p>
        </p:txBody>
      </p:sp>
      <p:sp>
        <p:nvSpPr>
          <p:cNvPr id="4" name="Shape 2"/>
          <p:cNvSpPr/>
          <p:nvPr/>
        </p:nvSpPr>
        <p:spPr>
          <a:xfrm>
            <a:off x="4434840" y="1691640"/>
            <a:ext cx="3291840" cy="868680"/>
          </a:xfrm>
          <a:prstGeom prst="roundRect">
            <a:avLst>
              <a:gd name="adj" fmla="val 6316"/>
            </a:avLst>
          </a:prstGeom>
          <a:solidFill>
            <a:srgbClr val="232B32"/>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5" name="Text 3"/>
          <p:cNvSpPr txBox="1"/>
          <p:nvPr/>
        </p:nvSpPr>
        <p:spPr>
          <a:xfrm>
            <a:off x="4663440" y="1828800"/>
            <a:ext cx="283464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model</a:t>
            </a:r>
            <a:endParaRPr lang="en-US" sz="1500" dirty="0"/>
          </a:p>
        </p:txBody>
      </p:sp>
      <p:sp>
        <p:nvSpPr>
          <p:cNvPr id="6" name="Text 4"/>
          <p:cNvSpPr txBox="1"/>
          <p:nvPr/>
        </p:nvSpPr>
        <p:spPr>
          <a:xfrm>
            <a:off x="4663440" y="2112264"/>
            <a:ext cx="2834640" cy="365760"/>
          </a:xfrm>
          <a:prstGeom prst="rect">
            <a:avLst/>
          </a:prstGeom>
          <a:noFill/>
          <a:ln/>
        </p:spPr>
        <p:txBody>
          <a:bodyPr wrap="square" lIns="0" tIns="0" rIns="0" bIns="0" rtlCol="0" anchor="ctr"/>
          <a:lstStyle/>
          <a:p>
            <a:pPr indent="0" marL="0">
              <a:buNone/>
            </a:pPr>
            <a:r>
              <a:rPr lang="en-US" sz="1000" dirty="0">
                <a:solidFill>
                  <a:srgbClr val="9FB0BB"/>
                </a:solidFill>
                <a:latin typeface="Calibri" pitchFamily="34" charset="0"/>
                <a:ea typeface="Calibri" pitchFamily="34" charset="-122"/>
                <a:cs typeface="Calibri" pitchFamily="34" charset="-120"/>
              </a:rPr>
              <a:t>+ tool catalogue from your active business objects</a:t>
            </a:r>
            <a:endParaRPr lang="en-US" sz="1000" dirty="0"/>
          </a:p>
        </p:txBody>
      </p:sp>
      <p:sp>
        <p:nvSpPr>
          <p:cNvPr id="7" name="Shape 5"/>
          <p:cNvSpPr/>
          <p:nvPr/>
        </p:nvSpPr>
        <p:spPr>
          <a:xfrm>
            <a:off x="640080" y="3200400"/>
            <a:ext cx="3291840" cy="1965960"/>
          </a:xfrm>
          <a:prstGeom prst="roundRect">
            <a:avLst>
              <a:gd name="adj" fmla="val 2791"/>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8" name="Text 6"/>
          <p:cNvSpPr txBox="1"/>
          <p:nvPr/>
        </p:nvSpPr>
        <p:spPr>
          <a:xfrm>
            <a:off x="914400" y="3493008"/>
            <a:ext cx="2743200" cy="320040"/>
          </a:xfrm>
          <a:prstGeom prst="rect">
            <a:avLst/>
          </a:prstGeom>
          <a:noFill/>
          <a:ln/>
        </p:spPr>
        <p:txBody>
          <a:bodyPr wrap="square" lIns="0" tIns="0" rIns="0" bIns="0" rtlCol="0" anchor="ctr"/>
          <a:lstStyle/>
          <a:p>
            <a:pPr indent="0" marL="0">
              <a:buNone/>
            </a:pPr>
            <a:r>
              <a:rPr lang="en-US" sz="1550" b="1" dirty="0">
                <a:solidFill>
                  <a:srgbClr val="6B7A87"/>
                </a:solidFill>
                <a:latin typeface="Cambria" pitchFamily="34" charset="0"/>
                <a:ea typeface="Cambria" pitchFamily="34" charset="-122"/>
                <a:cs typeface="Cambria" pitchFamily="34" charset="-120"/>
              </a:rPr>
              <a:t>Answers directly</a:t>
            </a:r>
            <a:endParaRPr lang="en-US" sz="1550" dirty="0"/>
          </a:p>
        </p:txBody>
      </p:sp>
      <p:sp>
        <p:nvSpPr>
          <p:cNvPr id="9" name="Text 7"/>
          <p:cNvSpPr txBox="1"/>
          <p:nvPr/>
        </p:nvSpPr>
        <p:spPr>
          <a:xfrm>
            <a:off x="914400" y="3931920"/>
            <a:ext cx="2743200" cy="1097280"/>
          </a:xfrm>
          <a:prstGeom prst="rect">
            <a:avLst/>
          </a:prstGeom>
          <a:noFill/>
          <a:ln/>
        </p:spPr>
        <p:txBody>
          <a:bodyPr wrap="square" lIns="0" tIns="0" rIns="0" bIns="0" rtlCol="0" anchor="ctr"/>
          <a:lstStyle/>
          <a:p>
            <a:pPr indent="0" marL="0">
              <a:lnSpc>
                <a:spcPct val="125000"/>
              </a:lnSpc>
              <a:buNone/>
            </a:pPr>
            <a:r>
              <a:rPr lang="en-US" sz="1150" dirty="0">
                <a:solidFill>
                  <a:srgbClr val="6B7A87"/>
                </a:solidFill>
                <a:latin typeface="Calibri" pitchFamily="34" charset="0"/>
                <a:ea typeface="Calibri" pitchFamily="34" charset="-122"/>
                <a:cs typeface="Calibri" pitchFamily="34" charset="-120"/>
              </a:rPr>
              <a:t>A greeting, a general question. Marked honestly as not grounded — no SAP call was made.</a:t>
            </a:r>
            <a:endParaRPr lang="en-US" sz="1150" dirty="0"/>
          </a:p>
        </p:txBody>
      </p:sp>
      <p:sp>
        <p:nvSpPr>
          <p:cNvPr id="10" name="Shape 8"/>
          <p:cNvSpPr/>
          <p:nvPr/>
        </p:nvSpPr>
        <p:spPr>
          <a:xfrm>
            <a:off x="4434840" y="3200400"/>
            <a:ext cx="3291840" cy="1965960"/>
          </a:xfrm>
          <a:prstGeom prst="roundRect">
            <a:avLst>
              <a:gd name="adj" fmla="val 2791"/>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11" name="Text 9"/>
          <p:cNvSpPr txBox="1"/>
          <p:nvPr/>
        </p:nvSpPr>
        <p:spPr>
          <a:xfrm>
            <a:off x="4709160" y="3493008"/>
            <a:ext cx="2743200" cy="320040"/>
          </a:xfrm>
          <a:prstGeom prst="rect">
            <a:avLst/>
          </a:prstGeom>
          <a:noFill/>
          <a:ln/>
        </p:spPr>
        <p:txBody>
          <a:bodyPr wrap="square" lIns="0" tIns="0" rIns="0" bIns="0" rtlCol="0" anchor="ctr"/>
          <a:lstStyle/>
          <a:p>
            <a:pPr indent="0" marL="0">
              <a:buNone/>
            </a:pPr>
            <a:r>
              <a:rPr lang="en-US" sz="1550" b="1" dirty="0">
                <a:solidFill>
                  <a:srgbClr val="2F7A6E"/>
                </a:solidFill>
                <a:latin typeface="Cambria" pitchFamily="34" charset="0"/>
                <a:ea typeface="Cambria" pitchFamily="34" charset="-122"/>
                <a:cs typeface="Cambria" pitchFamily="34" charset="-120"/>
              </a:rPr>
              <a:t>Calls a read tool</a:t>
            </a:r>
            <a:endParaRPr lang="en-US" sz="1550" dirty="0"/>
          </a:p>
        </p:txBody>
      </p:sp>
      <p:sp>
        <p:nvSpPr>
          <p:cNvPr id="12" name="Text 10"/>
          <p:cNvSpPr txBox="1"/>
          <p:nvPr/>
        </p:nvSpPr>
        <p:spPr>
          <a:xfrm>
            <a:off x="4709160" y="3931920"/>
            <a:ext cx="2743200" cy="1097280"/>
          </a:xfrm>
          <a:prstGeom prst="rect">
            <a:avLst/>
          </a:prstGeom>
          <a:noFill/>
          <a:ln/>
        </p:spPr>
        <p:txBody>
          <a:bodyPr wrap="square" lIns="0" tIns="0" rIns="0" bIns="0" rtlCol="0" anchor="ctr"/>
          <a:lstStyle/>
          <a:p>
            <a:pPr indent="0" marL="0">
              <a:lnSpc>
                <a:spcPct val="125000"/>
              </a:lnSpc>
              <a:buNone/>
            </a:pPr>
            <a:r>
              <a:rPr lang="en-US" sz="1150" dirty="0">
                <a:solidFill>
                  <a:srgbClr val="6B7A87"/>
                </a:solidFill>
                <a:latin typeface="Calibri" pitchFamily="34" charset="0"/>
                <a:ea typeface="Calibri" pitchFamily="34" charset="-122"/>
                <a:cs typeface="Calibri" pitchFamily="34" charset="-120"/>
              </a:rPr>
              <a:t>Becomes an OData query against SAP Graph. Rows return into the loop, up to 8 rounds.</a:t>
            </a:r>
            <a:endParaRPr lang="en-US" sz="1150" dirty="0"/>
          </a:p>
        </p:txBody>
      </p:sp>
      <p:sp>
        <p:nvSpPr>
          <p:cNvPr id="13" name="Shape 11"/>
          <p:cNvSpPr/>
          <p:nvPr/>
        </p:nvSpPr>
        <p:spPr>
          <a:xfrm>
            <a:off x="8229600" y="3200400"/>
            <a:ext cx="3291840" cy="1965960"/>
          </a:xfrm>
          <a:prstGeom prst="roundRect">
            <a:avLst>
              <a:gd name="adj" fmla="val 2791"/>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14" name="Text 12"/>
          <p:cNvSpPr txBox="1"/>
          <p:nvPr/>
        </p:nvSpPr>
        <p:spPr>
          <a:xfrm>
            <a:off x="8503920" y="3493008"/>
            <a:ext cx="2743200" cy="320040"/>
          </a:xfrm>
          <a:prstGeom prst="rect">
            <a:avLst/>
          </a:prstGeom>
          <a:noFill/>
          <a:ln/>
        </p:spPr>
        <p:txBody>
          <a:bodyPr wrap="square" lIns="0" tIns="0" rIns="0" bIns="0" rtlCol="0" anchor="ctr"/>
          <a:lstStyle/>
          <a:p>
            <a:pPr indent="0" marL="0">
              <a:buNone/>
            </a:pPr>
            <a:r>
              <a:rPr lang="en-US" sz="1550" b="1" dirty="0">
                <a:solidFill>
                  <a:srgbClr val="A8322A"/>
                </a:solidFill>
                <a:latin typeface="Cambria" pitchFamily="34" charset="0"/>
                <a:ea typeface="Cambria" pitchFamily="34" charset="-122"/>
                <a:cs typeface="Cambria" pitchFamily="34" charset="-120"/>
              </a:rPr>
              <a:t>Proposes a write</a:t>
            </a:r>
            <a:endParaRPr lang="en-US" sz="1550" dirty="0"/>
          </a:p>
        </p:txBody>
      </p:sp>
      <p:sp>
        <p:nvSpPr>
          <p:cNvPr id="15" name="Text 13"/>
          <p:cNvSpPr txBox="1"/>
          <p:nvPr/>
        </p:nvSpPr>
        <p:spPr>
          <a:xfrm>
            <a:off x="8503920" y="3931920"/>
            <a:ext cx="2743200" cy="1097280"/>
          </a:xfrm>
          <a:prstGeom prst="rect">
            <a:avLst/>
          </a:prstGeom>
          <a:noFill/>
          <a:ln/>
        </p:spPr>
        <p:txBody>
          <a:bodyPr wrap="square" lIns="0" tIns="0" rIns="0" bIns="0" rtlCol="0" anchor="ctr"/>
          <a:lstStyle/>
          <a:p>
            <a:pPr indent="0" marL="0">
              <a:lnSpc>
                <a:spcPct val="125000"/>
              </a:lnSpc>
              <a:buNone/>
            </a:pPr>
            <a:r>
              <a:rPr lang="en-US" sz="1150" dirty="0">
                <a:solidFill>
                  <a:srgbClr val="6B7A87"/>
                </a:solidFill>
                <a:latin typeface="Calibri" pitchFamily="34" charset="0"/>
                <a:ea typeface="Calibri" pitchFamily="34" charset="-122"/>
                <a:cs typeface="Calibri" pitchFamily="34" charset="-120"/>
              </a:rPr>
              <a:t>The loop stops. Nothing executes. A confirmation card, and a separate human approval.</a:t>
            </a:r>
            <a:endParaRPr lang="en-US" sz="1150" dirty="0"/>
          </a:p>
        </p:txBody>
      </p:sp>
      <p:sp>
        <p:nvSpPr>
          <p:cNvPr id="16" name="Shape 14"/>
          <p:cNvSpPr/>
          <p:nvPr/>
        </p:nvSpPr>
        <p:spPr>
          <a:xfrm>
            <a:off x="6080760" y="2560320"/>
            <a:ext cx="-3794760" cy="640080"/>
          </a:xfrm>
          <a:prstGeom prst="line">
            <a:avLst/>
          </a:prstGeom>
          <a:noFill/>
          <a:ln w="15875">
            <a:solidFill>
              <a:srgbClr val="D8DEE3"/>
            </a:solidFill>
            <a:prstDash val="solid"/>
            <a:tailEnd type="triangle"/>
          </a:ln>
        </p:spPr>
      </p:sp>
      <p:sp>
        <p:nvSpPr>
          <p:cNvPr id="17" name="Shape 15"/>
          <p:cNvSpPr/>
          <p:nvPr/>
        </p:nvSpPr>
        <p:spPr>
          <a:xfrm>
            <a:off x="6080760" y="2560320"/>
            <a:ext cx="0" cy="640080"/>
          </a:xfrm>
          <a:prstGeom prst="line">
            <a:avLst/>
          </a:prstGeom>
          <a:noFill/>
          <a:ln w="15875">
            <a:solidFill>
              <a:srgbClr val="D8DEE3"/>
            </a:solidFill>
            <a:prstDash val="solid"/>
            <a:tailEnd type="triangle"/>
          </a:ln>
        </p:spPr>
      </p:sp>
      <p:sp>
        <p:nvSpPr>
          <p:cNvPr id="18" name="Shape 16"/>
          <p:cNvSpPr/>
          <p:nvPr/>
        </p:nvSpPr>
        <p:spPr>
          <a:xfrm>
            <a:off x="6080760" y="2560320"/>
            <a:ext cx="3794760" cy="640080"/>
          </a:xfrm>
          <a:prstGeom prst="line">
            <a:avLst/>
          </a:prstGeom>
          <a:noFill/>
          <a:ln w="15875">
            <a:solidFill>
              <a:srgbClr val="D8DEE3"/>
            </a:solidFill>
            <a:prstDash val="solid"/>
            <a:tailEnd type="triangle"/>
          </a:ln>
        </p:spPr>
      </p:sp>
      <p:sp>
        <p:nvSpPr>
          <p:cNvPr id="19" name="Text 17"/>
          <p:cNvSpPr txBox="1"/>
          <p:nvPr/>
        </p:nvSpPr>
        <p:spPr>
          <a:xfrm>
            <a:off x="640080" y="5486400"/>
            <a:ext cx="10881360" cy="457200"/>
          </a:xfrm>
          <a:prstGeom prst="rect">
            <a:avLst/>
          </a:prstGeom>
          <a:noFill/>
          <a:ln/>
        </p:spPr>
        <p:txBody>
          <a:bodyPr wrap="square" lIns="0" tIns="0" rIns="0" bIns="0" rtlCol="0" anchor="ctr"/>
          <a:lstStyle/>
          <a:p>
            <a:pPr indent="0" marL="0">
              <a:buNone/>
            </a:pPr>
            <a:r>
              <a:rPr lang="en-US" sz="1350" i="1" dirty="0">
                <a:solidFill>
                  <a:srgbClr val="232B32"/>
                </a:solidFill>
                <a:latin typeface="Calibri" pitchFamily="34" charset="0"/>
                <a:ea typeface="Calibri" pitchFamily="34" charset="-122"/>
                <a:cs typeface="Calibri" pitchFamily="34" charset="-120"/>
              </a:rPr>
              <a:t>Because the catalogue is built from configuration, adding a sixth SAP object is a row in a form — not a release.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indent="0" marL="0">
              <a:buNone/>
            </a:pPr>
            <a:r>
              <a:rPr lang="en-US" sz="3400" b="1" dirty="0">
                <a:solidFill>
                  <a:srgbClr val="232B32"/>
                </a:solidFill>
                <a:latin typeface="Cambria" pitchFamily="34" charset="0"/>
                <a:ea typeface="Cambria" pitchFamily="34" charset="-122"/>
                <a:cs typeface="Cambria" pitchFamily="34" charset="-120"/>
              </a:rPr>
              <a:t>Where the data comes from</a:t>
            </a:r>
            <a:endParaRPr lang="en-US" sz="3400" dirty="0"/>
          </a:p>
        </p:txBody>
      </p:sp>
      <p:sp>
        <p:nvSpPr>
          <p:cNvPr id="3" name="Text 1"/>
          <p:cNvSpPr txBox="1"/>
          <p:nvPr/>
        </p:nvSpPr>
        <p:spPr>
          <a:xfrm>
            <a:off x="640080" y="1060704"/>
            <a:ext cx="10881360" cy="365760"/>
          </a:xfrm>
          <a:prstGeom prst="rect">
            <a:avLst/>
          </a:prstGeom>
          <a:noFill/>
          <a:ln/>
        </p:spPr>
        <p:txBody>
          <a:bodyPr wrap="square" lIns="0" tIns="0" rIns="0" bIns="0" rtlCol="0" anchor="ctr"/>
          <a:lstStyle/>
          <a:p>
            <a:pPr indent="0" marL="0">
              <a:buNone/>
            </a:pPr>
            <a:r>
              <a:rPr lang="en-US" sz="1400" dirty="0">
                <a:solidFill>
                  <a:srgbClr val="6B7A87"/>
                </a:solidFill>
                <a:latin typeface="Calibri" pitchFamily="34" charset="0"/>
                <a:ea typeface="Calibri" pitchFamily="34" charset="-122"/>
                <a:cs typeface="Calibri" pitchFamily="34" charset="-120"/>
              </a:rPr>
              <a:t>SAP Graph, on your own SAP BTP tenant</a:t>
            </a:r>
            <a:endParaRPr lang="en-US" sz="1400" dirty="0"/>
          </a:p>
        </p:txBody>
      </p:sp>
      <p:sp>
        <p:nvSpPr>
          <p:cNvPr id="4" name="Shape 2"/>
          <p:cNvSpPr/>
          <p:nvPr/>
        </p:nvSpPr>
        <p:spPr>
          <a:xfrm>
            <a:off x="640080" y="1645920"/>
            <a:ext cx="5029200" cy="1874520"/>
          </a:xfrm>
          <a:prstGeom prst="roundRect">
            <a:avLst>
              <a:gd name="adj" fmla="val 2927"/>
            </a:avLst>
          </a:prstGeom>
          <a:solidFill>
            <a:srgbClr val="232B32"/>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5" name="Text 3"/>
          <p:cNvSpPr txBox="1"/>
          <p:nvPr/>
        </p:nvSpPr>
        <p:spPr>
          <a:xfrm>
            <a:off x="960120" y="1828800"/>
            <a:ext cx="4389120" cy="36576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SAP Graph</a:t>
            </a:r>
            <a:endParaRPr lang="en-US" sz="2200" dirty="0"/>
          </a:p>
        </p:txBody>
      </p:sp>
      <p:sp>
        <p:nvSpPr>
          <p:cNvPr id="6" name="Text 4"/>
          <p:cNvSpPr txBox="1"/>
          <p:nvPr/>
        </p:nvSpPr>
        <p:spPr>
          <a:xfrm>
            <a:off x="960120" y="2240280"/>
            <a:ext cx="4389120" cy="822960"/>
          </a:xfrm>
          <a:prstGeom prst="rect">
            <a:avLst/>
          </a:prstGeom>
          <a:noFill/>
          <a:ln/>
        </p:spPr>
        <p:txBody>
          <a:bodyPr wrap="square" lIns="0" tIns="0" rIns="0" bIns="0" rtlCol="0" anchor="ctr"/>
          <a:lstStyle/>
          <a:p>
            <a:pPr indent="0" marL="0">
              <a:lnSpc>
                <a:spcPct val="125000"/>
              </a:lnSpc>
              <a:buNone/>
            </a:pPr>
            <a:r>
              <a:rPr lang="en-US" sz="1250" dirty="0">
                <a:solidFill>
                  <a:srgbClr val="9FB0BB"/>
                </a:solidFill>
                <a:latin typeface="Calibri" pitchFamily="34" charset="0"/>
                <a:ea typeface="Calibri" pitchFamily="34" charset="-122"/>
                <a:cs typeface="Calibri" pitchFamily="34" charset="-120"/>
              </a:rPr>
              <a:t>One namespace — sap.s4 — in front of many S/4HANA services.</a:t>
            </a:r>
            <a:endParaRPr lang="en-US" sz="1250" dirty="0"/>
          </a:p>
          <a:p>
            <a:pPr indent="0" marL="0">
              <a:lnSpc>
                <a:spcPct val="125000"/>
              </a:lnSpc>
              <a:buNone/>
            </a:pPr>
            <a:r>
              <a:rPr lang="en-US" sz="1250" dirty="0">
                <a:solidFill>
                  <a:srgbClr val="9FB0BB"/>
                </a:solidFill>
                <a:latin typeface="Calibri" pitchFamily="34" charset="0"/>
                <a:ea typeface="Calibri" pitchFamily="34" charset="-122"/>
                <a:cs typeface="Calibri" pitchFamily="34" charset="-120"/>
              </a:rPr>
              <a:t>OAuth 2 client credentials against your own XSUAA.</a:t>
            </a:r>
            <a:endParaRPr lang="en-US" sz="1250" dirty="0"/>
          </a:p>
        </p:txBody>
      </p:sp>
      <p:sp>
        <p:nvSpPr>
          <p:cNvPr id="7" name="Text 5"/>
          <p:cNvSpPr txBox="1"/>
          <p:nvPr/>
        </p:nvSpPr>
        <p:spPr>
          <a:xfrm>
            <a:off x="960120" y="3063240"/>
            <a:ext cx="4389120" cy="274320"/>
          </a:xfrm>
          <a:prstGeom prst="rect">
            <a:avLst/>
          </a:prstGeom>
          <a:noFill/>
          <a:ln/>
        </p:spPr>
        <p:txBody>
          <a:bodyPr wrap="square" lIns="0" tIns="0" rIns="0" bIns="0" rtlCol="0" anchor="ctr"/>
          <a:lstStyle/>
          <a:p>
            <a:pPr indent="0" marL="0">
              <a:buNone/>
            </a:pPr>
            <a:r>
              <a:rPr lang="en-US" sz="1050" dirty="0">
                <a:solidFill>
                  <a:srgbClr val="E08A1E"/>
                </a:solidFill>
                <a:latin typeface="Courier New" pitchFamily="34" charset="0"/>
                <a:ea typeface="Courier New" pitchFamily="34" charset="-122"/>
                <a:cs typeface="Courier New" pitchFamily="34" charset="-120"/>
              </a:rPr>
              <a:t>7 entities available  ·  3 in use today</a:t>
            </a:r>
            <a:endParaRPr lang="en-US" sz="1050" dirty="0"/>
          </a:p>
        </p:txBody>
      </p:sp>
      <p:sp>
        <p:nvSpPr>
          <p:cNvPr id="8" name="Shape 6"/>
          <p:cNvSpPr/>
          <p:nvPr/>
        </p:nvSpPr>
        <p:spPr>
          <a:xfrm>
            <a:off x="6035040" y="1645920"/>
            <a:ext cx="5486400" cy="3246120"/>
          </a:xfrm>
          <a:prstGeom prst="roundRect">
            <a:avLst>
              <a:gd name="adj" fmla="val 1690"/>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9" name="Text 7"/>
          <p:cNvSpPr txBox="1"/>
          <p:nvPr/>
        </p:nvSpPr>
        <p:spPr>
          <a:xfrm>
            <a:off x="6309360" y="1828800"/>
            <a:ext cx="4937760" cy="274320"/>
          </a:xfrm>
          <a:prstGeom prst="rect">
            <a:avLst/>
          </a:prstGeom>
          <a:noFill/>
          <a:ln/>
        </p:spPr>
        <p:txBody>
          <a:bodyPr wrap="square" lIns="0" tIns="0" rIns="0" bIns="0" rtlCol="0" anchor="ctr"/>
          <a:lstStyle/>
          <a:p>
            <a:pPr indent="0" marL="0">
              <a:buNone/>
            </a:pPr>
            <a:r>
              <a:rPr lang="en-US" sz="1500" b="1" dirty="0">
                <a:solidFill>
                  <a:srgbClr val="232B32"/>
                </a:solidFill>
                <a:latin typeface="Cambria" pitchFamily="34" charset="0"/>
                <a:ea typeface="Cambria" pitchFamily="34" charset="-122"/>
                <a:cs typeface="Cambria" pitchFamily="34" charset="-120"/>
              </a:rPr>
              <a:t>Registered business objects</a:t>
            </a:r>
            <a:endParaRPr lang="en-US" sz="1500" dirty="0"/>
          </a:p>
        </p:txBody>
      </p:sp>
      <p:sp>
        <p:nvSpPr>
          <p:cNvPr id="10" name="Shape 8"/>
          <p:cNvSpPr/>
          <p:nvPr/>
        </p:nvSpPr>
        <p:spPr>
          <a:xfrm>
            <a:off x="6327648" y="2368296"/>
            <a:ext cx="118872" cy="118872"/>
          </a:xfrm>
          <a:prstGeom prst="ellipse">
            <a:avLst/>
          </a:prstGeom>
          <a:solidFill>
            <a:srgbClr val="2F7A6E"/>
          </a:solidFill>
          <a:ln/>
        </p:spPr>
      </p:sp>
      <p:sp>
        <p:nvSpPr>
          <p:cNvPr id="11" name="Text 9"/>
          <p:cNvSpPr txBox="1"/>
          <p:nvPr/>
        </p:nvSpPr>
        <p:spPr>
          <a:xfrm>
            <a:off x="6583680" y="2286000"/>
            <a:ext cx="2103120" cy="274320"/>
          </a:xfrm>
          <a:prstGeom prst="rect">
            <a:avLst/>
          </a:prstGeom>
          <a:noFill/>
          <a:ln/>
        </p:spPr>
        <p:txBody>
          <a:bodyPr wrap="square" lIns="0" tIns="0" rIns="0" bIns="0" rtlCol="0" anchor="ctr"/>
          <a:lstStyle/>
          <a:p>
            <a:pPr indent="0" marL="0">
              <a:buNone/>
            </a:pPr>
            <a:r>
              <a:rPr lang="en-US" sz="1200" b="1" dirty="0">
                <a:solidFill>
                  <a:srgbClr val="232B32"/>
                </a:solidFill>
                <a:latin typeface="Calibri" pitchFamily="34" charset="0"/>
                <a:ea typeface="Calibri" pitchFamily="34" charset="-122"/>
                <a:cs typeface="Calibri" pitchFamily="34" charset="-120"/>
              </a:rPr>
              <a:t>Material Stock</a:t>
            </a:r>
            <a:endParaRPr lang="en-US" sz="1200" dirty="0"/>
          </a:p>
        </p:txBody>
      </p:sp>
      <p:sp>
        <p:nvSpPr>
          <p:cNvPr id="12" name="Text 10"/>
          <p:cNvSpPr txBox="1"/>
          <p:nvPr/>
        </p:nvSpPr>
        <p:spPr>
          <a:xfrm>
            <a:off x="8686800" y="2304288"/>
            <a:ext cx="2148840" cy="256032"/>
          </a:xfrm>
          <a:prstGeom prst="rect">
            <a:avLst/>
          </a:prstGeom>
          <a:noFill/>
          <a:ln/>
        </p:spPr>
        <p:txBody>
          <a:bodyPr wrap="square" lIns="0" tIns="0" rIns="0" bIns="0" rtlCol="0" anchor="ctr"/>
          <a:lstStyle/>
          <a:p>
            <a:pPr indent="0" marL="0">
              <a:buNone/>
            </a:pPr>
            <a:r>
              <a:rPr lang="en-US" sz="900" dirty="0">
                <a:solidFill>
                  <a:srgbClr val="6B7A87"/>
                </a:solidFill>
                <a:latin typeface="Courier New" pitchFamily="34" charset="0"/>
                <a:ea typeface="Courier New" pitchFamily="34" charset="-122"/>
                <a:cs typeface="Courier New" pitchFamily="34" charset="-120"/>
              </a:rPr>
              <a:t>A_MatlStkInAcctMod</a:t>
            </a:r>
            <a:endParaRPr lang="en-US" sz="900" dirty="0"/>
          </a:p>
        </p:txBody>
      </p:sp>
      <p:sp>
        <p:nvSpPr>
          <p:cNvPr id="13" name="Text 11"/>
          <p:cNvSpPr txBox="1"/>
          <p:nvPr/>
        </p:nvSpPr>
        <p:spPr>
          <a:xfrm>
            <a:off x="10835640" y="2286000"/>
            <a:ext cx="594360" cy="274320"/>
          </a:xfrm>
          <a:prstGeom prst="rect">
            <a:avLst/>
          </a:prstGeom>
          <a:noFill/>
          <a:ln/>
        </p:spPr>
        <p:txBody>
          <a:bodyPr wrap="square" lIns="0" tIns="0" rIns="0" bIns="0" rtlCol="0" anchor="ctr"/>
          <a:lstStyle/>
          <a:p>
            <a:pPr algn="r" indent="0" marL="0">
              <a:buNone/>
            </a:pPr>
            <a:r>
              <a:rPr lang="en-US" sz="950" b="1" dirty="0">
                <a:solidFill>
                  <a:srgbClr val="2F7A6E"/>
                </a:solidFill>
                <a:latin typeface="Calibri" pitchFamily="34" charset="0"/>
                <a:ea typeface="Calibri" pitchFamily="34" charset="-122"/>
                <a:cs typeface="Calibri" pitchFamily="34" charset="-120"/>
              </a:rPr>
              <a:t>Graph</a:t>
            </a:r>
            <a:endParaRPr lang="en-US" sz="950" dirty="0"/>
          </a:p>
        </p:txBody>
      </p:sp>
      <p:sp>
        <p:nvSpPr>
          <p:cNvPr id="14" name="Shape 12"/>
          <p:cNvSpPr/>
          <p:nvPr/>
        </p:nvSpPr>
        <p:spPr>
          <a:xfrm>
            <a:off x="6327648" y="2871216"/>
            <a:ext cx="118872" cy="118872"/>
          </a:xfrm>
          <a:prstGeom prst="ellipse">
            <a:avLst/>
          </a:prstGeom>
          <a:solidFill>
            <a:srgbClr val="2F7A6E"/>
          </a:solidFill>
          <a:ln/>
        </p:spPr>
      </p:sp>
      <p:sp>
        <p:nvSpPr>
          <p:cNvPr id="15" name="Text 13"/>
          <p:cNvSpPr txBox="1"/>
          <p:nvPr/>
        </p:nvSpPr>
        <p:spPr>
          <a:xfrm>
            <a:off x="6583680" y="2788920"/>
            <a:ext cx="2103120" cy="274320"/>
          </a:xfrm>
          <a:prstGeom prst="rect">
            <a:avLst/>
          </a:prstGeom>
          <a:noFill/>
          <a:ln/>
        </p:spPr>
        <p:txBody>
          <a:bodyPr wrap="square" lIns="0" tIns="0" rIns="0" bIns="0" rtlCol="0" anchor="ctr"/>
          <a:lstStyle/>
          <a:p>
            <a:pPr indent="0" marL="0">
              <a:buNone/>
            </a:pPr>
            <a:r>
              <a:rPr lang="en-US" sz="1200" b="1" dirty="0">
                <a:solidFill>
                  <a:srgbClr val="232B32"/>
                </a:solidFill>
                <a:latin typeface="Calibri" pitchFamily="34" charset="0"/>
                <a:ea typeface="Calibri" pitchFamily="34" charset="-122"/>
                <a:cs typeface="Calibri" pitchFamily="34" charset="-120"/>
              </a:rPr>
              <a:t>Material Documents</a:t>
            </a:r>
            <a:endParaRPr lang="en-US" sz="1200" dirty="0"/>
          </a:p>
        </p:txBody>
      </p:sp>
      <p:sp>
        <p:nvSpPr>
          <p:cNvPr id="16" name="Text 14"/>
          <p:cNvSpPr txBox="1"/>
          <p:nvPr/>
        </p:nvSpPr>
        <p:spPr>
          <a:xfrm>
            <a:off x="8686800" y="2807208"/>
            <a:ext cx="2148840" cy="256032"/>
          </a:xfrm>
          <a:prstGeom prst="rect">
            <a:avLst/>
          </a:prstGeom>
          <a:noFill/>
          <a:ln/>
        </p:spPr>
        <p:txBody>
          <a:bodyPr wrap="square" lIns="0" tIns="0" rIns="0" bIns="0" rtlCol="0" anchor="ctr"/>
          <a:lstStyle/>
          <a:p>
            <a:pPr indent="0" marL="0">
              <a:buNone/>
            </a:pPr>
            <a:r>
              <a:rPr lang="en-US" sz="900" dirty="0">
                <a:solidFill>
                  <a:srgbClr val="6B7A87"/>
                </a:solidFill>
                <a:latin typeface="Courier New" pitchFamily="34" charset="0"/>
                <a:ea typeface="Courier New" pitchFamily="34" charset="-122"/>
                <a:cs typeface="Courier New" pitchFamily="34" charset="-120"/>
              </a:rPr>
              <a:t>A_MaterialDocumentHeader</a:t>
            </a:r>
            <a:endParaRPr lang="en-US" sz="900" dirty="0"/>
          </a:p>
        </p:txBody>
      </p:sp>
      <p:sp>
        <p:nvSpPr>
          <p:cNvPr id="17" name="Text 15"/>
          <p:cNvSpPr txBox="1"/>
          <p:nvPr/>
        </p:nvSpPr>
        <p:spPr>
          <a:xfrm>
            <a:off x="10835640" y="2788920"/>
            <a:ext cx="594360" cy="274320"/>
          </a:xfrm>
          <a:prstGeom prst="rect">
            <a:avLst/>
          </a:prstGeom>
          <a:noFill/>
          <a:ln/>
        </p:spPr>
        <p:txBody>
          <a:bodyPr wrap="square" lIns="0" tIns="0" rIns="0" bIns="0" rtlCol="0" anchor="ctr"/>
          <a:lstStyle/>
          <a:p>
            <a:pPr algn="r" indent="0" marL="0">
              <a:buNone/>
            </a:pPr>
            <a:r>
              <a:rPr lang="en-US" sz="950" b="1" dirty="0">
                <a:solidFill>
                  <a:srgbClr val="2F7A6E"/>
                </a:solidFill>
                <a:latin typeface="Calibri" pitchFamily="34" charset="0"/>
                <a:ea typeface="Calibri" pitchFamily="34" charset="-122"/>
                <a:cs typeface="Calibri" pitchFamily="34" charset="-120"/>
              </a:rPr>
              <a:t>Graph</a:t>
            </a:r>
            <a:endParaRPr lang="en-US" sz="950" dirty="0"/>
          </a:p>
        </p:txBody>
      </p:sp>
      <p:sp>
        <p:nvSpPr>
          <p:cNvPr id="18" name="Shape 16"/>
          <p:cNvSpPr/>
          <p:nvPr/>
        </p:nvSpPr>
        <p:spPr>
          <a:xfrm>
            <a:off x="6327648" y="3374136"/>
            <a:ext cx="118872" cy="118872"/>
          </a:xfrm>
          <a:prstGeom prst="ellipse">
            <a:avLst/>
          </a:prstGeom>
          <a:solidFill>
            <a:srgbClr val="2F7A6E"/>
          </a:solidFill>
          <a:ln/>
        </p:spPr>
      </p:sp>
      <p:sp>
        <p:nvSpPr>
          <p:cNvPr id="19" name="Text 17"/>
          <p:cNvSpPr txBox="1"/>
          <p:nvPr/>
        </p:nvSpPr>
        <p:spPr>
          <a:xfrm>
            <a:off x="6583680" y="3291840"/>
            <a:ext cx="2103120" cy="274320"/>
          </a:xfrm>
          <a:prstGeom prst="rect">
            <a:avLst/>
          </a:prstGeom>
          <a:noFill/>
          <a:ln/>
        </p:spPr>
        <p:txBody>
          <a:bodyPr wrap="square" lIns="0" tIns="0" rIns="0" bIns="0" rtlCol="0" anchor="ctr"/>
          <a:lstStyle/>
          <a:p>
            <a:pPr indent="0" marL="0">
              <a:buNone/>
            </a:pPr>
            <a:r>
              <a:rPr lang="en-US" sz="1200" b="1" dirty="0">
                <a:solidFill>
                  <a:srgbClr val="232B32"/>
                </a:solidFill>
                <a:latin typeface="Calibri" pitchFamily="34" charset="0"/>
                <a:ea typeface="Calibri" pitchFamily="34" charset="-122"/>
                <a:cs typeface="Calibri" pitchFamily="34" charset="-120"/>
              </a:rPr>
              <a:t>Physical Inventory</a:t>
            </a:r>
            <a:endParaRPr lang="en-US" sz="1200" dirty="0"/>
          </a:p>
        </p:txBody>
      </p:sp>
      <p:sp>
        <p:nvSpPr>
          <p:cNvPr id="20" name="Text 18"/>
          <p:cNvSpPr txBox="1"/>
          <p:nvPr/>
        </p:nvSpPr>
        <p:spPr>
          <a:xfrm>
            <a:off x="8686800" y="3310128"/>
            <a:ext cx="2148840" cy="256032"/>
          </a:xfrm>
          <a:prstGeom prst="rect">
            <a:avLst/>
          </a:prstGeom>
          <a:noFill/>
          <a:ln/>
        </p:spPr>
        <p:txBody>
          <a:bodyPr wrap="square" lIns="0" tIns="0" rIns="0" bIns="0" rtlCol="0" anchor="ctr"/>
          <a:lstStyle/>
          <a:p>
            <a:pPr indent="0" marL="0">
              <a:buNone/>
            </a:pPr>
            <a:r>
              <a:rPr lang="en-US" sz="900" dirty="0">
                <a:solidFill>
                  <a:srgbClr val="6B7A87"/>
                </a:solidFill>
                <a:latin typeface="Courier New" pitchFamily="34" charset="0"/>
                <a:ea typeface="Courier New" pitchFamily="34" charset="-122"/>
                <a:cs typeface="Courier New" pitchFamily="34" charset="-120"/>
              </a:rPr>
              <a:t>A_PhysInventoryDocHeader</a:t>
            </a:r>
            <a:endParaRPr lang="en-US" sz="900" dirty="0"/>
          </a:p>
        </p:txBody>
      </p:sp>
      <p:sp>
        <p:nvSpPr>
          <p:cNvPr id="21" name="Text 19"/>
          <p:cNvSpPr txBox="1"/>
          <p:nvPr/>
        </p:nvSpPr>
        <p:spPr>
          <a:xfrm>
            <a:off x="10835640" y="3291840"/>
            <a:ext cx="594360" cy="274320"/>
          </a:xfrm>
          <a:prstGeom prst="rect">
            <a:avLst/>
          </a:prstGeom>
          <a:noFill/>
          <a:ln/>
        </p:spPr>
        <p:txBody>
          <a:bodyPr wrap="square" lIns="0" tIns="0" rIns="0" bIns="0" rtlCol="0" anchor="ctr"/>
          <a:lstStyle/>
          <a:p>
            <a:pPr algn="r" indent="0" marL="0">
              <a:buNone/>
            </a:pPr>
            <a:r>
              <a:rPr lang="en-US" sz="950" b="1" dirty="0">
                <a:solidFill>
                  <a:srgbClr val="2F7A6E"/>
                </a:solidFill>
                <a:latin typeface="Calibri" pitchFamily="34" charset="0"/>
                <a:ea typeface="Calibri" pitchFamily="34" charset="-122"/>
                <a:cs typeface="Calibri" pitchFamily="34" charset="-120"/>
              </a:rPr>
              <a:t>Graph</a:t>
            </a:r>
            <a:endParaRPr lang="en-US" sz="950" dirty="0"/>
          </a:p>
        </p:txBody>
      </p:sp>
      <p:sp>
        <p:nvSpPr>
          <p:cNvPr id="22" name="Shape 20"/>
          <p:cNvSpPr/>
          <p:nvPr/>
        </p:nvSpPr>
        <p:spPr>
          <a:xfrm>
            <a:off x="6327648" y="3877056"/>
            <a:ext cx="118872" cy="118872"/>
          </a:xfrm>
          <a:prstGeom prst="ellipse">
            <a:avLst/>
          </a:prstGeom>
          <a:solidFill>
            <a:srgbClr val="6B7A87"/>
          </a:solidFill>
          <a:ln/>
        </p:spPr>
      </p:sp>
      <p:sp>
        <p:nvSpPr>
          <p:cNvPr id="23" name="Text 21"/>
          <p:cNvSpPr txBox="1"/>
          <p:nvPr/>
        </p:nvSpPr>
        <p:spPr>
          <a:xfrm>
            <a:off x="6583680" y="3794760"/>
            <a:ext cx="2103120" cy="274320"/>
          </a:xfrm>
          <a:prstGeom prst="rect">
            <a:avLst/>
          </a:prstGeom>
          <a:noFill/>
          <a:ln/>
        </p:spPr>
        <p:txBody>
          <a:bodyPr wrap="square" lIns="0" tIns="0" rIns="0" bIns="0" rtlCol="0" anchor="ctr"/>
          <a:lstStyle/>
          <a:p>
            <a:pPr indent="0" marL="0">
              <a:buNone/>
            </a:pPr>
            <a:r>
              <a:rPr lang="en-US" sz="1200" b="1" dirty="0">
                <a:solidFill>
                  <a:srgbClr val="232B32"/>
                </a:solidFill>
                <a:latin typeface="Calibri" pitchFamily="34" charset="0"/>
                <a:ea typeface="Calibri" pitchFamily="34" charset="-122"/>
                <a:cs typeface="Calibri" pitchFamily="34" charset="-120"/>
              </a:rPr>
              <a:t>Outbound Deliveries</a:t>
            </a:r>
            <a:endParaRPr lang="en-US" sz="1200" dirty="0"/>
          </a:p>
        </p:txBody>
      </p:sp>
      <p:sp>
        <p:nvSpPr>
          <p:cNvPr id="24" name="Text 22"/>
          <p:cNvSpPr txBox="1"/>
          <p:nvPr/>
        </p:nvSpPr>
        <p:spPr>
          <a:xfrm>
            <a:off x="8686800" y="3813048"/>
            <a:ext cx="2148840" cy="256032"/>
          </a:xfrm>
          <a:prstGeom prst="rect">
            <a:avLst/>
          </a:prstGeom>
          <a:noFill/>
          <a:ln/>
        </p:spPr>
        <p:txBody>
          <a:bodyPr wrap="square" lIns="0" tIns="0" rIns="0" bIns="0" rtlCol="0" anchor="ctr"/>
          <a:lstStyle/>
          <a:p>
            <a:pPr indent="0" marL="0">
              <a:buNone/>
            </a:pPr>
            <a:r>
              <a:rPr lang="en-US" sz="900" dirty="0">
                <a:solidFill>
                  <a:srgbClr val="6B7A87"/>
                </a:solidFill>
                <a:latin typeface="Courier New" pitchFamily="34" charset="0"/>
                <a:ea typeface="Courier New" pitchFamily="34" charset="-122"/>
                <a:cs typeface="Courier New" pitchFamily="34" charset="-120"/>
              </a:rPr>
              <a:t>A_OutbDeliveryHeader</a:t>
            </a:r>
            <a:endParaRPr lang="en-US" sz="900" dirty="0"/>
          </a:p>
        </p:txBody>
      </p:sp>
      <p:sp>
        <p:nvSpPr>
          <p:cNvPr id="25" name="Text 23"/>
          <p:cNvSpPr txBox="1"/>
          <p:nvPr/>
        </p:nvSpPr>
        <p:spPr>
          <a:xfrm>
            <a:off x="10835640" y="3794760"/>
            <a:ext cx="594360" cy="274320"/>
          </a:xfrm>
          <a:prstGeom prst="rect">
            <a:avLst/>
          </a:prstGeom>
          <a:noFill/>
          <a:ln/>
        </p:spPr>
        <p:txBody>
          <a:bodyPr wrap="square" lIns="0" tIns="0" rIns="0" bIns="0" rtlCol="0" anchor="ctr"/>
          <a:lstStyle/>
          <a:p>
            <a:pPr algn="r" indent="0" marL="0">
              <a:buNone/>
            </a:pPr>
            <a:r>
              <a:rPr lang="en-US" sz="950" b="1" dirty="0">
                <a:solidFill>
                  <a:srgbClr val="6B7A87"/>
                </a:solidFill>
                <a:latin typeface="Calibri" pitchFamily="34" charset="0"/>
                <a:ea typeface="Calibri" pitchFamily="34" charset="-122"/>
                <a:cs typeface="Calibri" pitchFamily="34" charset="-120"/>
              </a:rPr>
              <a:t>Hub</a:t>
            </a:r>
            <a:endParaRPr lang="en-US" sz="950" dirty="0"/>
          </a:p>
        </p:txBody>
      </p:sp>
      <p:sp>
        <p:nvSpPr>
          <p:cNvPr id="26" name="Shape 24"/>
          <p:cNvSpPr/>
          <p:nvPr/>
        </p:nvSpPr>
        <p:spPr>
          <a:xfrm>
            <a:off x="6327648" y="4379976"/>
            <a:ext cx="118872" cy="118872"/>
          </a:xfrm>
          <a:prstGeom prst="ellipse">
            <a:avLst/>
          </a:prstGeom>
          <a:solidFill>
            <a:srgbClr val="6B7A87"/>
          </a:solidFill>
          <a:ln/>
        </p:spPr>
      </p:sp>
      <p:sp>
        <p:nvSpPr>
          <p:cNvPr id="27" name="Text 25"/>
          <p:cNvSpPr txBox="1"/>
          <p:nvPr/>
        </p:nvSpPr>
        <p:spPr>
          <a:xfrm>
            <a:off x="6583680" y="4297680"/>
            <a:ext cx="2103120" cy="274320"/>
          </a:xfrm>
          <a:prstGeom prst="rect">
            <a:avLst/>
          </a:prstGeom>
          <a:noFill/>
          <a:ln/>
        </p:spPr>
        <p:txBody>
          <a:bodyPr wrap="square" lIns="0" tIns="0" rIns="0" bIns="0" rtlCol="0" anchor="ctr"/>
          <a:lstStyle/>
          <a:p>
            <a:pPr indent="0" marL="0">
              <a:buNone/>
            </a:pPr>
            <a:r>
              <a:rPr lang="en-US" sz="1200" b="1" dirty="0">
                <a:solidFill>
                  <a:srgbClr val="232B32"/>
                </a:solidFill>
                <a:latin typeface="Calibri" pitchFamily="34" charset="0"/>
                <a:ea typeface="Calibri" pitchFamily="34" charset="-122"/>
                <a:cs typeface="Calibri" pitchFamily="34" charset="-120"/>
              </a:rPr>
              <a:t>Purchase Orders</a:t>
            </a:r>
            <a:endParaRPr lang="en-US" sz="1200" dirty="0"/>
          </a:p>
        </p:txBody>
      </p:sp>
      <p:sp>
        <p:nvSpPr>
          <p:cNvPr id="28" name="Text 26"/>
          <p:cNvSpPr txBox="1"/>
          <p:nvPr/>
        </p:nvSpPr>
        <p:spPr>
          <a:xfrm>
            <a:off x="8686800" y="4315968"/>
            <a:ext cx="2148840" cy="256032"/>
          </a:xfrm>
          <a:prstGeom prst="rect">
            <a:avLst/>
          </a:prstGeom>
          <a:noFill/>
          <a:ln/>
        </p:spPr>
        <p:txBody>
          <a:bodyPr wrap="square" lIns="0" tIns="0" rIns="0" bIns="0" rtlCol="0" anchor="ctr"/>
          <a:lstStyle/>
          <a:p>
            <a:pPr indent="0" marL="0">
              <a:buNone/>
            </a:pPr>
            <a:r>
              <a:rPr lang="en-US" sz="900" dirty="0">
                <a:solidFill>
                  <a:srgbClr val="6B7A87"/>
                </a:solidFill>
                <a:latin typeface="Courier New" pitchFamily="34" charset="0"/>
                <a:ea typeface="Courier New" pitchFamily="34" charset="-122"/>
                <a:cs typeface="Courier New" pitchFamily="34" charset="-120"/>
              </a:rPr>
              <a:t>A_PurchaseOrder</a:t>
            </a:r>
            <a:endParaRPr lang="en-US" sz="900" dirty="0"/>
          </a:p>
        </p:txBody>
      </p:sp>
      <p:sp>
        <p:nvSpPr>
          <p:cNvPr id="29" name="Text 27"/>
          <p:cNvSpPr txBox="1"/>
          <p:nvPr/>
        </p:nvSpPr>
        <p:spPr>
          <a:xfrm>
            <a:off x="10835640" y="4297680"/>
            <a:ext cx="594360" cy="274320"/>
          </a:xfrm>
          <a:prstGeom prst="rect">
            <a:avLst/>
          </a:prstGeom>
          <a:noFill/>
          <a:ln/>
        </p:spPr>
        <p:txBody>
          <a:bodyPr wrap="square" lIns="0" tIns="0" rIns="0" bIns="0" rtlCol="0" anchor="ctr"/>
          <a:lstStyle/>
          <a:p>
            <a:pPr algn="r" indent="0" marL="0">
              <a:buNone/>
            </a:pPr>
            <a:r>
              <a:rPr lang="en-US" sz="950" b="1" dirty="0">
                <a:solidFill>
                  <a:srgbClr val="6B7A87"/>
                </a:solidFill>
                <a:latin typeface="Calibri" pitchFamily="34" charset="0"/>
                <a:ea typeface="Calibri" pitchFamily="34" charset="-122"/>
                <a:cs typeface="Calibri" pitchFamily="34" charset="-120"/>
              </a:rPr>
              <a:t>Hub</a:t>
            </a:r>
            <a:endParaRPr lang="en-US" sz="950" dirty="0"/>
          </a:p>
        </p:txBody>
      </p:sp>
      <p:sp>
        <p:nvSpPr>
          <p:cNvPr id="30" name="Shape 28"/>
          <p:cNvSpPr/>
          <p:nvPr/>
        </p:nvSpPr>
        <p:spPr>
          <a:xfrm>
            <a:off x="640080" y="3749040"/>
            <a:ext cx="5029200" cy="1600200"/>
          </a:xfrm>
          <a:prstGeom prst="roundRect">
            <a:avLst>
              <a:gd name="adj" fmla="val 3429"/>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31" name="Text 29"/>
          <p:cNvSpPr txBox="1"/>
          <p:nvPr/>
        </p:nvSpPr>
        <p:spPr>
          <a:xfrm>
            <a:off x="960120" y="3931920"/>
            <a:ext cx="4389120" cy="274320"/>
          </a:xfrm>
          <a:prstGeom prst="rect">
            <a:avLst/>
          </a:prstGeom>
          <a:noFill/>
          <a:ln/>
        </p:spPr>
        <p:txBody>
          <a:bodyPr wrap="square" lIns="0" tIns="0" rIns="0" bIns="0" rtlCol="0" anchor="ctr"/>
          <a:lstStyle/>
          <a:p>
            <a:pPr indent="0" marL="0">
              <a:buNone/>
            </a:pPr>
            <a:r>
              <a:rPr lang="en-US" sz="1300" b="1" dirty="0">
                <a:solidFill>
                  <a:srgbClr val="232B32"/>
                </a:solidFill>
                <a:latin typeface="Calibri" pitchFamily="34" charset="0"/>
                <a:ea typeface="Calibri" pitchFamily="34" charset="-122"/>
                <a:cs typeface="Calibri" pitchFamily="34" charset="-120"/>
              </a:rPr>
              <a:t>Material documents — the awkward one</a:t>
            </a:r>
            <a:endParaRPr lang="en-US" sz="1300" dirty="0"/>
          </a:p>
        </p:txBody>
      </p:sp>
      <p:sp>
        <p:nvSpPr>
          <p:cNvPr id="32" name="Text 30"/>
          <p:cNvSpPr txBox="1"/>
          <p:nvPr/>
        </p:nvSpPr>
        <p:spPr>
          <a:xfrm>
            <a:off x="960120" y="4224528"/>
            <a:ext cx="4389120" cy="914400"/>
          </a:xfrm>
          <a:prstGeom prst="rect">
            <a:avLst/>
          </a:prstGeom>
          <a:noFill/>
          <a:ln/>
        </p:spPr>
        <p:txBody>
          <a:bodyPr wrap="square" lIns="0" tIns="0" rIns="0" bIns="0" rtlCol="0" anchor="ctr"/>
          <a:lstStyle/>
          <a:p>
            <a:pPr indent="0" marL="0">
              <a:lnSpc>
                <a:spcPct val="120000"/>
              </a:lnSpc>
              <a:buNone/>
            </a:pPr>
            <a:r>
              <a:rPr lang="en-US" sz="1100" dirty="0">
                <a:solidFill>
                  <a:srgbClr val="6B7A87"/>
                </a:solidFill>
                <a:latin typeface="Calibri" pitchFamily="34" charset="0"/>
                <a:ea typeface="Calibri" pitchFamily="34" charset="-122"/>
                <a:cs typeface="Calibri" pitchFamily="34" charset="-120"/>
              </a:rPr>
              <a:t>Graph exposes headers; plant and material live on the items. The query expands the association, filters inside it, and flattens to one row per item — so a document with three lines counts as three.</a:t>
            </a:r>
            <a:endParaRPr lang="en-US" sz="1100" dirty="0"/>
          </a:p>
        </p:txBody>
      </p:sp>
      <p:sp>
        <p:nvSpPr>
          <p:cNvPr id="33" name="Text 31"/>
          <p:cNvSpPr txBox="1"/>
          <p:nvPr/>
        </p:nvSpPr>
        <p:spPr>
          <a:xfrm>
            <a:off x="6035040" y="5074920"/>
            <a:ext cx="5486400" cy="914400"/>
          </a:xfrm>
          <a:prstGeom prst="rect">
            <a:avLst/>
          </a:prstGeom>
          <a:noFill/>
          <a:ln/>
        </p:spPr>
        <p:txBody>
          <a:bodyPr wrap="square" lIns="0" tIns="0" rIns="0" bIns="0" rtlCol="0" anchor="ctr"/>
          <a:lstStyle/>
          <a:p>
            <a:pPr indent="0" marL="0">
              <a:lnSpc>
                <a:spcPct val="120000"/>
              </a:lnSpc>
              <a:buNone/>
            </a:pPr>
            <a:r>
              <a:rPr lang="en-US" sz="1100" dirty="0">
                <a:solidFill>
                  <a:srgbClr val="6B7A87"/>
                </a:solidFill>
                <a:latin typeface="Calibri" pitchFamily="34" charset="0"/>
                <a:ea typeface="Calibri" pitchFamily="34" charset="-122"/>
                <a:cs typeface="Calibri" pitchFamily="34" charset="-120"/>
              </a:rPr>
              <a:t>Deliveries and purchase orders read through the SAP Business Accelerator Hub, because those two entities are not in the Graph namespace. Pointing them at Graph would return nothing — and nothing reads exactly like “there are no purchase orders”.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indent="0" marL="0">
              <a:buNone/>
            </a:pPr>
            <a:r>
              <a:rPr lang="en-US" sz="3400" b="1" dirty="0">
                <a:solidFill>
                  <a:srgbClr val="232B32"/>
                </a:solidFill>
                <a:latin typeface="Cambria" pitchFamily="34" charset="0"/>
                <a:ea typeface="Cambria" pitchFamily="34" charset="-122"/>
                <a:cs typeface="Cambria" pitchFamily="34" charset="-120"/>
              </a:rPr>
              <a:t>Why SAP Graph</a:t>
            </a:r>
            <a:endParaRPr lang="en-US" sz="3400" dirty="0"/>
          </a:p>
        </p:txBody>
      </p:sp>
      <p:sp>
        <p:nvSpPr>
          <p:cNvPr id="3" name="Text 1"/>
          <p:cNvSpPr txBox="1"/>
          <p:nvPr/>
        </p:nvSpPr>
        <p:spPr>
          <a:xfrm>
            <a:off x="640080" y="1060704"/>
            <a:ext cx="10881360" cy="365760"/>
          </a:xfrm>
          <a:prstGeom prst="rect">
            <a:avLst/>
          </a:prstGeom>
          <a:noFill/>
          <a:ln/>
        </p:spPr>
        <p:txBody>
          <a:bodyPr wrap="square" lIns="0" tIns="0" rIns="0" bIns="0" rtlCol="0" anchor="ctr"/>
          <a:lstStyle/>
          <a:p>
            <a:pPr indent="0" marL="0">
              <a:buNone/>
            </a:pPr>
            <a:r>
              <a:rPr lang="en-US" sz="1400" dirty="0">
                <a:solidFill>
                  <a:srgbClr val="6B7A87"/>
                </a:solidFill>
                <a:latin typeface="Calibri" pitchFamily="34" charset="0"/>
                <a:ea typeface="Calibri" pitchFamily="34" charset="-122"/>
                <a:cs typeface="Calibri" pitchFamily="34" charset="-120"/>
              </a:rPr>
              <a:t>What it buys over wiring each OData service by hand</a:t>
            </a:r>
            <a:endParaRPr lang="en-US" sz="1400" dirty="0"/>
          </a:p>
        </p:txBody>
      </p:sp>
      <p:sp>
        <p:nvSpPr>
          <p:cNvPr id="4" name="Shape 2"/>
          <p:cNvSpPr/>
          <p:nvPr/>
        </p:nvSpPr>
        <p:spPr>
          <a:xfrm>
            <a:off x="640080" y="1783080"/>
            <a:ext cx="3429000" cy="1874520"/>
          </a:xfrm>
          <a:prstGeom prst="roundRect">
            <a:avLst>
              <a:gd name="adj" fmla="val 2927"/>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5" name="Shape 3"/>
          <p:cNvSpPr/>
          <p:nvPr/>
        </p:nvSpPr>
        <p:spPr>
          <a:xfrm>
            <a:off x="896112" y="2002536"/>
            <a:ext cx="347472" cy="347472"/>
          </a:xfrm>
          <a:prstGeom prst="ellipse">
            <a:avLst/>
          </a:prstGeom>
          <a:solidFill>
            <a:srgbClr val="E08A1E"/>
          </a:solidFill>
          <a:ln/>
        </p:spPr>
      </p:sp>
      <p:sp>
        <p:nvSpPr>
          <p:cNvPr id="6" name="Text 4"/>
          <p:cNvSpPr txBox="1"/>
          <p:nvPr/>
        </p:nvSpPr>
        <p:spPr>
          <a:xfrm>
            <a:off x="896112" y="200253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896112" y="2423160"/>
            <a:ext cx="2926080" cy="420624"/>
          </a:xfrm>
          <a:prstGeom prst="rect">
            <a:avLst/>
          </a:prstGeom>
          <a:noFill/>
          <a:ln/>
        </p:spPr>
        <p:txBody>
          <a:bodyPr wrap="square" lIns="0" tIns="0" rIns="0" bIns="0" rtlCol="0" anchor="ctr"/>
          <a:lstStyle/>
          <a:p>
            <a:pPr indent="0" marL="0">
              <a:lnSpc>
                <a:spcPct val="105000"/>
              </a:lnSpc>
              <a:buNone/>
            </a:pPr>
            <a:r>
              <a:rPr lang="en-US" sz="1300" b="1" dirty="0">
                <a:solidFill>
                  <a:srgbClr val="232B32"/>
                </a:solidFill>
                <a:latin typeface="Calibri" pitchFamily="34" charset="0"/>
                <a:ea typeface="Calibri" pitchFamily="34" charset="-122"/>
                <a:cs typeface="Calibri" pitchFamily="34" charset="-120"/>
              </a:rPr>
              <a:t>One namespace, many services</a:t>
            </a:r>
            <a:endParaRPr lang="en-US" sz="1300" dirty="0"/>
          </a:p>
        </p:txBody>
      </p:sp>
      <p:sp>
        <p:nvSpPr>
          <p:cNvPr id="8" name="Text 6"/>
          <p:cNvSpPr txBox="1"/>
          <p:nvPr/>
        </p:nvSpPr>
        <p:spPr>
          <a:xfrm>
            <a:off x="896112" y="2825496"/>
            <a:ext cx="2926080" cy="777240"/>
          </a:xfrm>
          <a:prstGeom prst="rect">
            <a:avLst/>
          </a:prstGeom>
          <a:noFill/>
          <a:ln/>
        </p:spPr>
        <p:txBody>
          <a:bodyPr wrap="square" lIns="0" tIns="0" rIns="0" bIns="0" rtlCol="0" anchor="ctr"/>
          <a:lstStyle/>
          <a:p>
            <a:pPr indent="0" marL="0">
              <a:lnSpc>
                <a:spcPct val="120000"/>
              </a:lnSpc>
              <a:buNone/>
            </a:pPr>
            <a:r>
              <a:rPr lang="en-US" sz="1050" dirty="0">
                <a:solidFill>
                  <a:srgbClr val="6B7A87"/>
                </a:solidFill>
                <a:latin typeface="Calibri" pitchFamily="34" charset="0"/>
                <a:ea typeface="Calibri" pitchFamily="34" charset="-122"/>
                <a:cs typeface="Calibri" pitchFamily="34" charset="-120"/>
              </a:rPr>
              <a:t>sap.s4 sits in front of the whole S/4 surface. An object names an entity, not a service path plus an entity set — so registering the next one is a row.</a:t>
            </a:r>
            <a:endParaRPr lang="en-US" sz="1050" dirty="0"/>
          </a:p>
        </p:txBody>
      </p:sp>
      <p:sp>
        <p:nvSpPr>
          <p:cNvPr id="9" name="Shape 7"/>
          <p:cNvSpPr/>
          <p:nvPr/>
        </p:nvSpPr>
        <p:spPr>
          <a:xfrm>
            <a:off x="4352544" y="1783080"/>
            <a:ext cx="3429000" cy="1874520"/>
          </a:xfrm>
          <a:prstGeom prst="roundRect">
            <a:avLst>
              <a:gd name="adj" fmla="val 2927"/>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10" name="Shape 8"/>
          <p:cNvSpPr/>
          <p:nvPr/>
        </p:nvSpPr>
        <p:spPr>
          <a:xfrm>
            <a:off x="4608576" y="2002536"/>
            <a:ext cx="347472" cy="347472"/>
          </a:xfrm>
          <a:prstGeom prst="ellipse">
            <a:avLst/>
          </a:prstGeom>
          <a:solidFill>
            <a:srgbClr val="E08A1E"/>
          </a:solidFill>
          <a:ln/>
        </p:spPr>
      </p:sp>
      <p:sp>
        <p:nvSpPr>
          <p:cNvPr id="11" name="Text 9"/>
          <p:cNvSpPr txBox="1"/>
          <p:nvPr/>
        </p:nvSpPr>
        <p:spPr>
          <a:xfrm>
            <a:off x="4608576" y="200253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4608576" y="2423160"/>
            <a:ext cx="2926080" cy="420624"/>
          </a:xfrm>
          <a:prstGeom prst="rect">
            <a:avLst/>
          </a:prstGeom>
          <a:noFill/>
          <a:ln/>
        </p:spPr>
        <p:txBody>
          <a:bodyPr wrap="square" lIns="0" tIns="0" rIns="0" bIns="0" rtlCol="0" anchor="ctr"/>
          <a:lstStyle/>
          <a:p>
            <a:pPr indent="0" marL="0">
              <a:lnSpc>
                <a:spcPct val="105000"/>
              </a:lnSpc>
              <a:buNone/>
            </a:pPr>
            <a:r>
              <a:rPr lang="en-US" sz="1300" b="1" dirty="0">
                <a:solidFill>
                  <a:srgbClr val="232B32"/>
                </a:solidFill>
                <a:latin typeface="Calibri" pitchFamily="34" charset="0"/>
                <a:ea typeface="Calibri" pitchFamily="34" charset="-122"/>
                <a:cs typeface="Calibri" pitchFamily="34" charset="-120"/>
              </a:rPr>
              <a:t>One connection, one credential</a:t>
            </a:r>
            <a:endParaRPr lang="en-US" sz="1300" dirty="0"/>
          </a:p>
        </p:txBody>
      </p:sp>
      <p:sp>
        <p:nvSpPr>
          <p:cNvPr id="13" name="Text 11"/>
          <p:cNvSpPr txBox="1"/>
          <p:nvPr/>
        </p:nvSpPr>
        <p:spPr>
          <a:xfrm>
            <a:off x="4608576" y="2825496"/>
            <a:ext cx="2926080" cy="777240"/>
          </a:xfrm>
          <a:prstGeom prst="rect">
            <a:avLst/>
          </a:prstGeom>
          <a:noFill/>
          <a:ln/>
        </p:spPr>
        <p:txBody>
          <a:bodyPr wrap="square" lIns="0" tIns="0" rIns="0" bIns="0" rtlCol="0" anchor="ctr"/>
          <a:lstStyle/>
          <a:p>
            <a:pPr indent="0" marL="0">
              <a:lnSpc>
                <a:spcPct val="120000"/>
              </a:lnSpc>
              <a:buNone/>
            </a:pPr>
            <a:r>
              <a:rPr lang="en-US" sz="1050" dirty="0">
                <a:solidFill>
                  <a:srgbClr val="6B7A87"/>
                </a:solidFill>
                <a:latin typeface="Calibri" pitchFamily="34" charset="0"/>
                <a:ea typeface="Calibri" pitchFamily="34" charset="-122"/>
                <a:cs typeface="Calibri" pitchFamily="34" charset="-120"/>
              </a:rPr>
              <a:t>A single OAuth 2 client-credentials binding covers every entity behind it. No per-service key to rotate, expire or leak.</a:t>
            </a:r>
            <a:endParaRPr lang="en-US" sz="1050" dirty="0"/>
          </a:p>
        </p:txBody>
      </p:sp>
      <p:sp>
        <p:nvSpPr>
          <p:cNvPr id="14" name="Shape 12"/>
          <p:cNvSpPr/>
          <p:nvPr/>
        </p:nvSpPr>
        <p:spPr>
          <a:xfrm>
            <a:off x="8065008" y="1783080"/>
            <a:ext cx="3429000" cy="1874520"/>
          </a:xfrm>
          <a:prstGeom prst="roundRect">
            <a:avLst>
              <a:gd name="adj" fmla="val 2927"/>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15" name="Shape 13"/>
          <p:cNvSpPr/>
          <p:nvPr/>
        </p:nvSpPr>
        <p:spPr>
          <a:xfrm>
            <a:off x="8321040" y="2002536"/>
            <a:ext cx="347472" cy="347472"/>
          </a:xfrm>
          <a:prstGeom prst="ellipse">
            <a:avLst/>
          </a:prstGeom>
          <a:solidFill>
            <a:srgbClr val="E08A1E"/>
          </a:solidFill>
          <a:ln/>
        </p:spPr>
      </p:sp>
      <p:sp>
        <p:nvSpPr>
          <p:cNvPr id="16" name="Text 14"/>
          <p:cNvSpPr txBox="1"/>
          <p:nvPr/>
        </p:nvSpPr>
        <p:spPr>
          <a:xfrm>
            <a:off x="8321040" y="200253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8321040" y="2423160"/>
            <a:ext cx="2926080" cy="420624"/>
          </a:xfrm>
          <a:prstGeom prst="rect">
            <a:avLst/>
          </a:prstGeom>
          <a:noFill/>
          <a:ln/>
        </p:spPr>
        <p:txBody>
          <a:bodyPr wrap="square" lIns="0" tIns="0" rIns="0" bIns="0" rtlCol="0" anchor="ctr"/>
          <a:lstStyle/>
          <a:p>
            <a:pPr indent="0" marL="0">
              <a:lnSpc>
                <a:spcPct val="105000"/>
              </a:lnSpc>
              <a:buNone/>
            </a:pPr>
            <a:r>
              <a:rPr lang="en-US" sz="1300" b="1" dirty="0">
                <a:solidFill>
                  <a:srgbClr val="232B32"/>
                </a:solidFill>
                <a:latin typeface="Calibri" pitchFamily="34" charset="0"/>
                <a:ea typeface="Calibri" pitchFamily="34" charset="-122"/>
                <a:cs typeface="Calibri" pitchFamily="34" charset="-120"/>
              </a:rPr>
              <a:t>Associations already modelled</a:t>
            </a:r>
            <a:endParaRPr lang="en-US" sz="1300" dirty="0"/>
          </a:p>
        </p:txBody>
      </p:sp>
      <p:sp>
        <p:nvSpPr>
          <p:cNvPr id="18" name="Text 16"/>
          <p:cNvSpPr txBox="1"/>
          <p:nvPr/>
        </p:nvSpPr>
        <p:spPr>
          <a:xfrm>
            <a:off x="8321040" y="2825496"/>
            <a:ext cx="2926080" cy="777240"/>
          </a:xfrm>
          <a:prstGeom prst="rect">
            <a:avLst/>
          </a:prstGeom>
          <a:noFill/>
          <a:ln/>
        </p:spPr>
        <p:txBody>
          <a:bodyPr wrap="square" lIns="0" tIns="0" rIns="0" bIns="0" rtlCol="0" anchor="ctr"/>
          <a:lstStyle/>
          <a:p>
            <a:pPr indent="0" marL="0">
              <a:lnSpc>
                <a:spcPct val="120000"/>
              </a:lnSpc>
              <a:buNone/>
            </a:pPr>
            <a:r>
              <a:rPr lang="en-US" sz="1050" dirty="0">
                <a:solidFill>
                  <a:srgbClr val="6B7A87"/>
                </a:solidFill>
                <a:latin typeface="Calibri" pitchFamily="34" charset="0"/>
                <a:ea typeface="Calibri" pitchFamily="34" charset="-122"/>
                <a:cs typeface="Calibri" pitchFamily="34" charset="-120"/>
              </a:rPr>
              <a:t>Header-to-item relationships come with the graph, so a document and its lines arrive in one query instead of two and a join.</a:t>
            </a:r>
            <a:endParaRPr lang="en-US" sz="1050" dirty="0"/>
          </a:p>
        </p:txBody>
      </p:sp>
      <p:sp>
        <p:nvSpPr>
          <p:cNvPr id="19" name="Shape 17"/>
          <p:cNvSpPr/>
          <p:nvPr/>
        </p:nvSpPr>
        <p:spPr>
          <a:xfrm>
            <a:off x="640080" y="3931920"/>
            <a:ext cx="3429000" cy="1874520"/>
          </a:xfrm>
          <a:prstGeom prst="roundRect">
            <a:avLst>
              <a:gd name="adj" fmla="val 2927"/>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20" name="Shape 18"/>
          <p:cNvSpPr/>
          <p:nvPr/>
        </p:nvSpPr>
        <p:spPr>
          <a:xfrm>
            <a:off x="896112" y="4151376"/>
            <a:ext cx="347472" cy="347472"/>
          </a:xfrm>
          <a:prstGeom prst="ellipse">
            <a:avLst/>
          </a:prstGeom>
          <a:solidFill>
            <a:srgbClr val="E08A1E"/>
          </a:solidFill>
          <a:ln/>
        </p:spPr>
      </p:sp>
      <p:sp>
        <p:nvSpPr>
          <p:cNvPr id="21" name="Text 19"/>
          <p:cNvSpPr txBox="1"/>
          <p:nvPr/>
        </p:nvSpPr>
        <p:spPr>
          <a:xfrm>
            <a:off x="896112" y="415137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txBox="1"/>
          <p:nvPr/>
        </p:nvSpPr>
        <p:spPr>
          <a:xfrm>
            <a:off x="896112" y="4572000"/>
            <a:ext cx="2926080" cy="420624"/>
          </a:xfrm>
          <a:prstGeom prst="rect">
            <a:avLst/>
          </a:prstGeom>
          <a:noFill/>
          <a:ln/>
        </p:spPr>
        <p:txBody>
          <a:bodyPr wrap="square" lIns="0" tIns="0" rIns="0" bIns="0" rtlCol="0" anchor="ctr"/>
          <a:lstStyle/>
          <a:p>
            <a:pPr indent="0" marL="0">
              <a:lnSpc>
                <a:spcPct val="105000"/>
              </a:lnSpc>
              <a:buNone/>
            </a:pPr>
            <a:r>
              <a:rPr lang="en-US" sz="1300" b="1" dirty="0">
                <a:solidFill>
                  <a:srgbClr val="232B32"/>
                </a:solidFill>
                <a:latin typeface="Calibri" pitchFamily="34" charset="0"/>
                <a:ea typeface="Calibri" pitchFamily="34" charset="-122"/>
                <a:cs typeface="Calibri" pitchFamily="34" charset="-120"/>
              </a:rPr>
              <a:t>Consistent OData surface</a:t>
            </a:r>
            <a:endParaRPr lang="en-US" sz="1300" dirty="0"/>
          </a:p>
        </p:txBody>
      </p:sp>
      <p:sp>
        <p:nvSpPr>
          <p:cNvPr id="23" name="Text 21"/>
          <p:cNvSpPr txBox="1"/>
          <p:nvPr/>
        </p:nvSpPr>
        <p:spPr>
          <a:xfrm>
            <a:off x="896112" y="4974336"/>
            <a:ext cx="2926080" cy="777240"/>
          </a:xfrm>
          <a:prstGeom prst="rect">
            <a:avLst/>
          </a:prstGeom>
          <a:noFill/>
          <a:ln/>
        </p:spPr>
        <p:txBody>
          <a:bodyPr wrap="square" lIns="0" tIns="0" rIns="0" bIns="0" rtlCol="0" anchor="ctr"/>
          <a:lstStyle/>
          <a:p>
            <a:pPr indent="0" marL="0">
              <a:lnSpc>
                <a:spcPct val="120000"/>
              </a:lnSpc>
              <a:buNone/>
            </a:pPr>
            <a:r>
              <a:rPr lang="en-US" sz="1050" dirty="0">
                <a:solidFill>
                  <a:srgbClr val="6B7A87"/>
                </a:solidFill>
                <a:latin typeface="Calibri" pitchFamily="34" charset="0"/>
                <a:ea typeface="Calibri" pitchFamily="34" charset="-122"/>
                <a:cs typeface="Calibri" pitchFamily="34" charset="-120"/>
              </a:rPr>
              <a:t>$filter, $select, $top and $expand behave the same for every entity — one query builder serves all of them.</a:t>
            </a:r>
            <a:endParaRPr lang="en-US" sz="1050" dirty="0"/>
          </a:p>
        </p:txBody>
      </p:sp>
      <p:sp>
        <p:nvSpPr>
          <p:cNvPr id="24" name="Shape 22"/>
          <p:cNvSpPr/>
          <p:nvPr/>
        </p:nvSpPr>
        <p:spPr>
          <a:xfrm>
            <a:off x="4352544" y="3931920"/>
            <a:ext cx="3429000" cy="1874520"/>
          </a:xfrm>
          <a:prstGeom prst="roundRect">
            <a:avLst>
              <a:gd name="adj" fmla="val 2927"/>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25" name="Shape 23"/>
          <p:cNvSpPr/>
          <p:nvPr/>
        </p:nvSpPr>
        <p:spPr>
          <a:xfrm>
            <a:off x="4608576" y="4151376"/>
            <a:ext cx="347472" cy="347472"/>
          </a:xfrm>
          <a:prstGeom prst="ellipse">
            <a:avLst/>
          </a:prstGeom>
          <a:solidFill>
            <a:srgbClr val="E08A1E"/>
          </a:solidFill>
          <a:ln/>
        </p:spPr>
      </p:sp>
      <p:sp>
        <p:nvSpPr>
          <p:cNvPr id="26" name="Text 24"/>
          <p:cNvSpPr txBox="1"/>
          <p:nvPr/>
        </p:nvSpPr>
        <p:spPr>
          <a:xfrm>
            <a:off x="4608576" y="415137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txBox="1"/>
          <p:nvPr/>
        </p:nvSpPr>
        <p:spPr>
          <a:xfrm>
            <a:off x="4608576" y="4572000"/>
            <a:ext cx="2926080" cy="420624"/>
          </a:xfrm>
          <a:prstGeom prst="rect">
            <a:avLst/>
          </a:prstGeom>
          <a:noFill/>
          <a:ln/>
        </p:spPr>
        <p:txBody>
          <a:bodyPr wrap="square" lIns="0" tIns="0" rIns="0" bIns="0" rtlCol="0" anchor="ctr"/>
          <a:lstStyle/>
          <a:p>
            <a:pPr indent="0" marL="0">
              <a:lnSpc>
                <a:spcPct val="105000"/>
              </a:lnSpc>
              <a:buNone/>
            </a:pPr>
            <a:r>
              <a:rPr lang="en-US" sz="1300" b="1" dirty="0">
                <a:solidFill>
                  <a:srgbClr val="232B32"/>
                </a:solidFill>
                <a:latin typeface="Calibri" pitchFamily="34" charset="0"/>
                <a:ea typeface="Calibri" pitchFamily="34" charset="-122"/>
                <a:cs typeface="Calibri" pitchFamily="34" charset="-120"/>
              </a:rPr>
              <a:t>Governed inside your tenant</a:t>
            </a:r>
            <a:endParaRPr lang="en-US" sz="1300" dirty="0"/>
          </a:p>
        </p:txBody>
      </p:sp>
      <p:sp>
        <p:nvSpPr>
          <p:cNvPr id="28" name="Text 26"/>
          <p:cNvSpPr txBox="1"/>
          <p:nvPr/>
        </p:nvSpPr>
        <p:spPr>
          <a:xfrm>
            <a:off x="4608576" y="4974336"/>
            <a:ext cx="2926080" cy="777240"/>
          </a:xfrm>
          <a:prstGeom prst="rect">
            <a:avLst/>
          </a:prstGeom>
          <a:noFill/>
          <a:ln/>
        </p:spPr>
        <p:txBody>
          <a:bodyPr wrap="square" lIns="0" tIns="0" rIns="0" bIns="0" rtlCol="0" anchor="ctr"/>
          <a:lstStyle/>
          <a:p>
            <a:pPr indent="0" marL="0">
              <a:lnSpc>
                <a:spcPct val="120000"/>
              </a:lnSpc>
              <a:buNone/>
            </a:pPr>
            <a:r>
              <a:rPr lang="en-US" sz="1050" dirty="0">
                <a:solidFill>
                  <a:srgbClr val="6B7A87"/>
                </a:solidFill>
                <a:latin typeface="Calibri" pitchFamily="34" charset="0"/>
                <a:ea typeface="Calibri" pitchFamily="34" charset="-122"/>
                <a:cs typeface="Calibri" pitchFamily="34" charset="-120"/>
              </a:rPr>
              <a:t>Graph runs on your own SAP BTP tenant. Data does not transit a third party to reach the product.</a:t>
            </a:r>
            <a:endParaRPr lang="en-US" sz="1050" dirty="0"/>
          </a:p>
        </p:txBody>
      </p:sp>
      <p:sp>
        <p:nvSpPr>
          <p:cNvPr id="29" name="Shape 27"/>
          <p:cNvSpPr/>
          <p:nvPr/>
        </p:nvSpPr>
        <p:spPr>
          <a:xfrm>
            <a:off x="8065008" y="3931920"/>
            <a:ext cx="3429000" cy="1874520"/>
          </a:xfrm>
          <a:prstGeom prst="roundRect">
            <a:avLst>
              <a:gd name="adj" fmla="val 2927"/>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30" name="Shape 28"/>
          <p:cNvSpPr/>
          <p:nvPr/>
        </p:nvSpPr>
        <p:spPr>
          <a:xfrm>
            <a:off x="8321040" y="4151376"/>
            <a:ext cx="347472" cy="347472"/>
          </a:xfrm>
          <a:prstGeom prst="ellipse">
            <a:avLst/>
          </a:prstGeom>
          <a:solidFill>
            <a:srgbClr val="E08A1E"/>
          </a:solidFill>
          <a:ln/>
        </p:spPr>
      </p:sp>
      <p:sp>
        <p:nvSpPr>
          <p:cNvPr id="31" name="Text 29"/>
          <p:cNvSpPr txBox="1"/>
          <p:nvPr/>
        </p:nvSpPr>
        <p:spPr>
          <a:xfrm>
            <a:off x="8321040" y="415137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2" name="Text 30"/>
          <p:cNvSpPr txBox="1"/>
          <p:nvPr/>
        </p:nvSpPr>
        <p:spPr>
          <a:xfrm>
            <a:off x="8321040" y="4572000"/>
            <a:ext cx="2926080" cy="420624"/>
          </a:xfrm>
          <a:prstGeom prst="rect">
            <a:avLst/>
          </a:prstGeom>
          <a:noFill/>
          <a:ln/>
        </p:spPr>
        <p:txBody>
          <a:bodyPr wrap="square" lIns="0" tIns="0" rIns="0" bIns="0" rtlCol="0" anchor="ctr"/>
          <a:lstStyle/>
          <a:p>
            <a:pPr indent="0" marL="0">
              <a:lnSpc>
                <a:spcPct val="105000"/>
              </a:lnSpc>
              <a:buNone/>
            </a:pPr>
            <a:r>
              <a:rPr lang="en-US" sz="1300" b="1" dirty="0">
                <a:solidFill>
                  <a:srgbClr val="232B32"/>
                </a:solidFill>
                <a:latin typeface="Calibri" pitchFamily="34" charset="0"/>
                <a:ea typeface="Calibri" pitchFamily="34" charset="-122"/>
                <a:cs typeface="Calibri" pitchFamily="34" charset="-120"/>
              </a:rPr>
              <a:t>Grows without a release</a:t>
            </a:r>
            <a:endParaRPr lang="en-US" sz="1300" dirty="0"/>
          </a:p>
        </p:txBody>
      </p:sp>
      <p:sp>
        <p:nvSpPr>
          <p:cNvPr id="33" name="Text 31"/>
          <p:cNvSpPr txBox="1"/>
          <p:nvPr/>
        </p:nvSpPr>
        <p:spPr>
          <a:xfrm>
            <a:off x="8321040" y="4974336"/>
            <a:ext cx="2926080" cy="777240"/>
          </a:xfrm>
          <a:prstGeom prst="rect">
            <a:avLst/>
          </a:prstGeom>
          <a:noFill/>
          <a:ln/>
        </p:spPr>
        <p:txBody>
          <a:bodyPr wrap="square" lIns="0" tIns="0" rIns="0" bIns="0" rtlCol="0" anchor="ctr"/>
          <a:lstStyle/>
          <a:p>
            <a:pPr indent="0" marL="0">
              <a:lnSpc>
                <a:spcPct val="120000"/>
              </a:lnSpc>
              <a:buNone/>
            </a:pPr>
            <a:r>
              <a:rPr lang="en-US" sz="1050" dirty="0">
                <a:solidFill>
                  <a:srgbClr val="6B7A87"/>
                </a:solidFill>
                <a:latin typeface="Calibri" pitchFamily="34" charset="0"/>
                <a:ea typeface="Calibri" pitchFamily="34" charset="-122"/>
                <a:cs typeface="Calibri" pitchFamily="34" charset="-120"/>
              </a:rPr>
              <a:t>Four more entities are already exposed and unused. Adopting one is configuration, not development.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indent="0" marL="0">
              <a:buNone/>
            </a:pPr>
            <a:r>
              <a:rPr lang="en-US" sz="3400" b="1" dirty="0">
                <a:solidFill>
                  <a:srgbClr val="232B32"/>
                </a:solidFill>
                <a:latin typeface="Cambria" pitchFamily="34" charset="0"/>
                <a:ea typeface="Cambria" pitchFamily="34" charset="-122"/>
                <a:cs typeface="Cambria" pitchFamily="34" charset="-120"/>
              </a:rPr>
              <a:t>Eight services, separately scoped</a:t>
            </a:r>
            <a:endParaRPr lang="en-US" sz="3400" dirty="0"/>
          </a:p>
        </p:txBody>
      </p:sp>
      <p:sp>
        <p:nvSpPr>
          <p:cNvPr id="3" name="Text 1"/>
          <p:cNvSpPr txBox="1"/>
          <p:nvPr/>
        </p:nvSpPr>
        <p:spPr>
          <a:xfrm>
            <a:off x="640080" y="1060704"/>
            <a:ext cx="10881360" cy="365760"/>
          </a:xfrm>
          <a:prstGeom prst="rect">
            <a:avLst/>
          </a:prstGeom>
          <a:noFill/>
          <a:ln/>
        </p:spPr>
        <p:txBody>
          <a:bodyPr wrap="square" lIns="0" tIns="0" rIns="0" bIns="0" rtlCol="0" anchor="ctr"/>
          <a:lstStyle/>
          <a:p>
            <a:pPr indent="0" marL="0">
              <a:buNone/>
            </a:pPr>
            <a:r>
              <a:rPr lang="en-US" sz="1400" dirty="0">
                <a:solidFill>
                  <a:srgbClr val="6B7A87"/>
                </a:solidFill>
                <a:latin typeface="Calibri" pitchFamily="34" charset="0"/>
                <a:ea typeface="Calibri" pitchFamily="34" charset="-122"/>
                <a:cs typeface="Calibri" pitchFamily="34" charset="-120"/>
              </a:rPr>
              <a:t>Adopt or drop any one of them without touching the others</a:t>
            </a:r>
            <a:endParaRPr lang="en-US" sz="1400" dirty="0"/>
          </a:p>
        </p:txBody>
      </p:sp>
      <p:sp>
        <p:nvSpPr>
          <p:cNvPr id="4" name="Shape 2"/>
          <p:cNvSpPr/>
          <p:nvPr/>
        </p:nvSpPr>
        <p:spPr>
          <a:xfrm>
            <a:off x="640080" y="1737360"/>
            <a:ext cx="5303520" cy="932688"/>
          </a:xfrm>
          <a:prstGeom prst="roundRect">
            <a:avLst>
              <a:gd name="adj" fmla="val 5882"/>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5" name="Text 3"/>
          <p:cNvSpPr txBox="1"/>
          <p:nvPr/>
        </p:nvSpPr>
        <p:spPr>
          <a:xfrm>
            <a:off x="914400" y="1865376"/>
            <a:ext cx="1463040" cy="274320"/>
          </a:xfrm>
          <a:prstGeom prst="rect">
            <a:avLst/>
          </a:prstGeom>
          <a:noFill/>
          <a:ln/>
        </p:spPr>
        <p:txBody>
          <a:bodyPr wrap="square" lIns="0" tIns="0" rIns="0" bIns="0" rtlCol="0" anchor="ctr"/>
          <a:lstStyle/>
          <a:p>
            <a:pPr indent="0" marL="0">
              <a:buNone/>
            </a:pPr>
            <a:r>
              <a:rPr lang="en-US" sz="1400" b="1" dirty="0">
                <a:solidFill>
                  <a:srgbClr val="232B32"/>
                </a:solidFill>
                <a:latin typeface="Calibri" pitchFamily="34" charset="0"/>
                <a:ea typeface="Calibri" pitchFamily="34" charset="-122"/>
                <a:cs typeface="Calibri" pitchFamily="34" charset="-120"/>
              </a:rPr>
              <a:t>Insights</a:t>
            </a:r>
            <a:endParaRPr lang="en-US" sz="1400" dirty="0"/>
          </a:p>
        </p:txBody>
      </p:sp>
      <p:sp>
        <p:nvSpPr>
          <p:cNvPr id="6" name="Text 4"/>
          <p:cNvSpPr txBox="1"/>
          <p:nvPr/>
        </p:nvSpPr>
        <p:spPr>
          <a:xfrm>
            <a:off x="2331720" y="1901952"/>
            <a:ext cx="1645920" cy="237744"/>
          </a:xfrm>
          <a:prstGeom prst="rect">
            <a:avLst/>
          </a:prstGeom>
          <a:noFill/>
          <a:ln/>
        </p:spPr>
        <p:txBody>
          <a:bodyPr wrap="square" lIns="0" tIns="0" rIns="0" bIns="0" rtlCol="0" anchor="ctr"/>
          <a:lstStyle/>
          <a:p>
            <a:pPr indent="0" marL="0">
              <a:buNone/>
            </a:pPr>
            <a:r>
              <a:rPr lang="en-US" sz="900" dirty="0">
                <a:solidFill>
                  <a:srgbClr val="E08A1E"/>
                </a:solidFill>
                <a:latin typeface="Courier New" pitchFamily="34" charset="0"/>
                <a:ea typeface="Courier New" pitchFamily="34" charset="-122"/>
                <a:cs typeface="Courier New" pitchFamily="34" charset="-120"/>
              </a:rPr>
              <a:t>/insights</a:t>
            </a:r>
            <a:endParaRPr lang="en-US" sz="900" dirty="0"/>
          </a:p>
        </p:txBody>
      </p:sp>
      <p:sp>
        <p:nvSpPr>
          <p:cNvPr id="7" name="Text 5"/>
          <p:cNvSpPr txBox="1"/>
          <p:nvPr/>
        </p:nvSpPr>
        <p:spPr>
          <a:xfrm>
            <a:off x="914400" y="2194560"/>
            <a:ext cx="4754880" cy="384048"/>
          </a:xfrm>
          <a:prstGeom prst="rect">
            <a:avLst/>
          </a:prstGeom>
          <a:noFill/>
          <a:ln/>
        </p:spPr>
        <p:txBody>
          <a:bodyPr wrap="square" lIns="0" tIns="0" rIns="0" bIns="0" rtlCol="0" anchor="ctr"/>
          <a:lstStyle/>
          <a:p>
            <a:pPr indent="0" marL="0">
              <a:buNone/>
            </a:pPr>
            <a:r>
              <a:rPr lang="en-US" sz="1050" dirty="0">
                <a:solidFill>
                  <a:srgbClr val="6B7A87"/>
                </a:solidFill>
                <a:latin typeface="Calibri" pitchFamily="34" charset="0"/>
                <a:ea typeface="Calibri" pitchFamily="34" charset="-122"/>
                <a:cs typeface="Calibri" pitchFamily="34" charset="-120"/>
              </a:rPr>
              <a:t>The chat plane — ask, confirm a write, conversation history</a:t>
            </a:r>
            <a:endParaRPr lang="en-US" sz="1050" dirty="0"/>
          </a:p>
        </p:txBody>
      </p:sp>
      <p:sp>
        <p:nvSpPr>
          <p:cNvPr id="8" name="Shape 6"/>
          <p:cNvSpPr/>
          <p:nvPr/>
        </p:nvSpPr>
        <p:spPr>
          <a:xfrm>
            <a:off x="6217920" y="1737360"/>
            <a:ext cx="5303520" cy="932688"/>
          </a:xfrm>
          <a:prstGeom prst="roundRect">
            <a:avLst>
              <a:gd name="adj" fmla="val 5882"/>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9" name="Text 7"/>
          <p:cNvSpPr txBox="1"/>
          <p:nvPr/>
        </p:nvSpPr>
        <p:spPr>
          <a:xfrm>
            <a:off x="6492240" y="1865376"/>
            <a:ext cx="1463040" cy="274320"/>
          </a:xfrm>
          <a:prstGeom prst="rect">
            <a:avLst/>
          </a:prstGeom>
          <a:noFill/>
          <a:ln/>
        </p:spPr>
        <p:txBody>
          <a:bodyPr wrap="square" lIns="0" tIns="0" rIns="0" bIns="0" rtlCol="0" anchor="ctr"/>
          <a:lstStyle/>
          <a:p>
            <a:pPr indent="0" marL="0">
              <a:buNone/>
            </a:pPr>
            <a:r>
              <a:rPr lang="en-US" sz="1400" b="1" dirty="0">
                <a:solidFill>
                  <a:srgbClr val="232B32"/>
                </a:solidFill>
                <a:latin typeface="Calibri" pitchFamily="34" charset="0"/>
                <a:ea typeface="Calibri" pitchFamily="34" charset="-122"/>
                <a:cs typeface="Calibri" pitchFamily="34" charset="-120"/>
              </a:rPr>
              <a:t>Config</a:t>
            </a:r>
            <a:endParaRPr lang="en-US" sz="1400" dirty="0"/>
          </a:p>
        </p:txBody>
      </p:sp>
      <p:sp>
        <p:nvSpPr>
          <p:cNvPr id="10" name="Text 8"/>
          <p:cNvSpPr txBox="1"/>
          <p:nvPr/>
        </p:nvSpPr>
        <p:spPr>
          <a:xfrm>
            <a:off x="7909560" y="1901952"/>
            <a:ext cx="1645920" cy="237744"/>
          </a:xfrm>
          <a:prstGeom prst="rect">
            <a:avLst/>
          </a:prstGeom>
          <a:noFill/>
          <a:ln/>
        </p:spPr>
        <p:txBody>
          <a:bodyPr wrap="square" lIns="0" tIns="0" rIns="0" bIns="0" rtlCol="0" anchor="ctr"/>
          <a:lstStyle/>
          <a:p>
            <a:pPr indent="0" marL="0">
              <a:buNone/>
            </a:pPr>
            <a:r>
              <a:rPr lang="en-US" sz="900" dirty="0">
                <a:solidFill>
                  <a:srgbClr val="E08A1E"/>
                </a:solidFill>
                <a:latin typeface="Courier New" pitchFamily="34" charset="0"/>
                <a:ea typeface="Courier New" pitchFamily="34" charset="-122"/>
                <a:cs typeface="Courier New" pitchFamily="34" charset="-120"/>
              </a:rPr>
              <a:t>/odata/config</a:t>
            </a:r>
            <a:endParaRPr lang="en-US" sz="900" dirty="0"/>
          </a:p>
        </p:txBody>
      </p:sp>
      <p:sp>
        <p:nvSpPr>
          <p:cNvPr id="11" name="Text 9"/>
          <p:cNvSpPr txBox="1"/>
          <p:nvPr/>
        </p:nvSpPr>
        <p:spPr>
          <a:xfrm>
            <a:off x="6492240" y="2194560"/>
            <a:ext cx="4754880" cy="384048"/>
          </a:xfrm>
          <a:prstGeom prst="rect">
            <a:avLst/>
          </a:prstGeom>
          <a:noFill/>
          <a:ln/>
        </p:spPr>
        <p:txBody>
          <a:bodyPr wrap="square" lIns="0" tIns="0" rIns="0" bIns="0" rtlCol="0" anchor="ctr"/>
          <a:lstStyle/>
          <a:p>
            <a:pPr indent="0" marL="0">
              <a:buNone/>
            </a:pPr>
            <a:r>
              <a:rPr lang="en-US" sz="1050" dirty="0">
                <a:solidFill>
                  <a:srgbClr val="6B7A87"/>
                </a:solidFill>
                <a:latin typeface="Calibri" pitchFamily="34" charset="0"/>
                <a:ea typeface="Calibri" pitchFamily="34" charset="-122"/>
                <a:cs typeface="Calibri" pitchFamily="34" charset="-120"/>
              </a:rPr>
              <a:t>The business object registry that becomes the tool catalogue</a:t>
            </a:r>
            <a:endParaRPr lang="en-US" sz="1050" dirty="0"/>
          </a:p>
        </p:txBody>
      </p:sp>
      <p:sp>
        <p:nvSpPr>
          <p:cNvPr id="12" name="Shape 10"/>
          <p:cNvSpPr/>
          <p:nvPr/>
        </p:nvSpPr>
        <p:spPr>
          <a:xfrm>
            <a:off x="640080" y="2834640"/>
            <a:ext cx="5303520" cy="932688"/>
          </a:xfrm>
          <a:prstGeom prst="roundRect">
            <a:avLst>
              <a:gd name="adj" fmla="val 5882"/>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13" name="Text 11"/>
          <p:cNvSpPr txBox="1"/>
          <p:nvPr/>
        </p:nvSpPr>
        <p:spPr>
          <a:xfrm>
            <a:off x="914400" y="2962656"/>
            <a:ext cx="1463040" cy="274320"/>
          </a:xfrm>
          <a:prstGeom prst="rect">
            <a:avLst/>
          </a:prstGeom>
          <a:noFill/>
          <a:ln/>
        </p:spPr>
        <p:txBody>
          <a:bodyPr wrap="square" lIns="0" tIns="0" rIns="0" bIns="0" rtlCol="0" anchor="ctr"/>
          <a:lstStyle/>
          <a:p>
            <a:pPr indent="0" marL="0">
              <a:buNone/>
            </a:pPr>
            <a:r>
              <a:rPr lang="en-US" sz="1400" b="1" dirty="0">
                <a:solidFill>
                  <a:srgbClr val="232B32"/>
                </a:solidFill>
                <a:latin typeface="Calibri" pitchFamily="34" charset="0"/>
                <a:ea typeface="Calibri" pitchFamily="34" charset="-122"/>
                <a:cs typeface="Calibri" pitchFamily="34" charset="-120"/>
              </a:rPr>
              <a:t>Integration</a:t>
            </a:r>
            <a:endParaRPr lang="en-US" sz="1400" dirty="0"/>
          </a:p>
        </p:txBody>
      </p:sp>
      <p:sp>
        <p:nvSpPr>
          <p:cNvPr id="14" name="Text 12"/>
          <p:cNvSpPr txBox="1"/>
          <p:nvPr/>
        </p:nvSpPr>
        <p:spPr>
          <a:xfrm>
            <a:off x="2331720" y="2999232"/>
            <a:ext cx="1645920" cy="237744"/>
          </a:xfrm>
          <a:prstGeom prst="rect">
            <a:avLst/>
          </a:prstGeom>
          <a:noFill/>
          <a:ln/>
        </p:spPr>
        <p:txBody>
          <a:bodyPr wrap="square" lIns="0" tIns="0" rIns="0" bIns="0" rtlCol="0" anchor="ctr"/>
          <a:lstStyle/>
          <a:p>
            <a:pPr indent="0" marL="0">
              <a:buNone/>
            </a:pPr>
            <a:r>
              <a:rPr lang="en-US" sz="900" dirty="0">
                <a:solidFill>
                  <a:srgbClr val="E08A1E"/>
                </a:solidFill>
                <a:latin typeface="Courier New" pitchFamily="34" charset="0"/>
                <a:ea typeface="Courier New" pitchFamily="34" charset="-122"/>
                <a:cs typeface="Courier New" pitchFamily="34" charset="-120"/>
              </a:rPr>
              <a:t>/odata/integration</a:t>
            </a:r>
            <a:endParaRPr lang="en-US" sz="900" dirty="0"/>
          </a:p>
        </p:txBody>
      </p:sp>
      <p:sp>
        <p:nvSpPr>
          <p:cNvPr id="15" name="Text 13"/>
          <p:cNvSpPr txBox="1"/>
          <p:nvPr/>
        </p:nvSpPr>
        <p:spPr>
          <a:xfrm>
            <a:off x="914400" y="3291840"/>
            <a:ext cx="4754880" cy="384048"/>
          </a:xfrm>
          <a:prstGeom prst="rect">
            <a:avLst/>
          </a:prstGeom>
          <a:noFill/>
          <a:ln/>
        </p:spPr>
        <p:txBody>
          <a:bodyPr wrap="square" lIns="0" tIns="0" rIns="0" bIns="0" rtlCol="0" anchor="ctr"/>
          <a:lstStyle/>
          <a:p>
            <a:pPr indent="0" marL="0">
              <a:buNone/>
            </a:pPr>
            <a:r>
              <a:rPr lang="en-US" sz="1050" dirty="0">
                <a:solidFill>
                  <a:srgbClr val="6B7A87"/>
                </a:solidFill>
                <a:latin typeface="Calibri" pitchFamily="34" charset="0"/>
                <a:ea typeface="Calibri" pitchFamily="34" charset="-122"/>
                <a:cs typeface="Calibri" pitchFamily="34" charset="-120"/>
              </a:rPr>
              <a:t>Connections, credentials by reference, connectivity tests</a:t>
            </a:r>
            <a:endParaRPr lang="en-US" sz="1050" dirty="0"/>
          </a:p>
        </p:txBody>
      </p:sp>
      <p:sp>
        <p:nvSpPr>
          <p:cNvPr id="16" name="Shape 14"/>
          <p:cNvSpPr/>
          <p:nvPr/>
        </p:nvSpPr>
        <p:spPr>
          <a:xfrm>
            <a:off x="6217920" y="2834640"/>
            <a:ext cx="5303520" cy="932688"/>
          </a:xfrm>
          <a:prstGeom prst="roundRect">
            <a:avLst>
              <a:gd name="adj" fmla="val 5882"/>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17" name="Text 15"/>
          <p:cNvSpPr txBox="1"/>
          <p:nvPr/>
        </p:nvSpPr>
        <p:spPr>
          <a:xfrm>
            <a:off x="6492240" y="2962656"/>
            <a:ext cx="1463040" cy="274320"/>
          </a:xfrm>
          <a:prstGeom prst="rect">
            <a:avLst/>
          </a:prstGeom>
          <a:noFill/>
          <a:ln/>
        </p:spPr>
        <p:txBody>
          <a:bodyPr wrap="square" lIns="0" tIns="0" rIns="0" bIns="0" rtlCol="0" anchor="ctr"/>
          <a:lstStyle/>
          <a:p>
            <a:pPr indent="0" marL="0">
              <a:buNone/>
            </a:pPr>
            <a:r>
              <a:rPr lang="en-US" sz="1400" b="1" dirty="0">
                <a:solidFill>
                  <a:srgbClr val="232B32"/>
                </a:solidFill>
                <a:latin typeface="Calibri" pitchFamily="34" charset="0"/>
                <a:ea typeface="Calibri" pitchFamily="34" charset="-122"/>
                <a:cs typeface="Calibri" pitchFamily="34" charset="-120"/>
              </a:rPr>
              <a:t>Token</a:t>
            </a:r>
            <a:endParaRPr lang="en-US" sz="1400" dirty="0"/>
          </a:p>
        </p:txBody>
      </p:sp>
      <p:sp>
        <p:nvSpPr>
          <p:cNvPr id="18" name="Text 16"/>
          <p:cNvSpPr txBox="1"/>
          <p:nvPr/>
        </p:nvSpPr>
        <p:spPr>
          <a:xfrm>
            <a:off x="7909560" y="2999232"/>
            <a:ext cx="1645920" cy="237744"/>
          </a:xfrm>
          <a:prstGeom prst="rect">
            <a:avLst/>
          </a:prstGeom>
          <a:noFill/>
          <a:ln/>
        </p:spPr>
        <p:txBody>
          <a:bodyPr wrap="square" lIns="0" tIns="0" rIns="0" bIns="0" rtlCol="0" anchor="ctr"/>
          <a:lstStyle/>
          <a:p>
            <a:pPr indent="0" marL="0">
              <a:buNone/>
            </a:pPr>
            <a:r>
              <a:rPr lang="en-US" sz="900" dirty="0">
                <a:solidFill>
                  <a:srgbClr val="E08A1E"/>
                </a:solidFill>
                <a:latin typeface="Courier New" pitchFamily="34" charset="0"/>
                <a:ea typeface="Courier New" pitchFamily="34" charset="-122"/>
                <a:cs typeface="Courier New" pitchFamily="34" charset="-120"/>
              </a:rPr>
              <a:t>/odata/token</a:t>
            </a:r>
            <a:endParaRPr lang="en-US" sz="900" dirty="0"/>
          </a:p>
        </p:txBody>
      </p:sp>
      <p:sp>
        <p:nvSpPr>
          <p:cNvPr id="19" name="Text 17"/>
          <p:cNvSpPr txBox="1"/>
          <p:nvPr/>
        </p:nvSpPr>
        <p:spPr>
          <a:xfrm>
            <a:off x="6492240" y="3291840"/>
            <a:ext cx="4754880" cy="384048"/>
          </a:xfrm>
          <a:prstGeom prst="rect">
            <a:avLst/>
          </a:prstGeom>
          <a:noFill/>
          <a:ln/>
        </p:spPr>
        <p:txBody>
          <a:bodyPr wrap="square" lIns="0" tIns="0" rIns="0" bIns="0" rtlCol="0" anchor="ctr"/>
          <a:lstStyle/>
          <a:p>
            <a:pPr indent="0" marL="0">
              <a:buNone/>
            </a:pPr>
            <a:r>
              <a:rPr lang="en-US" sz="1050" dirty="0">
                <a:solidFill>
                  <a:srgbClr val="6B7A87"/>
                </a:solidFill>
                <a:latin typeface="Calibri" pitchFamily="34" charset="0"/>
                <a:ea typeface="Calibri" pitchFamily="34" charset="-122"/>
                <a:cs typeface="Calibri" pitchFamily="34" charset="-120"/>
              </a:rPr>
              <a:t>Quotas, consumption, per-call usage, model routing</a:t>
            </a:r>
            <a:endParaRPr lang="en-US" sz="1050" dirty="0"/>
          </a:p>
        </p:txBody>
      </p:sp>
      <p:sp>
        <p:nvSpPr>
          <p:cNvPr id="20" name="Shape 18"/>
          <p:cNvSpPr/>
          <p:nvPr/>
        </p:nvSpPr>
        <p:spPr>
          <a:xfrm>
            <a:off x="640080" y="3931920"/>
            <a:ext cx="5303520" cy="932688"/>
          </a:xfrm>
          <a:prstGeom prst="roundRect">
            <a:avLst>
              <a:gd name="adj" fmla="val 5882"/>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21" name="Text 19"/>
          <p:cNvSpPr txBox="1"/>
          <p:nvPr/>
        </p:nvSpPr>
        <p:spPr>
          <a:xfrm>
            <a:off x="914400" y="4059936"/>
            <a:ext cx="1463040" cy="274320"/>
          </a:xfrm>
          <a:prstGeom prst="rect">
            <a:avLst/>
          </a:prstGeom>
          <a:noFill/>
          <a:ln/>
        </p:spPr>
        <p:txBody>
          <a:bodyPr wrap="square" lIns="0" tIns="0" rIns="0" bIns="0" rtlCol="0" anchor="ctr"/>
          <a:lstStyle/>
          <a:p>
            <a:pPr indent="0" marL="0">
              <a:buNone/>
            </a:pPr>
            <a:r>
              <a:rPr lang="en-US" sz="1400" b="1" dirty="0">
                <a:solidFill>
                  <a:srgbClr val="232B32"/>
                </a:solidFill>
                <a:latin typeface="Calibri" pitchFamily="34" charset="0"/>
                <a:ea typeface="Calibri" pitchFamily="34" charset="-122"/>
                <a:cs typeface="Calibri" pitchFamily="34" charset="-120"/>
              </a:rPr>
              <a:t>Cache</a:t>
            </a:r>
            <a:endParaRPr lang="en-US" sz="1400" dirty="0"/>
          </a:p>
        </p:txBody>
      </p:sp>
      <p:sp>
        <p:nvSpPr>
          <p:cNvPr id="22" name="Text 20"/>
          <p:cNvSpPr txBox="1"/>
          <p:nvPr/>
        </p:nvSpPr>
        <p:spPr>
          <a:xfrm>
            <a:off x="2331720" y="4096512"/>
            <a:ext cx="1645920" cy="237744"/>
          </a:xfrm>
          <a:prstGeom prst="rect">
            <a:avLst/>
          </a:prstGeom>
          <a:noFill/>
          <a:ln/>
        </p:spPr>
        <p:txBody>
          <a:bodyPr wrap="square" lIns="0" tIns="0" rIns="0" bIns="0" rtlCol="0" anchor="ctr"/>
          <a:lstStyle/>
          <a:p>
            <a:pPr indent="0" marL="0">
              <a:buNone/>
            </a:pPr>
            <a:r>
              <a:rPr lang="en-US" sz="900" dirty="0">
                <a:solidFill>
                  <a:srgbClr val="E08A1E"/>
                </a:solidFill>
                <a:latin typeface="Courier New" pitchFamily="34" charset="0"/>
                <a:ea typeface="Courier New" pitchFamily="34" charset="-122"/>
                <a:cs typeface="Courier New" pitchFamily="34" charset="-120"/>
              </a:rPr>
              <a:t>/odata/cache</a:t>
            </a:r>
            <a:endParaRPr lang="en-US" sz="900" dirty="0"/>
          </a:p>
        </p:txBody>
      </p:sp>
      <p:sp>
        <p:nvSpPr>
          <p:cNvPr id="23" name="Text 21"/>
          <p:cNvSpPr txBox="1"/>
          <p:nvPr/>
        </p:nvSpPr>
        <p:spPr>
          <a:xfrm>
            <a:off x="914400" y="4389120"/>
            <a:ext cx="4754880" cy="384048"/>
          </a:xfrm>
          <a:prstGeom prst="rect">
            <a:avLst/>
          </a:prstGeom>
          <a:noFill/>
          <a:ln/>
        </p:spPr>
        <p:txBody>
          <a:bodyPr wrap="square" lIns="0" tIns="0" rIns="0" bIns="0" rtlCol="0" anchor="ctr"/>
          <a:lstStyle/>
          <a:p>
            <a:pPr indent="0" marL="0">
              <a:buNone/>
            </a:pPr>
            <a:r>
              <a:rPr lang="en-US" sz="1050" dirty="0">
                <a:solidFill>
                  <a:srgbClr val="6B7A87"/>
                </a:solidFill>
                <a:latin typeface="Calibri" pitchFamily="34" charset="0"/>
                <a:ea typeface="Calibri" pitchFamily="34" charset="-122"/>
                <a:cs typeface="Calibri" pitchFamily="34" charset="-120"/>
              </a:rPr>
              <a:t>Answer lifetimes per object, hit and miss statistics</a:t>
            </a:r>
            <a:endParaRPr lang="en-US" sz="1050" dirty="0"/>
          </a:p>
        </p:txBody>
      </p:sp>
      <p:sp>
        <p:nvSpPr>
          <p:cNvPr id="24" name="Shape 22"/>
          <p:cNvSpPr/>
          <p:nvPr/>
        </p:nvSpPr>
        <p:spPr>
          <a:xfrm>
            <a:off x="6217920" y="3931920"/>
            <a:ext cx="5303520" cy="932688"/>
          </a:xfrm>
          <a:prstGeom prst="roundRect">
            <a:avLst>
              <a:gd name="adj" fmla="val 5882"/>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25" name="Text 23"/>
          <p:cNvSpPr txBox="1"/>
          <p:nvPr/>
        </p:nvSpPr>
        <p:spPr>
          <a:xfrm>
            <a:off x="6492240" y="4059936"/>
            <a:ext cx="1463040" cy="274320"/>
          </a:xfrm>
          <a:prstGeom prst="rect">
            <a:avLst/>
          </a:prstGeom>
          <a:noFill/>
          <a:ln/>
        </p:spPr>
        <p:txBody>
          <a:bodyPr wrap="square" lIns="0" tIns="0" rIns="0" bIns="0" rtlCol="0" anchor="ctr"/>
          <a:lstStyle/>
          <a:p>
            <a:pPr indent="0" marL="0">
              <a:buNone/>
            </a:pPr>
            <a:r>
              <a:rPr lang="en-US" sz="1400" b="1" dirty="0">
                <a:solidFill>
                  <a:srgbClr val="232B32"/>
                </a:solidFill>
                <a:latin typeface="Calibri" pitchFamily="34" charset="0"/>
                <a:ea typeface="Calibri" pitchFamily="34" charset="-122"/>
                <a:cs typeface="Calibri" pitchFamily="34" charset="-120"/>
              </a:rPr>
              <a:t>Admin</a:t>
            </a:r>
            <a:endParaRPr lang="en-US" sz="1400" dirty="0"/>
          </a:p>
        </p:txBody>
      </p:sp>
      <p:sp>
        <p:nvSpPr>
          <p:cNvPr id="26" name="Text 24"/>
          <p:cNvSpPr txBox="1"/>
          <p:nvPr/>
        </p:nvSpPr>
        <p:spPr>
          <a:xfrm>
            <a:off x="7909560" y="4096512"/>
            <a:ext cx="1645920" cy="237744"/>
          </a:xfrm>
          <a:prstGeom prst="rect">
            <a:avLst/>
          </a:prstGeom>
          <a:noFill/>
          <a:ln/>
        </p:spPr>
        <p:txBody>
          <a:bodyPr wrap="square" lIns="0" tIns="0" rIns="0" bIns="0" rtlCol="0" anchor="ctr"/>
          <a:lstStyle/>
          <a:p>
            <a:pPr indent="0" marL="0">
              <a:buNone/>
            </a:pPr>
            <a:r>
              <a:rPr lang="en-US" sz="900" dirty="0">
                <a:solidFill>
                  <a:srgbClr val="E08A1E"/>
                </a:solidFill>
                <a:latin typeface="Courier New" pitchFamily="34" charset="0"/>
                <a:ea typeface="Courier New" pitchFamily="34" charset="-122"/>
                <a:cs typeface="Courier New" pitchFamily="34" charset="-120"/>
              </a:rPr>
              <a:t>/odata/admin</a:t>
            </a:r>
            <a:endParaRPr lang="en-US" sz="900" dirty="0"/>
          </a:p>
        </p:txBody>
      </p:sp>
      <p:sp>
        <p:nvSpPr>
          <p:cNvPr id="27" name="Text 25"/>
          <p:cNvSpPr txBox="1"/>
          <p:nvPr/>
        </p:nvSpPr>
        <p:spPr>
          <a:xfrm>
            <a:off x="6492240" y="4389120"/>
            <a:ext cx="4754880" cy="384048"/>
          </a:xfrm>
          <a:prstGeom prst="rect">
            <a:avLst/>
          </a:prstGeom>
          <a:noFill/>
          <a:ln/>
        </p:spPr>
        <p:txBody>
          <a:bodyPr wrap="square" lIns="0" tIns="0" rIns="0" bIns="0" rtlCol="0" anchor="ctr"/>
          <a:lstStyle/>
          <a:p>
            <a:pPr indent="0" marL="0">
              <a:buNone/>
            </a:pPr>
            <a:r>
              <a:rPr lang="en-US" sz="1050" dirty="0">
                <a:solidFill>
                  <a:srgbClr val="6B7A87"/>
                </a:solidFill>
                <a:latin typeface="Calibri" pitchFamily="34" charset="0"/>
                <a:ea typeface="Calibri" pitchFamily="34" charset="-122"/>
                <a:cs typeface="Calibri" pitchFamily="34" charset="-120"/>
              </a:rPr>
              <a:t>Users, warehouse scopes, approval policy, org settings</a:t>
            </a:r>
            <a:endParaRPr lang="en-US" sz="1050" dirty="0"/>
          </a:p>
        </p:txBody>
      </p:sp>
      <p:sp>
        <p:nvSpPr>
          <p:cNvPr id="28" name="Shape 26"/>
          <p:cNvSpPr/>
          <p:nvPr/>
        </p:nvSpPr>
        <p:spPr>
          <a:xfrm>
            <a:off x="640080" y="5029200"/>
            <a:ext cx="5303520" cy="932688"/>
          </a:xfrm>
          <a:prstGeom prst="roundRect">
            <a:avLst>
              <a:gd name="adj" fmla="val 5882"/>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29" name="Text 27"/>
          <p:cNvSpPr txBox="1"/>
          <p:nvPr/>
        </p:nvSpPr>
        <p:spPr>
          <a:xfrm>
            <a:off x="914400" y="5157216"/>
            <a:ext cx="1463040" cy="274320"/>
          </a:xfrm>
          <a:prstGeom prst="rect">
            <a:avLst/>
          </a:prstGeom>
          <a:noFill/>
          <a:ln/>
        </p:spPr>
        <p:txBody>
          <a:bodyPr wrap="square" lIns="0" tIns="0" rIns="0" bIns="0" rtlCol="0" anchor="ctr"/>
          <a:lstStyle/>
          <a:p>
            <a:pPr indent="0" marL="0">
              <a:buNone/>
            </a:pPr>
            <a:r>
              <a:rPr lang="en-US" sz="1400" b="1" dirty="0">
                <a:solidFill>
                  <a:srgbClr val="232B32"/>
                </a:solidFill>
                <a:latin typeface="Calibri" pitchFamily="34" charset="0"/>
                <a:ea typeface="Calibri" pitchFamily="34" charset="-122"/>
                <a:cs typeface="Calibri" pitchFamily="34" charset="-120"/>
              </a:rPr>
              <a:t>Audit</a:t>
            </a:r>
            <a:endParaRPr lang="en-US" sz="1400" dirty="0"/>
          </a:p>
        </p:txBody>
      </p:sp>
      <p:sp>
        <p:nvSpPr>
          <p:cNvPr id="30" name="Text 28"/>
          <p:cNvSpPr txBox="1"/>
          <p:nvPr/>
        </p:nvSpPr>
        <p:spPr>
          <a:xfrm>
            <a:off x="2331720" y="5193792"/>
            <a:ext cx="1645920" cy="237744"/>
          </a:xfrm>
          <a:prstGeom prst="rect">
            <a:avLst/>
          </a:prstGeom>
          <a:noFill/>
          <a:ln/>
        </p:spPr>
        <p:txBody>
          <a:bodyPr wrap="square" lIns="0" tIns="0" rIns="0" bIns="0" rtlCol="0" anchor="ctr"/>
          <a:lstStyle/>
          <a:p>
            <a:pPr indent="0" marL="0">
              <a:buNone/>
            </a:pPr>
            <a:r>
              <a:rPr lang="en-US" sz="900" dirty="0">
                <a:solidFill>
                  <a:srgbClr val="E08A1E"/>
                </a:solidFill>
                <a:latin typeface="Courier New" pitchFamily="34" charset="0"/>
                <a:ea typeface="Courier New" pitchFamily="34" charset="-122"/>
                <a:cs typeface="Courier New" pitchFamily="34" charset="-120"/>
              </a:rPr>
              <a:t>/odata/audit</a:t>
            </a:r>
            <a:endParaRPr lang="en-US" sz="900" dirty="0"/>
          </a:p>
        </p:txBody>
      </p:sp>
      <p:sp>
        <p:nvSpPr>
          <p:cNvPr id="31" name="Text 29"/>
          <p:cNvSpPr txBox="1"/>
          <p:nvPr/>
        </p:nvSpPr>
        <p:spPr>
          <a:xfrm>
            <a:off x="914400" y="5486400"/>
            <a:ext cx="4754880" cy="384048"/>
          </a:xfrm>
          <a:prstGeom prst="rect">
            <a:avLst/>
          </a:prstGeom>
          <a:noFill/>
          <a:ln/>
        </p:spPr>
        <p:txBody>
          <a:bodyPr wrap="square" lIns="0" tIns="0" rIns="0" bIns="0" rtlCol="0" anchor="ctr"/>
          <a:lstStyle/>
          <a:p>
            <a:pPr indent="0" marL="0">
              <a:buNone/>
            </a:pPr>
            <a:r>
              <a:rPr lang="en-US" sz="1050" dirty="0">
                <a:solidFill>
                  <a:srgbClr val="6B7A87"/>
                </a:solidFill>
                <a:latin typeface="Calibri" pitchFamily="34" charset="0"/>
                <a:ea typeface="Calibri" pitchFamily="34" charset="-122"/>
                <a:cs typeface="Calibri" pitchFamily="34" charset="-120"/>
              </a:rPr>
              <a:t>One row per request, agent runs, tool steps, approvals</a:t>
            </a:r>
            <a:endParaRPr lang="en-US" sz="1050" dirty="0"/>
          </a:p>
        </p:txBody>
      </p:sp>
      <p:sp>
        <p:nvSpPr>
          <p:cNvPr id="32" name="Shape 30"/>
          <p:cNvSpPr/>
          <p:nvPr/>
        </p:nvSpPr>
        <p:spPr>
          <a:xfrm>
            <a:off x="6217920" y="5029200"/>
            <a:ext cx="5303520" cy="932688"/>
          </a:xfrm>
          <a:prstGeom prst="roundRect">
            <a:avLst>
              <a:gd name="adj" fmla="val 5882"/>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33" name="Text 31"/>
          <p:cNvSpPr txBox="1"/>
          <p:nvPr/>
        </p:nvSpPr>
        <p:spPr>
          <a:xfrm>
            <a:off x="6492240" y="5157216"/>
            <a:ext cx="1463040" cy="274320"/>
          </a:xfrm>
          <a:prstGeom prst="rect">
            <a:avLst/>
          </a:prstGeom>
          <a:noFill/>
          <a:ln/>
        </p:spPr>
        <p:txBody>
          <a:bodyPr wrap="square" lIns="0" tIns="0" rIns="0" bIns="0" rtlCol="0" anchor="ctr"/>
          <a:lstStyle/>
          <a:p>
            <a:pPr indent="0" marL="0">
              <a:buNone/>
            </a:pPr>
            <a:r>
              <a:rPr lang="en-US" sz="1400" b="1" dirty="0">
                <a:solidFill>
                  <a:srgbClr val="232B32"/>
                </a:solidFill>
                <a:latin typeface="Calibri" pitchFamily="34" charset="0"/>
                <a:ea typeface="Calibri" pitchFamily="34" charset="-122"/>
                <a:cs typeface="Calibri" pitchFamily="34" charset="-120"/>
              </a:rPr>
              <a:t>Dashboard</a:t>
            </a:r>
            <a:endParaRPr lang="en-US" sz="1400" dirty="0"/>
          </a:p>
        </p:txBody>
      </p:sp>
      <p:sp>
        <p:nvSpPr>
          <p:cNvPr id="34" name="Text 32"/>
          <p:cNvSpPr txBox="1"/>
          <p:nvPr/>
        </p:nvSpPr>
        <p:spPr>
          <a:xfrm>
            <a:off x="7909560" y="5193792"/>
            <a:ext cx="1645920" cy="237744"/>
          </a:xfrm>
          <a:prstGeom prst="rect">
            <a:avLst/>
          </a:prstGeom>
          <a:noFill/>
          <a:ln/>
        </p:spPr>
        <p:txBody>
          <a:bodyPr wrap="square" lIns="0" tIns="0" rIns="0" bIns="0" rtlCol="0" anchor="ctr"/>
          <a:lstStyle/>
          <a:p>
            <a:pPr indent="0" marL="0">
              <a:buNone/>
            </a:pPr>
            <a:r>
              <a:rPr lang="en-US" sz="900" dirty="0">
                <a:solidFill>
                  <a:srgbClr val="E08A1E"/>
                </a:solidFill>
                <a:latin typeface="Courier New" pitchFamily="34" charset="0"/>
                <a:ea typeface="Courier New" pitchFamily="34" charset="-122"/>
                <a:cs typeface="Courier New" pitchFamily="34" charset="-120"/>
              </a:rPr>
              <a:t>/odata/dashboard</a:t>
            </a:r>
            <a:endParaRPr lang="en-US" sz="900" dirty="0"/>
          </a:p>
        </p:txBody>
      </p:sp>
      <p:sp>
        <p:nvSpPr>
          <p:cNvPr id="35" name="Text 33"/>
          <p:cNvSpPr txBox="1"/>
          <p:nvPr/>
        </p:nvSpPr>
        <p:spPr>
          <a:xfrm>
            <a:off x="6492240" y="5486400"/>
            <a:ext cx="4754880" cy="384048"/>
          </a:xfrm>
          <a:prstGeom prst="rect">
            <a:avLst/>
          </a:prstGeom>
          <a:noFill/>
          <a:ln/>
        </p:spPr>
        <p:txBody>
          <a:bodyPr wrap="square" lIns="0" tIns="0" rIns="0" bIns="0" rtlCol="0" anchor="ctr"/>
          <a:lstStyle/>
          <a:p>
            <a:pPr indent="0" marL="0">
              <a:buNone/>
            </a:pPr>
            <a:r>
              <a:rPr lang="en-US" sz="1050" dirty="0">
                <a:solidFill>
                  <a:srgbClr val="6B7A87"/>
                </a:solidFill>
                <a:latin typeface="Calibri" pitchFamily="34" charset="0"/>
                <a:ea typeface="Calibri" pitchFamily="34" charset="-122"/>
                <a:cs typeface="Calibri" pitchFamily="34" charset="-120"/>
              </a:rPr>
              <a:t>Volume, grounding rate, quota headroom</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indent="0" marL="0">
              <a:buNone/>
            </a:pPr>
            <a:r>
              <a:rPr lang="en-US" sz="3400" b="1" dirty="0">
                <a:solidFill>
                  <a:srgbClr val="232B32"/>
                </a:solidFill>
                <a:latin typeface="Cambria" pitchFamily="34" charset="0"/>
                <a:ea typeface="Cambria" pitchFamily="34" charset="-122"/>
                <a:cs typeface="Cambria" pitchFamily="34" charset="-120"/>
              </a:rPr>
              <a:t>Fourteen administration screens</a:t>
            </a:r>
            <a:endParaRPr lang="en-US" sz="3400" dirty="0"/>
          </a:p>
        </p:txBody>
      </p:sp>
      <p:sp>
        <p:nvSpPr>
          <p:cNvPr id="3" name="Text 1"/>
          <p:cNvSpPr txBox="1"/>
          <p:nvPr/>
        </p:nvSpPr>
        <p:spPr>
          <a:xfrm>
            <a:off x="640080" y="1060704"/>
            <a:ext cx="10881360" cy="365760"/>
          </a:xfrm>
          <a:prstGeom prst="rect">
            <a:avLst/>
          </a:prstGeom>
          <a:noFill/>
          <a:ln/>
        </p:spPr>
        <p:txBody>
          <a:bodyPr wrap="square" lIns="0" tIns="0" rIns="0" bIns="0" rtlCol="0" anchor="ctr"/>
          <a:lstStyle/>
          <a:p>
            <a:pPr indent="0" marL="0">
              <a:buNone/>
            </a:pPr>
            <a:r>
              <a:rPr lang="en-US" sz="1400" dirty="0">
                <a:solidFill>
                  <a:srgbClr val="6B7A87"/>
                </a:solidFill>
                <a:latin typeface="Calibri" pitchFamily="34" charset="0"/>
                <a:ea typeface="Calibri" pitchFamily="34" charset="-122"/>
                <a:cs typeface="Calibri" pitchFamily="34" charset="-120"/>
              </a:rPr>
              <a:t>Configuration is editable. The record of what happened is not.</a:t>
            </a:r>
            <a:endParaRPr lang="en-US" sz="1400" dirty="0"/>
          </a:p>
        </p:txBody>
      </p:sp>
      <p:sp>
        <p:nvSpPr>
          <p:cNvPr id="4" name="Shape 2"/>
          <p:cNvSpPr/>
          <p:nvPr/>
        </p:nvSpPr>
        <p:spPr>
          <a:xfrm>
            <a:off x="640080" y="1737360"/>
            <a:ext cx="5486400" cy="3977640"/>
          </a:xfrm>
          <a:prstGeom prst="roundRect">
            <a:avLst>
              <a:gd name="adj" fmla="val 1379"/>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5" name="Shape 3"/>
          <p:cNvSpPr/>
          <p:nvPr/>
        </p:nvSpPr>
        <p:spPr>
          <a:xfrm>
            <a:off x="932688" y="1956816"/>
            <a:ext cx="347472" cy="347472"/>
          </a:xfrm>
          <a:prstGeom prst="ellipse">
            <a:avLst/>
          </a:prstGeom>
          <a:solidFill>
            <a:srgbClr val="E08A1E"/>
          </a:solidFill>
          <a:ln/>
        </p:spPr>
      </p:sp>
      <p:sp>
        <p:nvSpPr>
          <p:cNvPr id="6" name="Text 4"/>
          <p:cNvSpPr txBox="1"/>
          <p:nvPr/>
        </p:nvSpPr>
        <p:spPr>
          <a:xfrm>
            <a:off x="932688" y="195681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 name="Text 5"/>
          <p:cNvSpPr txBox="1"/>
          <p:nvPr/>
        </p:nvSpPr>
        <p:spPr>
          <a:xfrm>
            <a:off x="1417320" y="1975104"/>
            <a:ext cx="4389120" cy="292608"/>
          </a:xfrm>
          <a:prstGeom prst="rect">
            <a:avLst/>
          </a:prstGeom>
          <a:noFill/>
          <a:ln/>
        </p:spPr>
        <p:txBody>
          <a:bodyPr wrap="square" lIns="0" tIns="0" rIns="0" bIns="0" rtlCol="0" anchor="ctr"/>
          <a:lstStyle/>
          <a:p>
            <a:pPr indent="0" marL="0">
              <a:buNone/>
            </a:pPr>
            <a:r>
              <a:rPr lang="en-US" sz="1600" b="1" dirty="0">
                <a:solidFill>
                  <a:srgbClr val="232B32"/>
                </a:solidFill>
                <a:latin typeface="Cambria" pitchFamily="34" charset="0"/>
                <a:ea typeface="Cambria" pitchFamily="34" charset="-122"/>
                <a:cs typeface="Cambria" pitchFamily="34" charset="-120"/>
              </a:rPr>
              <a:t>Configuration — 8 screens</a:t>
            </a:r>
            <a:endParaRPr lang="en-US" sz="1600" dirty="0"/>
          </a:p>
        </p:txBody>
      </p:sp>
      <p:sp>
        <p:nvSpPr>
          <p:cNvPr id="8" name="Text 6"/>
          <p:cNvSpPr txBox="1"/>
          <p:nvPr/>
        </p:nvSpPr>
        <p:spPr>
          <a:xfrm>
            <a:off x="1417320" y="2286000"/>
            <a:ext cx="4389120" cy="256032"/>
          </a:xfrm>
          <a:prstGeom prst="rect">
            <a:avLst/>
          </a:prstGeom>
          <a:noFill/>
          <a:ln/>
        </p:spPr>
        <p:txBody>
          <a:bodyPr wrap="square" lIns="0" tIns="0" rIns="0" bIns="0" rtlCol="0" anchor="ctr"/>
          <a:lstStyle/>
          <a:p>
            <a:pPr indent="0" marL="0">
              <a:buNone/>
            </a:pPr>
            <a:r>
              <a:rPr lang="en-US" sz="1050" dirty="0">
                <a:solidFill>
                  <a:srgbClr val="6B7A87"/>
                </a:solidFill>
                <a:latin typeface="Calibri" pitchFamily="34" charset="0"/>
                <a:ea typeface="Calibri" pitchFamily="34" charset="-122"/>
                <a:cs typeface="Calibri" pitchFamily="34" charset="-120"/>
              </a:rPr>
              <a:t>An administrator creates and edits these</a:t>
            </a:r>
            <a:endParaRPr lang="en-US" sz="1050" dirty="0"/>
          </a:p>
        </p:txBody>
      </p:sp>
      <p:sp>
        <p:nvSpPr>
          <p:cNvPr id="9" name="Text 7"/>
          <p:cNvSpPr txBox="1"/>
          <p:nvPr/>
        </p:nvSpPr>
        <p:spPr>
          <a:xfrm>
            <a:off x="1005840" y="2743200"/>
            <a:ext cx="2468880" cy="320040"/>
          </a:xfrm>
          <a:prstGeom prst="rect">
            <a:avLst/>
          </a:prstGeom>
          <a:noFill/>
          <a:ln/>
        </p:spPr>
        <p:txBody>
          <a:bodyPr wrap="square" lIns="0" tIns="0" rIns="0" bIns="0" rtlCol="0" anchor="ctr"/>
          <a:lstStyle/>
          <a:p>
            <a:pPr marL="342900" indent="-342900">
              <a:buSzPct val="100000"/>
              <a:buChar char="•"/>
            </a:pPr>
            <a:r>
              <a:rPr lang="en-US" sz="1150" dirty="0">
                <a:solidFill>
                  <a:srgbClr val="232B32"/>
                </a:solidFill>
                <a:latin typeface="Calibri" pitchFamily="34" charset="0"/>
                <a:ea typeface="Calibri" pitchFamily="34" charset="-122"/>
                <a:cs typeface="Calibri" pitchFamily="34" charset="-120"/>
              </a:rPr>
              <a:t>Business Objects</a:t>
            </a:r>
            <a:endParaRPr lang="en-US" sz="1150" dirty="0"/>
          </a:p>
        </p:txBody>
      </p:sp>
      <p:sp>
        <p:nvSpPr>
          <p:cNvPr id="10" name="Text 8"/>
          <p:cNvSpPr txBox="1"/>
          <p:nvPr/>
        </p:nvSpPr>
        <p:spPr>
          <a:xfrm>
            <a:off x="3520440" y="2743200"/>
            <a:ext cx="2468880" cy="320040"/>
          </a:xfrm>
          <a:prstGeom prst="rect">
            <a:avLst/>
          </a:prstGeom>
          <a:noFill/>
          <a:ln/>
        </p:spPr>
        <p:txBody>
          <a:bodyPr wrap="square" lIns="0" tIns="0" rIns="0" bIns="0" rtlCol="0" anchor="ctr"/>
          <a:lstStyle/>
          <a:p>
            <a:pPr marL="342900" indent="-342900">
              <a:buSzPct val="100000"/>
              <a:buChar char="•"/>
            </a:pPr>
            <a:r>
              <a:rPr lang="en-US" sz="1150" dirty="0">
                <a:solidFill>
                  <a:srgbClr val="232B32"/>
                </a:solidFill>
                <a:latin typeface="Calibri" pitchFamily="34" charset="0"/>
                <a:ea typeface="Calibri" pitchFamily="34" charset="-122"/>
                <a:cs typeface="Calibri" pitchFamily="34" charset="-120"/>
              </a:rPr>
              <a:t>Integration Endpoints</a:t>
            </a:r>
            <a:endParaRPr lang="en-US" sz="1150" dirty="0"/>
          </a:p>
        </p:txBody>
      </p:sp>
      <p:sp>
        <p:nvSpPr>
          <p:cNvPr id="11" name="Text 9"/>
          <p:cNvSpPr txBox="1"/>
          <p:nvPr/>
        </p:nvSpPr>
        <p:spPr>
          <a:xfrm>
            <a:off x="1005840" y="3127248"/>
            <a:ext cx="2468880" cy="320040"/>
          </a:xfrm>
          <a:prstGeom prst="rect">
            <a:avLst/>
          </a:prstGeom>
          <a:noFill/>
          <a:ln/>
        </p:spPr>
        <p:txBody>
          <a:bodyPr wrap="square" lIns="0" tIns="0" rIns="0" bIns="0" rtlCol="0" anchor="ctr"/>
          <a:lstStyle/>
          <a:p>
            <a:pPr marL="342900" indent="-342900">
              <a:buSzPct val="100000"/>
              <a:buChar char="•"/>
            </a:pPr>
            <a:r>
              <a:rPr lang="en-US" sz="1150" dirty="0">
                <a:solidFill>
                  <a:srgbClr val="232B32"/>
                </a:solidFill>
                <a:latin typeface="Calibri" pitchFamily="34" charset="0"/>
                <a:ea typeface="Calibri" pitchFamily="34" charset="-122"/>
                <a:cs typeface="Calibri" pitchFamily="34" charset="-120"/>
              </a:rPr>
              <a:t>Cache Policies</a:t>
            </a:r>
            <a:endParaRPr lang="en-US" sz="1150" dirty="0"/>
          </a:p>
        </p:txBody>
      </p:sp>
      <p:sp>
        <p:nvSpPr>
          <p:cNvPr id="12" name="Text 10"/>
          <p:cNvSpPr txBox="1"/>
          <p:nvPr/>
        </p:nvSpPr>
        <p:spPr>
          <a:xfrm>
            <a:off x="3520440" y="3127248"/>
            <a:ext cx="2468880" cy="320040"/>
          </a:xfrm>
          <a:prstGeom prst="rect">
            <a:avLst/>
          </a:prstGeom>
          <a:noFill/>
          <a:ln/>
        </p:spPr>
        <p:txBody>
          <a:bodyPr wrap="square" lIns="0" tIns="0" rIns="0" bIns="0" rtlCol="0" anchor="ctr"/>
          <a:lstStyle/>
          <a:p>
            <a:pPr marL="342900" indent="-342900">
              <a:buSzPct val="100000"/>
              <a:buChar char="•"/>
            </a:pPr>
            <a:r>
              <a:rPr lang="en-US" sz="1150" dirty="0">
                <a:solidFill>
                  <a:srgbClr val="232B32"/>
                </a:solidFill>
                <a:latin typeface="Calibri" pitchFamily="34" charset="0"/>
                <a:ea typeface="Calibri" pitchFamily="34" charset="-122"/>
                <a:cs typeface="Calibri" pitchFamily="34" charset="-120"/>
              </a:rPr>
              <a:t>Quota Policies</a:t>
            </a:r>
            <a:endParaRPr lang="en-US" sz="1150" dirty="0"/>
          </a:p>
        </p:txBody>
      </p:sp>
      <p:sp>
        <p:nvSpPr>
          <p:cNvPr id="13" name="Text 11"/>
          <p:cNvSpPr txBox="1"/>
          <p:nvPr/>
        </p:nvSpPr>
        <p:spPr>
          <a:xfrm>
            <a:off x="1005840" y="3511296"/>
            <a:ext cx="2468880" cy="320040"/>
          </a:xfrm>
          <a:prstGeom prst="rect">
            <a:avLst/>
          </a:prstGeom>
          <a:noFill/>
          <a:ln/>
        </p:spPr>
        <p:txBody>
          <a:bodyPr wrap="square" lIns="0" tIns="0" rIns="0" bIns="0" rtlCol="0" anchor="ctr"/>
          <a:lstStyle/>
          <a:p>
            <a:pPr marL="342900" indent="-342900">
              <a:buSzPct val="100000"/>
              <a:buChar char="•"/>
            </a:pPr>
            <a:r>
              <a:rPr lang="en-US" sz="1150" dirty="0">
                <a:solidFill>
                  <a:srgbClr val="232B32"/>
                </a:solidFill>
                <a:latin typeface="Calibri" pitchFamily="34" charset="0"/>
                <a:ea typeface="Calibri" pitchFamily="34" charset="-122"/>
                <a:cs typeface="Calibri" pitchFamily="34" charset="-120"/>
              </a:rPr>
              <a:t>Model Routes</a:t>
            </a:r>
            <a:endParaRPr lang="en-US" sz="1150" dirty="0"/>
          </a:p>
        </p:txBody>
      </p:sp>
      <p:sp>
        <p:nvSpPr>
          <p:cNvPr id="14" name="Text 12"/>
          <p:cNvSpPr txBox="1"/>
          <p:nvPr/>
        </p:nvSpPr>
        <p:spPr>
          <a:xfrm>
            <a:off x="3520440" y="3511296"/>
            <a:ext cx="2468880" cy="320040"/>
          </a:xfrm>
          <a:prstGeom prst="rect">
            <a:avLst/>
          </a:prstGeom>
          <a:noFill/>
          <a:ln/>
        </p:spPr>
        <p:txBody>
          <a:bodyPr wrap="square" lIns="0" tIns="0" rIns="0" bIns="0" rtlCol="0" anchor="ctr"/>
          <a:lstStyle/>
          <a:p>
            <a:pPr marL="342900" indent="-342900">
              <a:buSzPct val="100000"/>
              <a:buChar char="•"/>
            </a:pPr>
            <a:r>
              <a:rPr lang="en-US" sz="1150" dirty="0">
                <a:solidFill>
                  <a:srgbClr val="232B32"/>
                </a:solidFill>
                <a:latin typeface="Calibri" pitchFamily="34" charset="0"/>
                <a:ea typeface="Calibri" pitchFamily="34" charset="-122"/>
                <a:cs typeface="Calibri" pitchFamily="34" charset="-120"/>
              </a:rPr>
              <a:t>Users &amp; warehouse scopes</a:t>
            </a:r>
            <a:endParaRPr lang="en-US" sz="1150" dirty="0"/>
          </a:p>
        </p:txBody>
      </p:sp>
      <p:sp>
        <p:nvSpPr>
          <p:cNvPr id="15" name="Text 13"/>
          <p:cNvSpPr txBox="1"/>
          <p:nvPr/>
        </p:nvSpPr>
        <p:spPr>
          <a:xfrm>
            <a:off x="1005840" y="3895344"/>
            <a:ext cx="2468880" cy="320040"/>
          </a:xfrm>
          <a:prstGeom prst="rect">
            <a:avLst/>
          </a:prstGeom>
          <a:noFill/>
          <a:ln/>
        </p:spPr>
        <p:txBody>
          <a:bodyPr wrap="square" lIns="0" tIns="0" rIns="0" bIns="0" rtlCol="0" anchor="ctr"/>
          <a:lstStyle/>
          <a:p>
            <a:pPr marL="342900" indent="-342900">
              <a:buSzPct val="100000"/>
              <a:buChar char="•"/>
            </a:pPr>
            <a:r>
              <a:rPr lang="en-US" sz="1150" dirty="0">
                <a:solidFill>
                  <a:srgbClr val="232B32"/>
                </a:solidFill>
                <a:latin typeface="Calibri" pitchFamily="34" charset="0"/>
                <a:ea typeface="Calibri" pitchFamily="34" charset="-122"/>
                <a:cs typeface="Calibri" pitchFamily="34" charset="-120"/>
              </a:rPr>
              <a:t>Approval Policies</a:t>
            </a:r>
            <a:endParaRPr lang="en-US" sz="1150" dirty="0"/>
          </a:p>
        </p:txBody>
      </p:sp>
      <p:sp>
        <p:nvSpPr>
          <p:cNvPr id="16" name="Text 14"/>
          <p:cNvSpPr txBox="1"/>
          <p:nvPr/>
        </p:nvSpPr>
        <p:spPr>
          <a:xfrm>
            <a:off x="3520440" y="3895344"/>
            <a:ext cx="2468880" cy="320040"/>
          </a:xfrm>
          <a:prstGeom prst="rect">
            <a:avLst/>
          </a:prstGeom>
          <a:noFill/>
          <a:ln/>
        </p:spPr>
        <p:txBody>
          <a:bodyPr wrap="square" lIns="0" tIns="0" rIns="0" bIns="0" rtlCol="0" anchor="ctr"/>
          <a:lstStyle/>
          <a:p>
            <a:pPr marL="342900" indent="-342900">
              <a:buSzPct val="100000"/>
              <a:buChar char="•"/>
            </a:pPr>
            <a:r>
              <a:rPr lang="en-US" sz="1150" dirty="0">
                <a:solidFill>
                  <a:srgbClr val="232B32"/>
                </a:solidFill>
                <a:latin typeface="Calibri" pitchFamily="34" charset="0"/>
                <a:ea typeface="Calibri" pitchFamily="34" charset="-122"/>
                <a:cs typeface="Calibri" pitchFamily="34" charset="-120"/>
              </a:rPr>
              <a:t>Org Settings</a:t>
            </a:r>
            <a:endParaRPr lang="en-US" sz="1150" dirty="0"/>
          </a:p>
        </p:txBody>
      </p:sp>
      <p:sp>
        <p:nvSpPr>
          <p:cNvPr id="17" name="Text 15"/>
          <p:cNvSpPr txBox="1"/>
          <p:nvPr/>
        </p:nvSpPr>
        <p:spPr>
          <a:xfrm>
            <a:off x="960120" y="5029200"/>
            <a:ext cx="4937760" cy="548640"/>
          </a:xfrm>
          <a:prstGeom prst="rect">
            <a:avLst/>
          </a:prstGeom>
          <a:noFill/>
          <a:ln/>
        </p:spPr>
        <p:txBody>
          <a:bodyPr wrap="square" lIns="0" tIns="0" rIns="0" bIns="0" rtlCol="0" anchor="ctr"/>
          <a:lstStyle/>
          <a:p>
            <a:pPr indent="0" marL="0">
              <a:lnSpc>
                <a:spcPct val="120000"/>
              </a:lnSpc>
              <a:buNone/>
            </a:pPr>
            <a:r>
              <a:rPr lang="en-US" sz="1050" i="1" dirty="0">
                <a:solidFill>
                  <a:srgbClr val="6B7A87"/>
                </a:solidFill>
                <a:latin typeface="Calibri" pitchFamily="34" charset="0"/>
                <a:ea typeface="Calibri" pitchFamily="34" charset="-122"/>
                <a:cs typeface="Calibri" pitchFamily="34" charset="-120"/>
              </a:rPr>
              <a:t>Draft-based editing, the SAP standard: changes are staged, validated on save, and scope-gated throughout.</a:t>
            </a:r>
            <a:endParaRPr lang="en-US" sz="1050" dirty="0"/>
          </a:p>
        </p:txBody>
      </p:sp>
      <p:sp>
        <p:nvSpPr>
          <p:cNvPr id="18" name="Shape 16"/>
          <p:cNvSpPr/>
          <p:nvPr/>
        </p:nvSpPr>
        <p:spPr>
          <a:xfrm>
            <a:off x="6446520" y="1737360"/>
            <a:ext cx="5074920" cy="3977640"/>
          </a:xfrm>
          <a:prstGeom prst="roundRect">
            <a:avLst>
              <a:gd name="adj" fmla="val 1379"/>
            </a:avLst>
          </a:prstGeom>
          <a:solidFill>
            <a:srgbClr val="232B32"/>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19" name="Shape 17"/>
          <p:cNvSpPr/>
          <p:nvPr/>
        </p:nvSpPr>
        <p:spPr>
          <a:xfrm>
            <a:off x="6739128" y="1956816"/>
            <a:ext cx="347472" cy="347472"/>
          </a:xfrm>
          <a:prstGeom prst="ellipse">
            <a:avLst/>
          </a:prstGeom>
          <a:solidFill>
            <a:srgbClr val="2F7A6E"/>
          </a:solidFill>
          <a:ln/>
        </p:spPr>
      </p:sp>
      <p:sp>
        <p:nvSpPr>
          <p:cNvPr id="20" name="Text 18"/>
          <p:cNvSpPr txBox="1"/>
          <p:nvPr/>
        </p:nvSpPr>
        <p:spPr>
          <a:xfrm>
            <a:off x="6739128" y="1956816"/>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1" name="Text 19"/>
          <p:cNvSpPr txBox="1"/>
          <p:nvPr/>
        </p:nvSpPr>
        <p:spPr>
          <a:xfrm>
            <a:off x="7223760" y="1975104"/>
            <a:ext cx="4023360"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Records — 6 screens</a:t>
            </a:r>
            <a:endParaRPr lang="en-US" sz="1600" dirty="0"/>
          </a:p>
        </p:txBody>
      </p:sp>
      <p:sp>
        <p:nvSpPr>
          <p:cNvPr id="22" name="Text 20"/>
          <p:cNvSpPr txBox="1"/>
          <p:nvPr/>
        </p:nvSpPr>
        <p:spPr>
          <a:xfrm>
            <a:off x="7223760" y="2286000"/>
            <a:ext cx="4023360" cy="256032"/>
          </a:xfrm>
          <a:prstGeom prst="rect">
            <a:avLst/>
          </a:prstGeom>
          <a:noFill/>
          <a:ln/>
        </p:spPr>
        <p:txBody>
          <a:bodyPr wrap="square" lIns="0" tIns="0" rIns="0" bIns="0" rtlCol="0" anchor="ctr"/>
          <a:lstStyle/>
          <a:p>
            <a:pPr indent="0" marL="0">
              <a:buNone/>
            </a:pPr>
            <a:r>
              <a:rPr lang="en-US" sz="1050" dirty="0">
                <a:solidFill>
                  <a:srgbClr val="9FB0BB"/>
                </a:solidFill>
                <a:latin typeface="Calibri" pitchFamily="34" charset="0"/>
                <a:ea typeface="Calibri" pitchFamily="34" charset="-122"/>
                <a:cs typeface="Calibri" pitchFamily="34" charset="-120"/>
              </a:rPr>
              <a:t>Read-only, deliberately</a:t>
            </a:r>
            <a:endParaRPr lang="en-US" sz="1050" dirty="0"/>
          </a:p>
        </p:txBody>
      </p:sp>
      <p:sp>
        <p:nvSpPr>
          <p:cNvPr id="23" name="Text 21"/>
          <p:cNvSpPr txBox="1"/>
          <p:nvPr/>
        </p:nvSpPr>
        <p:spPr>
          <a:xfrm>
            <a:off x="6812280" y="2743200"/>
            <a:ext cx="2331720" cy="320040"/>
          </a:xfrm>
          <a:prstGeom prst="rect">
            <a:avLst/>
          </a:prstGeom>
          <a:noFill/>
          <a:ln/>
        </p:spPr>
        <p:txBody>
          <a:bodyPr wrap="square" lIns="0" tIns="0" rIns="0" bIns="0" rtlCol="0" anchor="ctr"/>
          <a:lstStyle/>
          <a:p>
            <a:pPr marL="342900" indent="-342900">
              <a:buSzPct val="100000"/>
              <a:buChar char="•"/>
            </a:pPr>
            <a:r>
              <a:rPr lang="en-US" sz="1150" dirty="0">
                <a:solidFill>
                  <a:srgbClr val="D8DEE3"/>
                </a:solidFill>
                <a:latin typeface="Calibri" pitchFamily="34" charset="0"/>
                <a:ea typeface="Calibri" pitchFamily="34" charset="-122"/>
                <a:cs typeface="Calibri" pitchFamily="34" charset="-120"/>
              </a:rPr>
              <a:t>Session Log</a:t>
            </a:r>
            <a:endParaRPr lang="en-US" sz="1150" dirty="0"/>
          </a:p>
        </p:txBody>
      </p:sp>
      <p:sp>
        <p:nvSpPr>
          <p:cNvPr id="24" name="Text 22"/>
          <p:cNvSpPr txBox="1"/>
          <p:nvPr/>
        </p:nvSpPr>
        <p:spPr>
          <a:xfrm>
            <a:off x="9189720" y="2743200"/>
            <a:ext cx="2331720" cy="320040"/>
          </a:xfrm>
          <a:prstGeom prst="rect">
            <a:avLst/>
          </a:prstGeom>
          <a:noFill/>
          <a:ln/>
        </p:spPr>
        <p:txBody>
          <a:bodyPr wrap="square" lIns="0" tIns="0" rIns="0" bIns="0" rtlCol="0" anchor="ctr"/>
          <a:lstStyle/>
          <a:p>
            <a:pPr marL="342900" indent="-342900">
              <a:buSzPct val="100000"/>
              <a:buChar char="•"/>
            </a:pPr>
            <a:r>
              <a:rPr lang="en-US" sz="1150" dirty="0">
                <a:solidFill>
                  <a:srgbClr val="D8DEE3"/>
                </a:solidFill>
                <a:latin typeface="Calibri" pitchFamily="34" charset="0"/>
                <a:ea typeface="Calibri" pitchFamily="34" charset="-122"/>
                <a:cs typeface="Calibri" pitchFamily="34" charset="-120"/>
              </a:rPr>
              <a:t>Agent Runs</a:t>
            </a:r>
            <a:endParaRPr lang="en-US" sz="1150" dirty="0"/>
          </a:p>
        </p:txBody>
      </p:sp>
      <p:sp>
        <p:nvSpPr>
          <p:cNvPr id="25" name="Text 23"/>
          <p:cNvSpPr txBox="1"/>
          <p:nvPr/>
        </p:nvSpPr>
        <p:spPr>
          <a:xfrm>
            <a:off x="6812280" y="3127248"/>
            <a:ext cx="2331720" cy="320040"/>
          </a:xfrm>
          <a:prstGeom prst="rect">
            <a:avLst/>
          </a:prstGeom>
          <a:noFill/>
          <a:ln/>
        </p:spPr>
        <p:txBody>
          <a:bodyPr wrap="square" lIns="0" tIns="0" rIns="0" bIns="0" rtlCol="0" anchor="ctr"/>
          <a:lstStyle/>
          <a:p>
            <a:pPr marL="342900" indent="-342900">
              <a:buSzPct val="100000"/>
              <a:buChar char="•"/>
            </a:pPr>
            <a:r>
              <a:rPr lang="en-US" sz="1150" dirty="0">
                <a:solidFill>
                  <a:srgbClr val="D8DEE3"/>
                </a:solidFill>
                <a:latin typeface="Calibri" pitchFamily="34" charset="0"/>
                <a:ea typeface="Calibri" pitchFamily="34" charset="-122"/>
                <a:cs typeface="Calibri" pitchFamily="34" charset="-120"/>
              </a:rPr>
              <a:t>Approvals queue</a:t>
            </a:r>
            <a:endParaRPr lang="en-US" sz="1150" dirty="0"/>
          </a:p>
        </p:txBody>
      </p:sp>
      <p:sp>
        <p:nvSpPr>
          <p:cNvPr id="26" name="Text 24"/>
          <p:cNvSpPr txBox="1"/>
          <p:nvPr/>
        </p:nvSpPr>
        <p:spPr>
          <a:xfrm>
            <a:off x="9189720" y="3127248"/>
            <a:ext cx="2331720" cy="320040"/>
          </a:xfrm>
          <a:prstGeom prst="rect">
            <a:avLst/>
          </a:prstGeom>
          <a:noFill/>
          <a:ln/>
        </p:spPr>
        <p:txBody>
          <a:bodyPr wrap="square" lIns="0" tIns="0" rIns="0" bIns="0" rtlCol="0" anchor="ctr"/>
          <a:lstStyle/>
          <a:p>
            <a:pPr marL="342900" indent="-342900">
              <a:buSzPct val="100000"/>
              <a:buChar char="•"/>
            </a:pPr>
            <a:r>
              <a:rPr lang="en-US" sz="1150" dirty="0">
                <a:solidFill>
                  <a:srgbClr val="D8DEE3"/>
                </a:solidFill>
                <a:latin typeface="Calibri" pitchFamily="34" charset="0"/>
                <a:ea typeface="Calibri" pitchFamily="34" charset="-122"/>
                <a:cs typeface="Calibri" pitchFamily="34" charset="-120"/>
              </a:rPr>
              <a:t>Token Usage</a:t>
            </a:r>
            <a:endParaRPr lang="en-US" sz="1150" dirty="0"/>
          </a:p>
        </p:txBody>
      </p:sp>
      <p:sp>
        <p:nvSpPr>
          <p:cNvPr id="27" name="Text 25"/>
          <p:cNvSpPr txBox="1"/>
          <p:nvPr/>
        </p:nvSpPr>
        <p:spPr>
          <a:xfrm>
            <a:off x="6812280" y="3511296"/>
            <a:ext cx="2331720" cy="320040"/>
          </a:xfrm>
          <a:prstGeom prst="rect">
            <a:avLst/>
          </a:prstGeom>
          <a:noFill/>
          <a:ln/>
        </p:spPr>
        <p:txBody>
          <a:bodyPr wrap="square" lIns="0" tIns="0" rIns="0" bIns="0" rtlCol="0" anchor="ctr"/>
          <a:lstStyle/>
          <a:p>
            <a:pPr marL="342900" indent="-342900">
              <a:buSzPct val="100000"/>
              <a:buChar char="•"/>
            </a:pPr>
            <a:r>
              <a:rPr lang="en-US" sz="1150" dirty="0">
                <a:solidFill>
                  <a:srgbClr val="D8DEE3"/>
                </a:solidFill>
                <a:latin typeface="Calibri" pitchFamily="34" charset="0"/>
                <a:ea typeface="Calibri" pitchFamily="34" charset="-122"/>
                <a:cs typeface="Calibri" pitchFamily="34" charset="-120"/>
              </a:rPr>
              <a:t>Cache Effectiveness</a:t>
            </a:r>
            <a:endParaRPr lang="en-US" sz="1150" dirty="0"/>
          </a:p>
        </p:txBody>
      </p:sp>
      <p:sp>
        <p:nvSpPr>
          <p:cNvPr id="28" name="Text 26"/>
          <p:cNvSpPr txBox="1"/>
          <p:nvPr/>
        </p:nvSpPr>
        <p:spPr>
          <a:xfrm>
            <a:off x="9189720" y="3511296"/>
            <a:ext cx="2331720" cy="320040"/>
          </a:xfrm>
          <a:prstGeom prst="rect">
            <a:avLst/>
          </a:prstGeom>
          <a:noFill/>
          <a:ln/>
        </p:spPr>
        <p:txBody>
          <a:bodyPr wrap="square" lIns="0" tIns="0" rIns="0" bIns="0" rtlCol="0" anchor="ctr"/>
          <a:lstStyle/>
          <a:p>
            <a:pPr marL="342900" indent="-342900">
              <a:buSzPct val="100000"/>
              <a:buChar char="•"/>
            </a:pPr>
            <a:r>
              <a:rPr lang="en-US" sz="1150" dirty="0">
                <a:solidFill>
                  <a:srgbClr val="D8DEE3"/>
                </a:solidFill>
                <a:latin typeface="Calibri" pitchFamily="34" charset="0"/>
                <a:ea typeface="Calibri" pitchFamily="34" charset="-122"/>
                <a:cs typeface="Calibri" pitchFamily="34" charset="-120"/>
              </a:rPr>
              <a:t>Connection Tests</a:t>
            </a:r>
            <a:endParaRPr lang="en-US" sz="1150" dirty="0"/>
          </a:p>
        </p:txBody>
      </p:sp>
      <p:sp>
        <p:nvSpPr>
          <p:cNvPr id="29" name="Text 27"/>
          <p:cNvSpPr txBox="1"/>
          <p:nvPr/>
        </p:nvSpPr>
        <p:spPr>
          <a:xfrm>
            <a:off x="6766560" y="4224528"/>
            <a:ext cx="4434840" cy="1188720"/>
          </a:xfrm>
          <a:prstGeom prst="rect">
            <a:avLst/>
          </a:prstGeom>
          <a:noFill/>
          <a:ln/>
        </p:spPr>
        <p:txBody>
          <a:bodyPr wrap="square" lIns="0" tIns="0" rIns="0" bIns="0" rtlCol="0" anchor="ctr"/>
          <a:lstStyle/>
          <a:p>
            <a:pPr indent="0" marL="0">
              <a:lnSpc>
                <a:spcPct val="125000"/>
              </a:lnSpc>
              <a:buNone/>
            </a:pPr>
            <a:r>
              <a:rPr lang="en-US" sz="1100" dirty="0">
                <a:solidFill>
                  <a:srgbClr val="9FB0BB"/>
                </a:solidFill>
                <a:latin typeface="Calibri" pitchFamily="34" charset="0"/>
                <a:ea typeface="Calibri" pitchFamily="34" charset="-122"/>
                <a:cs typeface="Calibri" pitchFamily="34" charset="-120"/>
              </a:rPr>
              <a:t>These are the evidence that a figure came from SAP, that a write was approved by a person, and that a quota was enforced. An audit trail someone can edit is not an audit trail.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indent="0" marL="0">
              <a:buNone/>
            </a:pPr>
            <a:r>
              <a:rPr lang="en-US" sz="3400" b="1" dirty="0">
                <a:solidFill>
                  <a:srgbClr val="232B32"/>
                </a:solidFill>
                <a:latin typeface="Cambria" pitchFamily="34" charset="0"/>
                <a:ea typeface="Cambria" pitchFamily="34" charset="-122"/>
                <a:cs typeface="Cambria" pitchFamily="34" charset="-120"/>
              </a:rPr>
              <a:t>Security, using SAP's own model</a:t>
            </a:r>
            <a:endParaRPr lang="en-US" sz="3400" dirty="0"/>
          </a:p>
        </p:txBody>
      </p:sp>
      <p:sp>
        <p:nvSpPr>
          <p:cNvPr id="3" name="Text 1"/>
          <p:cNvSpPr txBox="1"/>
          <p:nvPr/>
        </p:nvSpPr>
        <p:spPr>
          <a:xfrm>
            <a:off x="640080" y="1060704"/>
            <a:ext cx="10881360" cy="365760"/>
          </a:xfrm>
          <a:prstGeom prst="rect">
            <a:avLst/>
          </a:prstGeom>
          <a:noFill/>
          <a:ln/>
        </p:spPr>
        <p:txBody>
          <a:bodyPr wrap="square" lIns="0" tIns="0" rIns="0" bIns="0" rtlCol="0" anchor="ctr"/>
          <a:lstStyle/>
          <a:p>
            <a:pPr indent="0" marL="0">
              <a:buNone/>
            </a:pPr>
            <a:r>
              <a:rPr lang="en-US" sz="1400" dirty="0">
                <a:solidFill>
                  <a:srgbClr val="6B7A87"/>
                </a:solidFill>
                <a:latin typeface="Calibri" pitchFamily="34" charset="0"/>
                <a:ea typeface="Calibri" pitchFamily="34" charset="-122"/>
                <a:cs typeface="Calibri" pitchFamily="34" charset="-120"/>
              </a:rPr>
              <a:t>Nothing invented where the platform already has an answer</a:t>
            </a:r>
            <a:endParaRPr lang="en-US" sz="1400" dirty="0"/>
          </a:p>
        </p:txBody>
      </p:sp>
      <p:sp>
        <p:nvSpPr>
          <p:cNvPr id="4" name="Shape 2"/>
          <p:cNvSpPr/>
          <p:nvPr/>
        </p:nvSpPr>
        <p:spPr>
          <a:xfrm>
            <a:off x="640080" y="1755648"/>
            <a:ext cx="329184" cy="329184"/>
          </a:xfrm>
          <a:prstGeom prst="ellipse">
            <a:avLst/>
          </a:prstGeom>
          <a:solidFill>
            <a:srgbClr val="232B32"/>
          </a:solidFill>
          <a:ln/>
        </p:spPr>
      </p:sp>
      <p:sp>
        <p:nvSpPr>
          <p:cNvPr id="5" name="Text 3"/>
          <p:cNvSpPr txBox="1"/>
          <p:nvPr/>
        </p:nvSpPr>
        <p:spPr>
          <a:xfrm>
            <a:off x="640080" y="1755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1143000" y="1737360"/>
            <a:ext cx="3200400" cy="365760"/>
          </a:xfrm>
          <a:prstGeom prst="rect">
            <a:avLst/>
          </a:prstGeom>
          <a:noFill/>
          <a:ln/>
        </p:spPr>
        <p:txBody>
          <a:bodyPr wrap="square" lIns="0" tIns="0" rIns="0" bIns="0" rtlCol="0" anchor="ctr"/>
          <a:lstStyle/>
          <a:p>
            <a:pPr indent="0" marL="0">
              <a:buNone/>
            </a:pPr>
            <a:r>
              <a:rPr lang="en-US" sz="1400" b="1" dirty="0">
                <a:solidFill>
                  <a:srgbClr val="232B32"/>
                </a:solidFill>
                <a:latin typeface="Calibri" pitchFamily="34" charset="0"/>
                <a:ea typeface="Calibri" pitchFamily="34" charset="-122"/>
                <a:cs typeface="Calibri" pitchFamily="34" charset="-120"/>
              </a:rPr>
              <a:t>Identity is XSUAA</a:t>
            </a:r>
            <a:endParaRPr lang="en-US" sz="1400" dirty="0"/>
          </a:p>
        </p:txBody>
      </p:sp>
      <p:sp>
        <p:nvSpPr>
          <p:cNvPr id="7" name="Text 5"/>
          <p:cNvSpPr txBox="1"/>
          <p:nvPr/>
        </p:nvSpPr>
        <p:spPr>
          <a:xfrm>
            <a:off x="4114800" y="1764792"/>
            <a:ext cx="7406640" cy="777240"/>
          </a:xfrm>
          <a:prstGeom prst="rect">
            <a:avLst/>
          </a:prstGeom>
          <a:noFill/>
          <a:ln/>
        </p:spPr>
        <p:txBody>
          <a:bodyPr wrap="square" lIns="0" tIns="0" rIns="0" bIns="0" rtlCol="0" anchor="ctr"/>
          <a:lstStyle/>
          <a:p>
            <a:pPr indent="0" marL="0">
              <a:lnSpc>
                <a:spcPct val="120000"/>
              </a:lnSpc>
              <a:buNone/>
            </a:pPr>
            <a:r>
              <a:rPr lang="en-US" sz="1150" dirty="0">
                <a:solidFill>
                  <a:srgbClr val="6B7A87"/>
                </a:solidFill>
                <a:latin typeface="Calibri" pitchFamily="34" charset="0"/>
                <a:ea typeface="Calibri" pitchFamily="34" charset="-122"/>
                <a:cs typeface="Calibri" pitchFamily="34" charset="-120"/>
              </a:rPr>
              <a:t>Single sign-on through the approuter. The application never sees a password and holds no user store.</a:t>
            </a:r>
            <a:endParaRPr lang="en-US" sz="1150" dirty="0"/>
          </a:p>
        </p:txBody>
      </p:sp>
      <p:sp>
        <p:nvSpPr>
          <p:cNvPr id="8" name="Shape 6"/>
          <p:cNvSpPr/>
          <p:nvPr/>
        </p:nvSpPr>
        <p:spPr>
          <a:xfrm>
            <a:off x="640080" y="2651760"/>
            <a:ext cx="329184" cy="329184"/>
          </a:xfrm>
          <a:prstGeom prst="ellipse">
            <a:avLst/>
          </a:prstGeom>
          <a:solidFill>
            <a:srgbClr val="232B32"/>
          </a:solidFill>
          <a:ln/>
        </p:spPr>
      </p:sp>
      <p:sp>
        <p:nvSpPr>
          <p:cNvPr id="9" name="Text 7"/>
          <p:cNvSpPr txBox="1"/>
          <p:nvPr/>
        </p:nvSpPr>
        <p:spPr>
          <a:xfrm>
            <a:off x="640080" y="26517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1143000" y="2633472"/>
            <a:ext cx="3200400" cy="365760"/>
          </a:xfrm>
          <a:prstGeom prst="rect">
            <a:avLst/>
          </a:prstGeom>
          <a:noFill/>
          <a:ln/>
        </p:spPr>
        <p:txBody>
          <a:bodyPr wrap="square" lIns="0" tIns="0" rIns="0" bIns="0" rtlCol="0" anchor="ctr"/>
          <a:lstStyle/>
          <a:p>
            <a:pPr indent="0" marL="0">
              <a:buNone/>
            </a:pPr>
            <a:r>
              <a:rPr lang="en-US" sz="1400" b="1" dirty="0">
                <a:solidFill>
                  <a:srgbClr val="232B32"/>
                </a:solidFill>
                <a:latin typeface="Calibri" pitchFamily="34" charset="0"/>
                <a:ea typeface="Calibri" pitchFamily="34" charset="-122"/>
                <a:cs typeface="Calibri" pitchFamily="34" charset="-120"/>
              </a:rPr>
              <a:t>15 scopes, 4 role collections</a:t>
            </a:r>
            <a:endParaRPr lang="en-US" sz="1400" dirty="0"/>
          </a:p>
        </p:txBody>
      </p:sp>
      <p:sp>
        <p:nvSpPr>
          <p:cNvPr id="11" name="Text 9"/>
          <p:cNvSpPr txBox="1"/>
          <p:nvPr/>
        </p:nvSpPr>
        <p:spPr>
          <a:xfrm>
            <a:off x="4114800" y="2660904"/>
            <a:ext cx="7406640" cy="777240"/>
          </a:xfrm>
          <a:prstGeom prst="rect">
            <a:avLst/>
          </a:prstGeom>
          <a:noFill/>
          <a:ln/>
        </p:spPr>
        <p:txBody>
          <a:bodyPr wrap="square" lIns="0" tIns="0" rIns="0" bIns="0" rtlCol="0" anchor="ctr"/>
          <a:lstStyle/>
          <a:p>
            <a:pPr indent="0" marL="0">
              <a:lnSpc>
                <a:spcPct val="120000"/>
              </a:lnSpc>
              <a:buNone/>
            </a:pPr>
            <a:r>
              <a:rPr lang="en-US" sz="1150" dirty="0">
                <a:solidFill>
                  <a:srgbClr val="6B7A87"/>
                </a:solidFill>
                <a:latin typeface="Calibri" pitchFamily="34" charset="0"/>
                <a:ea typeface="Calibri" pitchFamily="34" charset="-122"/>
                <a:cs typeface="Calibri" pitchFamily="34" charset="-120"/>
              </a:rPr>
              <a:t>Assigned in the BTP cockpit exactly like any other SAP application. Enforced by the framework, not by application code remembering to check.</a:t>
            </a:r>
            <a:endParaRPr lang="en-US" sz="1150" dirty="0"/>
          </a:p>
        </p:txBody>
      </p:sp>
      <p:sp>
        <p:nvSpPr>
          <p:cNvPr id="12" name="Shape 10"/>
          <p:cNvSpPr/>
          <p:nvPr/>
        </p:nvSpPr>
        <p:spPr>
          <a:xfrm>
            <a:off x="640080" y="3547872"/>
            <a:ext cx="329184" cy="329184"/>
          </a:xfrm>
          <a:prstGeom prst="ellipse">
            <a:avLst/>
          </a:prstGeom>
          <a:solidFill>
            <a:srgbClr val="232B32"/>
          </a:solidFill>
          <a:ln/>
        </p:spPr>
      </p:sp>
      <p:sp>
        <p:nvSpPr>
          <p:cNvPr id="13" name="Text 11"/>
          <p:cNvSpPr txBox="1"/>
          <p:nvPr/>
        </p:nvSpPr>
        <p:spPr>
          <a:xfrm>
            <a:off x="640080" y="354787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txBox="1"/>
          <p:nvPr/>
        </p:nvSpPr>
        <p:spPr>
          <a:xfrm>
            <a:off x="1143000" y="3529584"/>
            <a:ext cx="3200400" cy="365760"/>
          </a:xfrm>
          <a:prstGeom prst="rect">
            <a:avLst/>
          </a:prstGeom>
          <a:noFill/>
          <a:ln/>
        </p:spPr>
        <p:txBody>
          <a:bodyPr wrap="square" lIns="0" tIns="0" rIns="0" bIns="0" rtlCol="0" anchor="ctr"/>
          <a:lstStyle/>
          <a:p>
            <a:pPr indent="0" marL="0">
              <a:buNone/>
            </a:pPr>
            <a:r>
              <a:rPr lang="en-US" sz="1400" b="1" dirty="0">
                <a:solidFill>
                  <a:srgbClr val="232B32"/>
                </a:solidFill>
                <a:latin typeface="Calibri" pitchFamily="34" charset="0"/>
                <a:ea typeface="Calibri" pitchFamily="34" charset="-122"/>
                <a:cs typeface="Calibri" pitchFamily="34" charset="-120"/>
              </a:rPr>
              <a:t>Secrets are never stored</a:t>
            </a:r>
            <a:endParaRPr lang="en-US" sz="1400" dirty="0"/>
          </a:p>
        </p:txBody>
      </p:sp>
      <p:sp>
        <p:nvSpPr>
          <p:cNvPr id="15" name="Text 13"/>
          <p:cNvSpPr txBox="1"/>
          <p:nvPr/>
        </p:nvSpPr>
        <p:spPr>
          <a:xfrm>
            <a:off x="4114800" y="3557016"/>
            <a:ext cx="7406640" cy="777240"/>
          </a:xfrm>
          <a:prstGeom prst="rect">
            <a:avLst/>
          </a:prstGeom>
          <a:noFill/>
          <a:ln/>
        </p:spPr>
        <p:txBody>
          <a:bodyPr wrap="square" lIns="0" tIns="0" rIns="0" bIns="0" rtlCol="0" anchor="ctr"/>
          <a:lstStyle/>
          <a:p>
            <a:pPr indent="0" marL="0">
              <a:lnSpc>
                <a:spcPct val="120000"/>
              </a:lnSpc>
              <a:buNone/>
            </a:pPr>
            <a:r>
              <a:rPr lang="en-US" sz="1150" dirty="0">
                <a:solidFill>
                  <a:srgbClr val="6B7A87"/>
                </a:solidFill>
                <a:latin typeface="Calibri" pitchFamily="34" charset="0"/>
                <a:ea typeface="Calibri" pitchFamily="34" charset="-122"/>
                <a:cs typeface="Calibri" pitchFamily="34" charset="-120"/>
              </a:rPr>
              <a:t>Configuration holds the name of an environment variable. The platform holds the value — so a database export carries no credentials.</a:t>
            </a:r>
            <a:endParaRPr lang="en-US" sz="1150" dirty="0"/>
          </a:p>
        </p:txBody>
      </p:sp>
      <p:sp>
        <p:nvSpPr>
          <p:cNvPr id="16" name="Shape 14"/>
          <p:cNvSpPr/>
          <p:nvPr/>
        </p:nvSpPr>
        <p:spPr>
          <a:xfrm>
            <a:off x="640080" y="4443984"/>
            <a:ext cx="329184" cy="329184"/>
          </a:xfrm>
          <a:prstGeom prst="ellipse">
            <a:avLst/>
          </a:prstGeom>
          <a:solidFill>
            <a:srgbClr val="A8322A"/>
          </a:solidFill>
          <a:ln/>
        </p:spPr>
      </p:sp>
      <p:sp>
        <p:nvSpPr>
          <p:cNvPr id="17" name="Text 15"/>
          <p:cNvSpPr txBox="1"/>
          <p:nvPr/>
        </p:nvSpPr>
        <p:spPr>
          <a:xfrm>
            <a:off x="640080" y="444398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6"/>
          <p:cNvSpPr txBox="1"/>
          <p:nvPr/>
        </p:nvSpPr>
        <p:spPr>
          <a:xfrm>
            <a:off x="1143000" y="4425696"/>
            <a:ext cx="3200400" cy="365760"/>
          </a:xfrm>
          <a:prstGeom prst="rect">
            <a:avLst/>
          </a:prstGeom>
          <a:noFill/>
          <a:ln/>
        </p:spPr>
        <p:txBody>
          <a:bodyPr wrap="square" lIns="0" tIns="0" rIns="0" bIns="0" rtlCol="0" anchor="ctr"/>
          <a:lstStyle/>
          <a:p>
            <a:pPr indent="0" marL="0">
              <a:buNone/>
            </a:pPr>
            <a:r>
              <a:rPr lang="en-US" sz="1400" b="1" dirty="0">
                <a:solidFill>
                  <a:srgbClr val="232B32"/>
                </a:solidFill>
                <a:latin typeface="Calibri" pitchFamily="34" charset="0"/>
                <a:ea typeface="Calibri" pitchFamily="34" charset="-122"/>
                <a:cs typeface="Calibri" pitchFamily="34" charset="-120"/>
              </a:rPr>
              <a:t>Writes require a person</a:t>
            </a:r>
            <a:endParaRPr lang="en-US" sz="1400" dirty="0"/>
          </a:p>
        </p:txBody>
      </p:sp>
      <p:sp>
        <p:nvSpPr>
          <p:cNvPr id="19" name="Text 17"/>
          <p:cNvSpPr txBox="1"/>
          <p:nvPr/>
        </p:nvSpPr>
        <p:spPr>
          <a:xfrm>
            <a:off x="4114800" y="4453128"/>
            <a:ext cx="7406640" cy="777240"/>
          </a:xfrm>
          <a:prstGeom prst="rect">
            <a:avLst/>
          </a:prstGeom>
          <a:noFill/>
          <a:ln/>
        </p:spPr>
        <p:txBody>
          <a:bodyPr wrap="square" lIns="0" tIns="0" rIns="0" bIns="0" rtlCol="0" anchor="ctr"/>
          <a:lstStyle/>
          <a:p>
            <a:pPr indent="0" marL="0">
              <a:lnSpc>
                <a:spcPct val="120000"/>
              </a:lnSpc>
              <a:buNone/>
            </a:pPr>
            <a:r>
              <a:rPr lang="en-US" sz="1150" dirty="0">
                <a:solidFill>
                  <a:srgbClr val="6B7A87"/>
                </a:solidFill>
                <a:latin typeface="Calibri" pitchFamily="34" charset="0"/>
                <a:ea typeface="Calibri" pitchFamily="34" charset="-122"/>
                <a:cs typeface="Calibri" pitchFamily="34" charset="-120"/>
              </a:rPr>
              <a:t>Not a setting that can be switched off. The loop physically stops and returns a card.</a:t>
            </a:r>
            <a:endParaRPr lang="en-US" sz="1150" dirty="0"/>
          </a:p>
        </p:txBody>
      </p:sp>
      <p:sp>
        <p:nvSpPr>
          <p:cNvPr id="20" name="Shape 18"/>
          <p:cNvSpPr/>
          <p:nvPr/>
        </p:nvSpPr>
        <p:spPr>
          <a:xfrm>
            <a:off x="640080" y="5340096"/>
            <a:ext cx="329184" cy="329184"/>
          </a:xfrm>
          <a:prstGeom prst="ellipse">
            <a:avLst/>
          </a:prstGeom>
          <a:solidFill>
            <a:srgbClr val="232B32"/>
          </a:solidFill>
          <a:ln/>
        </p:spPr>
      </p:sp>
      <p:sp>
        <p:nvSpPr>
          <p:cNvPr id="21" name="Text 19"/>
          <p:cNvSpPr txBox="1"/>
          <p:nvPr/>
        </p:nvSpPr>
        <p:spPr>
          <a:xfrm>
            <a:off x="640080" y="534009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2" name="Text 20"/>
          <p:cNvSpPr txBox="1"/>
          <p:nvPr/>
        </p:nvSpPr>
        <p:spPr>
          <a:xfrm>
            <a:off x="1143000" y="5321808"/>
            <a:ext cx="3200400" cy="365760"/>
          </a:xfrm>
          <a:prstGeom prst="rect">
            <a:avLst/>
          </a:prstGeom>
          <a:noFill/>
          <a:ln/>
        </p:spPr>
        <p:txBody>
          <a:bodyPr wrap="square" lIns="0" tIns="0" rIns="0" bIns="0" rtlCol="0" anchor="ctr"/>
          <a:lstStyle/>
          <a:p>
            <a:pPr indent="0" marL="0">
              <a:buNone/>
            </a:pPr>
            <a:r>
              <a:rPr lang="en-US" sz="1400" b="1" dirty="0">
                <a:solidFill>
                  <a:srgbClr val="232B32"/>
                </a:solidFill>
                <a:latin typeface="Calibri" pitchFamily="34" charset="0"/>
                <a:ea typeface="Calibri" pitchFamily="34" charset="-122"/>
                <a:cs typeface="Calibri" pitchFamily="34" charset="-120"/>
              </a:rPr>
              <a:t>Everything is audited</a:t>
            </a:r>
            <a:endParaRPr lang="en-US" sz="1400" dirty="0"/>
          </a:p>
        </p:txBody>
      </p:sp>
      <p:sp>
        <p:nvSpPr>
          <p:cNvPr id="23" name="Text 21"/>
          <p:cNvSpPr txBox="1"/>
          <p:nvPr/>
        </p:nvSpPr>
        <p:spPr>
          <a:xfrm>
            <a:off x="4114800" y="5349240"/>
            <a:ext cx="7406640" cy="777240"/>
          </a:xfrm>
          <a:prstGeom prst="rect">
            <a:avLst/>
          </a:prstGeom>
          <a:noFill/>
          <a:ln/>
        </p:spPr>
        <p:txBody>
          <a:bodyPr wrap="square" lIns="0" tIns="0" rIns="0" bIns="0" rtlCol="0" anchor="ctr"/>
          <a:lstStyle/>
          <a:p>
            <a:pPr indent="0" marL="0">
              <a:lnSpc>
                <a:spcPct val="120000"/>
              </a:lnSpc>
              <a:buNone/>
            </a:pPr>
            <a:r>
              <a:rPr lang="en-US" sz="1150" dirty="0">
                <a:solidFill>
                  <a:srgbClr val="6B7A87"/>
                </a:solidFill>
                <a:latin typeface="Calibri" pitchFamily="34" charset="0"/>
                <a:ea typeface="Calibri" pitchFamily="34" charset="-122"/>
                <a:cs typeface="Calibri" pitchFamily="34" charset="-120"/>
              </a:rPr>
              <a:t>One row per request on every path, including refusals, with the tool steps underneath.</a:t>
            </a:r>
            <a:endParaRPr lang="en-US" sz="1150" dirty="0"/>
          </a:p>
        </p:txBody>
      </p:sp>
      <p:sp>
        <p:nvSpPr>
          <p:cNvPr id="24" name="Text 22"/>
          <p:cNvSpPr txBox="1"/>
          <p:nvPr/>
        </p:nvSpPr>
        <p:spPr>
          <a:xfrm>
            <a:off x="640080" y="6172200"/>
            <a:ext cx="10881360" cy="457200"/>
          </a:xfrm>
          <a:prstGeom prst="rect">
            <a:avLst/>
          </a:prstGeom>
          <a:noFill/>
          <a:ln/>
        </p:spPr>
        <p:txBody>
          <a:bodyPr wrap="square" lIns="0" tIns="0" rIns="0" bIns="0" rtlCol="0" anchor="ctr"/>
          <a:lstStyle/>
          <a:p>
            <a:pPr indent="0" marL="0">
              <a:buNone/>
            </a:pPr>
            <a:r>
              <a:rPr lang="en-US" sz="1200" i="1" dirty="0">
                <a:solidFill>
                  <a:srgbClr val="232B32"/>
                </a:solidFill>
                <a:latin typeface="Calibri" pitchFamily="34" charset="0"/>
                <a:ea typeface="Calibri" pitchFamily="34" charset="-122"/>
                <a:cs typeface="Calibri" pitchFamily="34" charset="-120"/>
              </a:rPr>
              <a:t>Two authorities, deliberately: a scope says what you may call; a warehouse scope says which plant you may write to. A supervisor can read every figure in a plant and still not move a pallet in it.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indent="0" marL="0">
              <a:buNone/>
            </a:pPr>
            <a:r>
              <a:rPr lang="en-US" sz="3400" b="1" dirty="0">
                <a:solidFill>
                  <a:srgbClr val="232B32"/>
                </a:solidFill>
                <a:latin typeface="Cambria" pitchFamily="34" charset="0"/>
                <a:ea typeface="Cambria" pitchFamily="34" charset="-122"/>
                <a:cs typeface="Cambria" pitchFamily="34" charset="-120"/>
              </a:rPr>
              <a:t>Cost is designed in, not monitored afterwards</a:t>
            </a:r>
            <a:endParaRPr lang="en-US" sz="3400" dirty="0"/>
          </a:p>
        </p:txBody>
      </p:sp>
      <p:sp>
        <p:nvSpPr>
          <p:cNvPr id="3" name="Text 1"/>
          <p:cNvSpPr txBox="1"/>
          <p:nvPr/>
        </p:nvSpPr>
        <p:spPr>
          <a:xfrm>
            <a:off x="640080" y="1060704"/>
            <a:ext cx="10881360" cy="365760"/>
          </a:xfrm>
          <a:prstGeom prst="rect">
            <a:avLst/>
          </a:prstGeom>
          <a:noFill/>
          <a:ln/>
        </p:spPr>
        <p:txBody>
          <a:bodyPr wrap="square" lIns="0" tIns="0" rIns="0" bIns="0" rtlCol="0" anchor="ctr"/>
          <a:lstStyle/>
          <a:p>
            <a:pPr indent="0" marL="0">
              <a:buNone/>
            </a:pPr>
            <a:r>
              <a:rPr lang="en-US" sz="1400" dirty="0">
                <a:solidFill>
                  <a:srgbClr val="6B7A87"/>
                </a:solidFill>
                <a:latin typeface="Calibri" pitchFamily="34" charset="0"/>
                <a:ea typeface="Calibri" pitchFamily="34" charset="-122"/>
                <a:cs typeface="Calibri" pitchFamily="34" charset="-120"/>
              </a:rPr>
              <a:t>Three mechanisms, each of which refuses spend before it happens</a:t>
            </a:r>
            <a:endParaRPr lang="en-US" sz="1400" dirty="0"/>
          </a:p>
        </p:txBody>
      </p:sp>
      <p:sp>
        <p:nvSpPr>
          <p:cNvPr id="4" name="Shape 2"/>
          <p:cNvSpPr/>
          <p:nvPr/>
        </p:nvSpPr>
        <p:spPr>
          <a:xfrm>
            <a:off x="640080" y="1783080"/>
            <a:ext cx="3429000" cy="3566160"/>
          </a:xfrm>
          <a:prstGeom prst="roundRect">
            <a:avLst>
              <a:gd name="adj" fmla="val 1600"/>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5" name="Text 3"/>
          <p:cNvSpPr txBox="1"/>
          <p:nvPr/>
        </p:nvSpPr>
        <p:spPr>
          <a:xfrm>
            <a:off x="914400" y="2011680"/>
            <a:ext cx="2880360" cy="1051560"/>
          </a:xfrm>
          <a:prstGeom prst="rect">
            <a:avLst/>
          </a:prstGeom>
          <a:noFill/>
          <a:ln/>
        </p:spPr>
        <p:txBody>
          <a:bodyPr wrap="square" lIns="0" tIns="0" rIns="0" bIns="0" rtlCol="0" anchor="ctr"/>
          <a:lstStyle/>
          <a:p>
            <a:pPr indent="0" marL="0">
              <a:buNone/>
            </a:pPr>
            <a:r>
              <a:rPr lang="en-US" sz="6400" b="1" dirty="0">
                <a:solidFill>
                  <a:srgbClr val="E08A1E"/>
                </a:solidFill>
                <a:latin typeface="Cambria" pitchFamily="34" charset="0"/>
                <a:ea typeface="Cambria" pitchFamily="34" charset="-122"/>
                <a:cs typeface="Cambria" pitchFamily="34" charset="-120"/>
              </a:rPr>
              <a:t>50</a:t>
            </a:r>
            <a:endParaRPr lang="en-US" sz="6400" dirty="0"/>
          </a:p>
        </p:txBody>
      </p:sp>
      <p:sp>
        <p:nvSpPr>
          <p:cNvPr id="6" name="Text 4"/>
          <p:cNvSpPr txBox="1"/>
          <p:nvPr/>
        </p:nvSpPr>
        <p:spPr>
          <a:xfrm>
            <a:off x="914400" y="3072384"/>
            <a:ext cx="2880360" cy="411480"/>
          </a:xfrm>
          <a:prstGeom prst="rect">
            <a:avLst/>
          </a:prstGeom>
          <a:noFill/>
          <a:ln/>
        </p:spPr>
        <p:txBody>
          <a:bodyPr wrap="square" lIns="0" tIns="0" rIns="0" bIns="0" rtlCol="0" anchor="ctr"/>
          <a:lstStyle/>
          <a:p>
            <a:pPr indent="0" marL="0">
              <a:lnSpc>
                <a:spcPct val="110000"/>
              </a:lnSpc>
              <a:buNone/>
            </a:pPr>
            <a:r>
              <a:rPr lang="en-US" sz="1300" b="1" dirty="0">
                <a:solidFill>
                  <a:srgbClr val="232B32"/>
                </a:solidFill>
                <a:latin typeface="Calibri" pitchFamily="34" charset="0"/>
                <a:ea typeface="Calibri" pitchFamily="34" charset="-122"/>
                <a:cs typeface="Calibri" pitchFamily="34" charset="-120"/>
              </a:rPr>
              <a:t>questions per user per day</a:t>
            </a:r>
            <a:endParaRPr lang="en-US" sz="1300" dirty="0"/>
          </a:p>
        </p:txBody>
      </p:sp>
      <p:sp>
        <p:nvSpPr>
          <p:cNvPr id="7" name="Text 5"/>
          <p:cNvSpPr txBox="1"/>
          <p:nvPr/>
        </p:nvSpPr>
        <p:spPr>
          <a:xfrm>
            <a:off x="914400" y="3529584"/>
            <a:ext cx="2880360" cy="1554480"/>
          </a:xfrm>
          <a:prstGeom prst="rect">
            <a:avLst/>
          </a:prstGeom>
          <a:noFill/>
          <a:ln/>
        </p:spPr>
        <p:txBody>
          <a:bodyPr wrap="square" lIns="0" tIns="0" rIns="0" bIns="0" rtlCol="0" anchor="ctr"/>
          <a:lstStyle/>
          <a:p>
            <a:pPr indent="0" marL="0">
              <a:lnSpc>
                <a:spcPct val="125000"/>
              </a:lnSpc>
              <a:buNone/>
            </a:pPr>
            <a:r>
              <a:rPr lang="en-US" sz="1100" dirty="0">
                <a:solidFill>
                  <a:srgbClr val="6B7A87"/>
                </a:solidFill>
                <a:latin typeface="Calibri" pitchFamily="34" charset="0"/>
                <a:ea typeface="Calibri" pitchFamily="34" charset="-122"/>
                <a:cs typeface="Calibri" pitchFamily="34" charset="-120"/>
              </a:rPr>
              <a:t>The shipped default — daily, weekly and monthly caps per user, per role, or organisation-wide. Enforced in the database, so concurrency cannot exceed it.</a:t>
            </a:r>
            <a:endParaRPr lang="en-US" sz="1100" dirty="0"/>
          </a:p>
        </p:txBody>
      </p:sp>
      <p:sp>
        <p:nvSpPr>
          <p:cNvPr id="8" name="Shape 6"/>
          <p:cNvSpPr/>
          <p:nvPr/>
        </p:nvSpPr>
        <p:spPr>
          <a:xfrm>
            <a:off x="4352544" y="1783080"/>
            <a:ext cx="3429000" cy="3566160"/>
          </a:xfrm>
          <a:prstGeom prst="roundRect">
            <a:avLst>
              <a:gd name="adj" fmla="val 1600"/>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9" name="Text 7"/>
          <p:cNvSpPr txBox="1"/>
          <p:nvPr/>
        </p:nvSpPr>
        <p:spPr>
          <a:xfrm>
            <a:off x="4626864" y="2011680"/>
            <a:ext cx="2880360" cy="1051560"/>
          </a:xfrm>
          <a:prstGeom prst="rect">
            <a:avLst/>
          </a:prstGeom>
          <a:noFill/>
          <a:ln/>
        </p:spPr>
        <p:txBody>
          <a:bodyPr wrap="square" lIns="0" tIns="0" rIns="0" bIns="0" rtlCol="0" anchor="ctr"/>
          <a:lstStyle/>
          <a:p>
            <a:pPr indent="0" marL="0">
              <a:buNone/>
            </a:pPr>
            <a:r>
              <a:rPr lang="en-US" sz="6400" b="1" dirty="0">
                <a:solidFill>
                  <a:srgbClr val="E08A1E"/>
                </a:solidFill>
                <a:latin typeface="Cambria" pitchFamily="34" charset="0"/>
                <a:ea typeface="Cambria" pitchFamily="34" charset="-122"/>
                <a:cs typeface="Cambria" pitchFamily="34" charset="-120"/>
              </a:rPr>
              <a:t>0</a:t>
            </a:r>
            <a:endParaRPr lang="en-US" sz="6400" dirty="0"/>
          </a:p>
        </p:txBody>
      </p:sp>
      <p:sp>
        <p:nvSpPr>
          <p:cNvPr id="10" name="Text 8"/>
          <p:cNvSpPr txBox="1"/>
          <p:nvPr/>
        </p:nvSpPr>
        <p:spPr>
          <a:xfrm>
            <a:off x="4626864" y="3072384"/>
            <a:ext cx="2880360" cy="411480"/>
          </a:xfrm>
          <a:prstGeom prst="rect">
            <a:avLst/>
          </a:prstGeom>
          <a:noFill/>
          <a:ln/>
        </p:spPr>
        <p:txBody>
          <a:bodyPr wrap="square" lIns="0" tIns="0" rIns="0" bIns="0" rtlCol="0" anchor="ctr"/>
          <a:lstStyle/>
          <a:p>
            <a:pPr indent="0" marL="0">
              <a:lnSpc>
                <a:spcPct val="110000"/>
              </a:lnSpc>
              <a:buNone/>
            </a:pPr>
            <a:r>
              <a:rPr lang="en-US" sz="1300" b="1" dirty="0">
                <a:solidFill>
                  <a:srgbClr val="232B32"/>
                </a:solidFill>
                <a:latin typeface="Calibri" pitchFamily="34" charset="0"/>
                <a:ea typeface="Calibri" pitchFamily="34" charset="-122"/>
                <a:cs typeface="Calibri" pitchFamily="34" charset="-120"/>
              </a:rPr>
              <a:t>model calls on a repeat</a:t>
            </a:r>
            <a:endParaRPr lang="en-US" sz="1300" dirty="0"/>
          </a:p>
        </p:txBody>
      </p:sp>
      <p:sp>
        <p:nvSpPr>
          <p:cNvPr id="11" name="Text 9"/>
          <p:cNvSpPr txBox="1"/>
          <p:nvPr/>
        </p:nvSpPr>
        <p:spPr>
          <a:xfrm>
            <a:off x="4626864" y="3529584"/>
            <a:ext cx="2880360" cy="1554480"/>
          </a:xfrm>
          <a:prstGeom prst="rect">
            <a:avLst/>
          </a:prstGeom>
          <a:noFill/>
          <a:ln/>
        </p:spPr>
        <p:txBody>
          <a:bodyPr wrap="square" lIns="0" tIns="0" rIns="0" bIns="0" rtlCol="0" anchor="ctr"/>
          <a:lstStyle/>
          <a:p>
            <a:pPr indent="0" marL="0">
              <a:lnSpc>
                <a:spcPct val="125000"/>
              </a:lnSpc>
              <a:buNone/>
            </a:pPr>
            <a:r>
              <a:rPr lang="en-US" sz="1100" dirty="0">
                <a:solidFill>
                  <a:srgbClr val="6B7A87"/>
                </a:solidFill>
                <a:latin typeface="Calibri" pitchFamily="34" charset="0"/>
                <a:ea typeface="Calibri" pitchFamily="34" charset="-122"/>
                <a:cs typeface="Calibri" pitchFamily="34" charset="-120"/>
              </a:rPr>
              <a:t>A repeated question inside its lifetime costs no model call and no SAP call. Fifteen minutes by default; ten for deliveries; clamped to midnight for anything asked about “today”.</a:t>
            </a:r>
            <a:endParaRPr lang="en-US" sz="1100" dirty="0"/>
          </a:p>
        </p:txBody>
      </p:sp>
      <p:sp>
        <p:nvSpPr>
          <p:cNvPr id="12" name="Shape 10"/>
          <p:cNvSpPr/>
          <p:nvPr/>
        </p:nvSpPr>
        <p:spPr>
          <a:xfrm>
            <a:off x="8065008" y="1783080"/>
            <a:ext cx="3429000" cy="3566160"/>
          </a:xfrm>
          <a:prstGeom prst="roundRect">
            <a:avLst>
              <a:gd name="adj" fmla="val 1600"/>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13" name="Text 11"/>
          <p:cNvSpPr txBox="1"/>
          <p:nvPr/>
        </p:nvSpPr>
        <p:spPr>
          <a:xfrm>
            <a:off x="8339328" y="2011680"/>
            <a:ext cx="2880360" cy="1051560"/>
          </a:xfrm>
          <a:prstGeom prst="rect">
            <a:avLst/>
          </a:prstGeom>
          <a:noFill/>
          <a:ln/>
        </p:spPr>
        <p:txBody>
          <a:bodyPr wrap="square" lIns="0" tIns="0" rIns="0" bIns="0" rtlCol="0" anchor="ctr"/>
          <a:lstStyle/>
          <a:p>
            <a:pPr indent="0" marL="0">
              <a:buNone/>
            </a:pPr>
            <a:r>
              <a:rPr lang="en-US" sz="6400" b="1" dirty="0">
                <a:solidFill>
                  <a:srgbClr val="E08A1E"/>
                </a:solidFill>
                <a:latin typeface="Cambria" pitchFamily="34" charset="0"/>
                <a:ea typeface="Cambria" pitchFamily="34" charset="-122"/>
                <a:cs typeface="Cambria" pitchFamily="34" charset="-120"/>
              </a:rPr>
              <a:t>3</a:t>
            </a:r>
            <a:endParaRPr lang="en-US" sz="6400" dirty="0"/>
          </a:p>
        </p:txBody>
      </p:sp>
      <p:sp>
        <p:nvSpPr>
          <p:cNvPr id="14" name="Text 12"/>
          <p:cNvSpPr txBox="1"/>
          <p:nvPr/>
        </p:nvSpPr>
        <p:spPr>
          <a:xfrm>
            <a:off x="8339328" y="3072384"/>
            <a:ext cx="2880360" cy="411480"/>
          </a:xfrm>
          <a:prstGeom prst="rect">
            <a:avLst/>
          </a:prstGeom>
          <a:noFill/>
          <a:ln/>
        </p:spPr>
        <p:txBody>
          <a:bodyPr wrap="square" lIns="0" tIns="0" rIns="0" bIns="0" rtlCol="0" anchor="ctr"/>
          <a:lstStyle/>
          <a:p>
            <a:pPr indent="0" marL="0">
              <a:lnSpc>
                <a:spcPct val="110000"/>
              </a:lnSpc>
              <a:buNone/>
            </a:pPr>
            <a:r>
              <a:rPr lang="en-US" sz="1300" b="1" dirty="0">
                <a:solidFill>
                  <a:srgbClr val="232B32"/>
                </a:solidFill>
                <a:latin typeface="Calibri" pitchFamily="34" charset="0"/>
                <a:ea typeface="Calibri" pitchFamily="34" charset="-122"/>
                <a:cs typeface="Calibri" pitchFamily="34" charset="-120"/>
              </a:rPr>
              <a:t>tiers before a paid call</a:t>
            </a:r>
            <a:endParaRPr lang="en-US" sz="1300" dirty="0"/>
          </a:p>
        </p:txBody>
      </p:sp>
      <p:sp>
        <p:nvSpPr>
          <p:cNvPr id="15" name="Text 13"/>
          <p:cNvSpPr txBox="1"/>
          <p:nvPr/>
        </p:nvSpPr>
        <p:spPr>
          <a:xfrm>
            <a:off x="8339328" y="3529584"/>
            <a:ext cx="2880360" cy="1554480"/>
          </a:xfrm>
          <a:prstGeom prst="rect">
            <a:avLst/>
          </a:prstGeom>
          <a:noFill/>
          <a:ln/>
        </p:spPr>
        <p:txBody>
          <a:bodyPr wrap="square" lIns="0" tIns="0" rIns="0" bIns="0" rtlCol="0" anchor="ctr"/>
          <a:lstStyle/>
          <a:p>
            <a:pPr indent="0" marL="0">
              <a:lnSpc>
                <a:spcPct val="125000"/>
              </a:lnSpc>
              <a:buNone/>
            </a:pPr>
            <a:r>
              <a:rPr lang="en-US" sz="1100" dirty="0">
                <a:solidFill>
                  <a:srgbClr val="6B7A87"/>
                </a:solidFill>
                <a:latin typeface="Calibri" pitchFamily="34" charset="0"/>
                <a:ea typeface="Calibri" pitchFamily="34" charset="-122"/>
                <a:cs typeface="Calibri" pitchFamily="34" charset="-120"/>
              </a:rPr>
              <a:t>Free models first, each in turn. The paid key is the next rung, not the first. An offline provider below that still answers from real tool output.</a:t>
            </a:r>
            <a:endParaRPr lang="en-US" sz="1100" dirty="0"/>
          </a:p>
        </p:txBody>
      </p:sp>
      <p:sp>
        <p:nvSpPr>
          <p:cNvPr id="16" name="Text 14"/>
          <p:cNvSpPr txBox="1"/>
          <p:nvPr/>
        </p:nvSpPr>
        <p:spPr>
          <a:xfrm>
            <a:off x="640080" y="5623560"/>
            <a:ext cx="10881360" cy="548640"/>
          </a:xfrm>
          <a:prstGeom prst="rect">
            <a:avLst/>
          </a:prstGeom>
          <a:noFill/>
          <a:ln/>
        </p:spPr>
        <p:txBody>
          <a:bodyPr wrap="square" lIns="0" tIns="0" rIns="0" bIns="0" rtlCol="0" anchor="ctr"/>
          <a:lstStyle/>
          <a:p>
            <a:pPr indent="0" marL="0">
              <a:lnSpc>
                <a:spcPct val="120000"/>
              </a:lnSpc>
              <a:buNone/>
            </a:pPr>
            <a:r>
              <a:rPr lang="en-US" sz="1250" i="1" dirty="0">
                <a:solidFill>
                  <a:srgbClr val="232B32"/>
                </a:solidFill>
                <a:latin typeface="Calibri" pitchFamily="34" charset="0"/>
                <a:ea typeface="Calibri" pitchFamily="34" charset="-122"/>
                <a:cs typeface="Calibri" pitchFamily="34" charset="-120"/>
              </a:rPr>
              <a:t>Running today on free-tier models and a BTP trial. No per-seat licence and no per-question charge — with a paid key configured only as the fallback when free capacity runs out.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indent="0" marL="0">
              <a:buNone/>
            </a:pPr>
            <a:r>
              <a:rPr lang="en-US" sz="3400" b="1" dirty="0">
                <a:solidFill>
                  <a:srgbClr val="232B32"/>
                </a:solidFill>
                <a:latin typeface="Cambria" pitchFamily="34" charset="0"/>
                <a:ea typeface="Cambria" pitchFamily="34" charset="-122"/>
                <a:cs typeface="Cambria" pitchFamily="34" charset="-120"/>
              </a:rPr>
              <a:t>Why FactoryPilot</a:t>
            </a:r>
            <a:endParaRPr lang="en-US" sz="3400" dirty="0"/>
          </a:p>
        </p:txBody>
      </p:sp>
      <p:sp>
        <p:nvSpPr>
          <p:cNvPr id="3" name="Text 1"/>
          <p:cNvSpPr txBox="1"/>
          <p:nvPr/>
        </p:nvSpPr>
        <p:spPr>
          <a:xfrm>
            <a:off x="640080" y="1060704"/>
            <a:ext cx="10881360" cy="365760"/>
          </a:xfrm>
          <a:prstGeom prst="rect">
            <a:avLst/>
          </a:prstGeom>
          <a:noFill/>
          <a:ln/>
        </p:spPr>
        <p:txBody>
          <a:bodyPr wrap="square" lIns="0" tIns="0" rIns="0" bIns="0" rtlCol="0" anchor="ctr"/>
          <a:lstStyle/>
          <a:p>
            <a:pPr indent="0" marL="0">
              <a:buNone/>
            </a:pPr>
            <a:r>
              <a:rPr lang="en-US" sz="1400" dirty="0">
                <a:solidFill>
                  <a:srgbClr val="6B7A87"/>
                </a:solidFill>
                <a:latin typeface="Calibri" pitchFamily="34" charset="0"/>
                <a:ea typeface="Calibri" pitchFamily="34" charset="-122"/>
                <a:cs typeface="Calibri" pitchFamily="34" charset="-120"/>
              </a:rPr>
              <a:t>What a client actually gets</a:t>
            </a:r>
            <a:endParaRPr lang="en-US" sz="1400" dirty="0"/>
          </a:p>
        </p:txBody>
      </p:sp>
      <p:sp>
        <p:nvSpPr>
          <p:cNvPr id="4" name="Shape 2"/>
          <p:cNvSpPr/>
          <p:nvPr/>
        </p:nvSpPr>
        <p:spPr>
          <a:xfrm>
            <a:off x="640080" y="1691640"/>
            <a:ext cx="5303520" cy="1353312"/>
          </a:xfrm>
          <a:prstGeom prst="roundRect">
            <a:avLst>
              <a:gd name="adj" fmla="val 4054"/>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5" name="Shape 3"/>
          <p:cNvSpPr/>
          <p:nvPr/>
        </p:nvSpPr>
        <p:spPr>
          <a:xfrm>
            <a:off x="896112" y="1911096"/>
            <a:ext cx="310896" cy="310896"/>
          </a:xfrm>
          <a:prstGeom prst="ellipse">
            <a:avLst/>
          </a:prstGeom>
          <a:solidFill>
            <a:srgbClr val="2F7A6E"/>
          </a:solidFill>
          <a:ln/>
        </p:spPr>
      </p:sp>
      <p:sp>
        <p:nvSpPr>
          <p:cNvPr id="6" name="Text 4"/>
          <p:cNvSpPr txBox="1"/>
          <p:nvPr/>
        </p:nvSpPr>
        <p:spPr>
          <a:xfrm>
            <a:off x="896112" y="191109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 name="Text 5"/>
          <p:cNvSpPr txBox="1"/>
          <p:nvPr/>
        </p:nvSpPr>
        <p:spPr>
          <a:xfrm>
            <a:off x="1307592" y="1874520"/>
            <a:ext cx="4434840" cy="292608"/>
          </a:xfrm>
          <a:prstGeom prst="rect">
            <a:avLst/>
          </a:prstGeom>
          <a:noFill/>
          <a:ln/>
        </p:spPr>
        <p:txBody>
          <a:bodyPr wrap="square" lIns="0" tIns="0" rIns="0" bIns="0" rtlCol="0" anchor="ctr"/>
          <a:lstStyle/>
          <a:p>
            <a:pPr indent="0" marL="0">
              <a:buNone/>
            </a:pPr>
            <a:r>
              <a:rPr lang="en-US" sz="1350" b="1" dirty="0">
                <a:solidFill>
                  <a:srgbClr val="232B32"/>
                </a:solidFill>
                <a:latin typeface="Calibri" pitchFamily="34" charset="0"/>
                <a:ea typeface="Calibri" pitchFamily="34" charset="-122"/>
                <a:cs typeface="Calibri" pitchFamily="34" charset="-120"/>
              </a:rPr>
              <a:t>Native to SAP, not adjacent to it</a:t>
            </a:r>
            <a:endParaRPr lang="en-US" sz="1350" dirty="0"/>
          </a:p>
        </p:txBody>
      </p:sp>
      <p:sp>
        <p:nvSpPr>
          <p:cNvPr id="8" name="Text 6"/>
          <p:cNvSpPr txBox="1"/>
          <p:nvPr/>
        </p:nvSpPr>
        <p:spPr>
          <a:xfrm>
            <a:off x="1307592" y="2203704"/>
            <a:ext cx="4434840" cy="777240"/>
          </a:xfrm>
          <a:prstGeom prst="rect">
            <a:avLst/>
          </a:prstGeom>
          <a:noFill/>
          <a:ln/>
        </p:spPr>
        <p:txBody>
          <a:bodyPr wrap="square" lIns="0" tIns="0" rIns="0" bIns="0" rtlCol="0" anchor="ctr"/>
          <a:lstStyle/>
          <a:p>
            <a:pPr indent="0" marL="0">
              <a:lnSpc>
                <a:spcPct val="120000"/>
              </a:lnSpc>
              <a:buNone/>
            </a:pPr>
            <a:r>
              <a:rPr lang="en-US" sz="1050" dirty="0">
                <a:solidFill>
                  <a:srgbClr val="6B7A87"/>
                </a:solidFill>
                <a:latin typeface="Calibri" pitchFamily="34" charset="0"/>
                <a:ea typeface="Calibri" pitchFamily="34" charset="-122"/>
                <a:cs typeface="Calibri" pitchFamily="34" charset="-120"/>
              </a:rPr>
              <a:t>SAP CAP, SAP BTP, Fiori, XSUAA, SAP Graph. No new vendor to assess, no second identity provider, no separate place to manage users. Deployed and monitored by the team already running your platform.</a:t>
            </a:r>
            <a:endParaRPr lang="en-US" sz="1050" dirty="0"/>
          </a:p>
        </p:txBody>
      </p:sp>
      <p:sp>
        <p:nvSpPr>
          <p:cNvPr id="9" name="Shape 7"/>
          <p:cNvSpPr/>
          <p:nvPr/>
        </p:nvSpPr>
        <p:spPr>
          <a:xfrm>
            <a:off x="6217920" y="1691640"/>
            <a:ext cx="5303520" cy="1353312"/>
          </a:xfrm>
          <a:prstGeom prst="roundRect">
            <a:avLst>
              <a:gd name="adj" fmla="val 4054"/>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10" name="Shape 8"/>
          <p:cNvSpPr/>
          <p:nvPr/>
        </p:nvSpPr>
        <p:spPr>
          <a:xfrm>
            <a:off x="6473952" y="1911096"/>
            <a:ext cx="310896" cy="310896"/>
          </a:xfrm>
          <a:prstGeom prst="ellipse">
            <a:avLst/>
          </a:prstGeom>
          <a:solidFill>
            <a:srgbClr val="2F7A6E"/>
          </a:solidFill>
          <a:ln/>
        </p:spPr>
      </p:sp>
      <p:sp>
        <p:nvSpPr>
          <p:cNvPr id="11" name="Text 9"/>
          <p:cNvSpPr txBox="1"/>
          <p:nvPr/>
        </p:nvSpPr>
        <p:spPr>
          <a:xfrm>
            <a:off x="6473952" y="191109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2" name="Text 10"/>
          <p:cNvSpPr txBox="1"/>
          <p:nvPr/>
        </p:nvSpPr>
        <p:spPr>
          <a:xfrm>
            <a:off x="6885432" y="1874520"/>
            <a:ext cx="4434840" cy="292608"/>
          </a:xfrm>
          <a:prstGeom prst="rect">
            <a:avLst/>
          </a:prstGeom>
          <a:noFill/>
          <a:ln/>
        </p:spPr>
        <p:txBody>
          <a:bodyPr wrap="square" lIns="0" tIns="0" rIns="0" bIns="0" rtlCol="0" anchor="ctr"/>
          <a:lstStyle/>
          <a:p>
            <a:pPr indent="0" marL="0">
              <a:buNone/>
            </a:pPr>
            <a:r>
              <a:rPr lang="en-US" sz="1350" b="1" dirty="0">
                <a:solidFill>
                  <a:srgbClr val="232B32"/>
                </a:solidFill>
                <a:latin typeface="Calibri" pitchFamily="34" charset="0"/>
                <a:ea typeface="Calibri" pitchFamily="34" charset="-122"/>
                <a:cs typeface="Calibri" pitchFamily="34" charset="-120"/>
              </a:rPr>
              <a:t>Answers you can defend</a:t>
            </a:r>
            <a:endParaRPr lang="en-US" sz="1350" dirty="0"/>
          </a:p>
        </p:txBody>
      </p:sp>
      <p:sp>
        <p:nvSpPr>
          <p:cNvPr id="13" name="Text 11"/>
          <p:cNvSpPr txBox="1"/>
          <p:nvPr/>
        </p:nvSpPr>
        <p:spPr>
          <a:xfrm>
            <a:off x="6885432" y="2203704"/>
            <a:ext cx="4434840" cy="777240"/>
          </a:xfrm>
          <a:prstGeom prst="rect">
            <a:avLst/>
          </a:prstGeom>
          <a:noFill/>
          <a:ln/>
        </p:spPr>
        <p:txBody>
          <a:bodyPr wrap="square" lIns="0" tIns="0" rIns="0" bIns="0" rtlCol="0" anchor="ctr"/>
          <a:lstStyle/>
          <a:p>
            <a:pPr indent="0" marL="0">
              <a:lnSpc>
                <a:spcPct val="120000"/>
              </a:lnSpc>
              <a:buNone/>
            </a:pPr>
            <a:r>
              <a:rPr lang="en-US" sz="1050" dirty="0">
                <a:solidFill>
                  <a:srgbClr val="6B7A87"/>
                </a:solidFill>
                <a:latin typeface="Calibri" pitchFamily="34" charset="0"/>
                <a:ea typeface="Calibri" pitchFamily="34" charset="-122"/>
                <a:cs typeface="Calibri" pitchFamily="34" charset="-120"/>
              </a:rPr>
              <a:t>Every figure carries the system it came from, the row count, and the exact query. When an answer is empty you can see whether the data is missing or the question went to the wrong plant.</a:t>
            </a:r>
            <a:endParaRPr lang="en-US" sz="1050" dirty="0"/>
          </a:p>
        </p:txBody>
      </p:sp>
      <p:sp>
        <p:nvSpPr>
          <p:cNvPr id="14" name="Shape 12"/>
          <p:cNvSpPr/>
          <p:nvPr/>
        </p:nvSpPr>
        <p:spPr>
          <a:xfrm>
            <a:off x="640080" y="3209544"/>
            <a:ext cx="5303520" cy="1353312"/>
          </a:xfrm>
          <a:prstGeom prst="roundRect">
            <a:avLst>
              <a:gd name="adj" fmla="val 4054"/>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15" name="Shape 13"/>
          <p:cNvSpPr/>
          <p:nvPr/>
        </p:nvSpPr>
        <p:spPr>
          <a:xfrm>
            <a:off x="896112" y="3429000"/>
            <a:ext cx="310896" cy="310896"/>
          </a:xfrm>
          <a:prstGeom prst="ellipse">
            <a:avLst/>
          </a:prstGeom>
          <a:solidFill>
            <a:srgbClr val="2F7A6E"/>
          </a:solidFill>
          <a:ln/>
        </p:spPr>
      </p:sp>
      <p:sp>
        <p:nvSpPr>
          <p:cNvPr id="16" name="Text 14"/>
          <p:cNvSpPr txBox="1"/>
          <p:nvPr/>
        </p:nvSpPr>
        <p:spPr>
          <a:xfrm>
            <a:off x="896112" y="34290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7" name="Text 15"/>
          <p:cNvSpPr txBox="1"/>
          <p:nvPr/>
        </p:nvSpPr>
        <p:spPr>
          <a:xfrm>
            <a:off x="1307592" y="3392424"/>
            <a:ext cx="4434840" cy="292608"/>
          </a:xfrm>
          <a:prstGeom prst="rect">
            <a:avLst/>
          </a:prstGeom>
          <a:noFill/>
          <a:ln/>
        </p:spPr>
        <p:txBody>
          <a:bodyPr wrap="square" lIns="0" tIns="0" rIns="0" bIns="0" rtlCol="0" anchor="ctr"/>
          <a:lstStyle/>
          <a:p>
            <a:pPr indent="0" marL="0">
              <a:buNone/>
            </a:pPr>
            <a:r>
              <a:rPr lang="en-US" sz="1350" b="1" dirty="0">
                <a:solidFill>
                  <a:srgbClr val="232B32"/>
                </a:solidFill>
                <a:latin typeface="Calibri" pitchFamily="34" charset="0"/>
                <a:ea typeface="Calibri" pitchFamily="34" charset="-122"/>
                <a:cs typeface="Calibri" pitchFamily="34" charset="-120"/>
              </a:rPr>
              <a:t>Safe around live operations</a:t>
            </a:r>
            <a:endParaRPr lang="en-US" sz="1350" dirty="0"/>
          </a:p>
        </p:txBody>
      </p:sp>
      <p:sp>
        <p:nvSpPr>
          <p:cNvPr id="18" name="Text 16"/>
          <p:cNvSpPr txBox="1"/>
          <p:nvPr/>
        </p:nvSpPr>
        <p:spPr>
          <a:xfrm>
            <a:off x="1307592" y="3721608"/>
            <a:ext cx="4434840" cy="777240"/>
          </a:xfrm>
          <a:prstGeom prst="rect">
            <a:avLst/>
          </a:prstGeom>
          <a:noFill/>
          <a:ln/>
        </p:spPr>
        <p:txBody>
          <a:bodyPr wrap="square" lIns="0" tIns="0" rIns="0" bIns="0" rtlCol="0" anchor="ctr"/>
          <a:lstStyle/>
          <a:p>
            <a:pPr indent="0" marL="0">
              <a:lnSpc>
                <a:spcPct val="120000"/>
              </a:lnSpc>
              <a:buNone/>
            </a:pPr>
            <a:r>
              <a:rPr lang="en-US" sz="1050" dirty="0">
                <a:solidFill>
                  <a:srgbClr val="6B7A87"/>
                </a:solidFill>
                <a:latin typeface="Calibri" pitchFamily="34" charset="0"/>
                <a:ea typeface="Calibri" pitchFamily="34" charset="-122"/>
                <a:cs typeface="Calibri" pitchFamily="34" charset="-120"/>
              </a:rPr>
              <a:t>A read is reversible; a stock movement is not. Writes are proposed and approved, never executed on a model's say-so — and an incomplete instruction is refused rather than filled in.</a:t>
            </a:r>
            <a:endParaRPr lang="en-US" sz="1050" dirty="0"/>
          </a:p>
        </p:txBody>
      </p:sp>
      <p:sp>
        <p:nvSpPr>
          <p:cNvPr id="19" name="Shape 17"/>
          <p:cNvSpPr/>
          <p:nvPr/>
        </p:nvSpPr>
        <p:spPr>
          <a:xfrm>
            <a:off x="6217920" y="3209544"/>
            <a:ext cx="5303520" cy="1353312"/>
          </a:xfrm>
          <a:prstGeom prst="roundRect">
            <a:avLst>
              <a:gd name="adj" fmla="val 4054"/>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20" name="Shape 18"/>
          <p:cNvSpPr/>
          <p:nvPr/>
        </p:nvSpPr>
        <p:spPr>
          <a:xfrm>
            <a:off x="6473952" y="3429000"/>
            <a:ext cx="310896" cy="310896"/>
          </a:xfrm>
          <a:prstGeom prst="ellipse">
            <a:avLst/>
          </a:prstGeom>
          <a:solidFill>
            <a:srgbClr val="2F7A6E"/>
          </a:solidFill>
          <a:ln/>
        </p:spPr>
      </p:sp>
      <p:sp>
        <p:nvSpPr>
          <p:cNvPr id="21" name="Text 19"/>
          <p:cNvSpPr txBox="1"/>
          <p:nvPr/>
        </p:nvSpPr>
        <p:spPr>
          <a:xfrm>
            <a:off x="6473952" y="34290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20"/>
          <p:cNvSpPr txBox="1"/>
          <p:nvPr/>
        </p:nvSpPr>
        <p:spPr>
          <a:xfrm>
            <a:off x="6885432" y="3392424"/>
            <a:ext cx="4434840" cy="292608"/>
          </a:xfrm>
          <a:prstGeom prst="rect">
            <a:avLst/>
          </a:prstGeom>
          <a:noFill/>
          <a:ln/>
        </p:spPr>
        <p:txBody>
          <a:bodyPr wrap="square" lIns="0" tIns="0" rIns="0" bIns="0" rtlCol="0" anchor="ctr"/>
          <a:lstStyle/>
          <a:p>
            <a:pPr indent="0" marL="0">
              <a:buNone/>
            </a:pPr>
            <a:r>
              <a:rPr lang="en-US" sz="1350" b="1" dirty="0">
                <a:solidFill>
                  <a:srgbClr val="232B32"/>
                </a:solidFill>
                <a:latin typeface="Calibri" pitchFamily="34" charset="0"/>
                <a:ea typeface="Calibri" pitchFamily="34" charset="-122"/>
                <a:cs typeface="Calibri" pitchFamily="34" charset="-120"/>
              </a:rPr>
              <a:t>Grows by configuration</a:t>
            </a:r>
            <a:endParaRPr lang="en-US" sz="1350" dirty="0"/>
          </a:p>
        </p:txBody>
      </p:sp>
      <p:sp>
        <p:nvSpPr>
          <p:cNvPr id="23" name="Text 21"/>
          <p:cNvSpPr txBox="1"/>
          <p:nvPr/>
        </p:nvSpPr>
        <p:spPr>
          <a:xfrm>
            <a:off x="6885432" y="3721608"/>
            <a:ext cx="4434840" cy="777240"/>
          </a:xfrm>
          <a:prstGeom prst="rect">
            <a:avLst/>
          </a:prstGeom>
          <a:noFill/>
          <a:ln/>
        </p:spPr>
        <p:txBody>
          <a:bodyPr wrap="square" lIns="0" tIns="0" rIns="0" bIns="0" rtlCol="0" anchor="ctr"/>
          <a:lstStyle/>
          <a:p>
            <a:pPr indent="0" marL="0">
              <a:lnSpc>
                <a:spcPct val="120000"/>
              </a:lnSpc>
              <a:buNone/>
            </a:pPr>
            <a:r>
              <a:rPr lang="en-US" sz="1050" dirty="0">
                <a:solidFill>
                  <a:srgbClr val="6B7A87"/>
                </a:solidFill>
                <a:latin typeface="Calibri" pitchFamily="34" charset="0"/>
                <a:ea typeface="Calibri" pitchFamily="34" charset="-122"/>
                <a:cs typeface="Calibri" pitchFamily="34" charset="-120"/>
              </a:rPr>
              <a:t>A sixth SAP object is a row in a form. New quotas, users, routes and cache rules are all screens. Extending it does not mean a development project.</a:t>
            </a:r>
            <a:endParaRPr lang="en-US" sz="1050" dirty="0"/>
          </a:p>
        </p:txBody>
      </p:sp>
      <p:sp>
        <p:nvSpPr>
          <p:cNvPr id="24" name="Shape 22"/>
          <p:cNvSpPr/>
          <p:nvPr/>
        </p:nvSpPr>
        <p:spPr>
          <a:xfrm>
            <a:off x="640080" y="4727448"/>
            <a:ext cx="5303520" cy="1353312"/>
          </a:xfrm>
          <a:prstGeom prst="roundRect">
            <a:avLst>
              <a:gd name="adj" fmla="val 4054"/>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25" name="Shape 23"/>
          <p:cNvSpPr/>
          <p:nvPr/>
        </p:nvSpPr>
        <p:spPr>
          <a:xfrm>
            <a:off x="896112" y="4946904"/>
            <a:ext cx="310896" cy="310896"/>
          </a:xfrm>
          <a:prstGeom prst="ellipse">
            <a:avLst/>
          </a:prstGeom>
          <a:solidFill>
            <a:srgbClr val="2F7A6E"/>
          </a:solidFill>
          <a:ln/>
        </p:spPr>
      </p:sp>
      <p:sp>
        <p:nvSpPr>
          <p:cNvPr id="26" name="Text 24"/>
          <p:cNvSpPr txBox="1"/>
          <p:nvPr/>
        </p:nvSpPr>
        <p:spPr>
          <a:xfrm>
            <a:off x="896112" y="49469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7" name="Text 25"/>
          <p:cNvSpPr txBox="1"/>
          <p:nvPr/>
        </p:nvSpPr>
        <p:spPr>
          <a:xfrm>
            <a:off x="1307592" y="4910328"/>
            <a:ext cx="4434840" cy="292608"/>
          </a:xfrm>
          <a:prstGeom prst="rect">
            <a:avLst/>
          </a:prstGeom>
          <a:noFill/>
          <a:ln/>
        </p:spPr>
        <p:txBody>
          <a:bodyPr wrap="square" lIns="0" tIns="0" rIns="0" bIns="0" rtlCol="0" anchor="ctr"/>
          <a:lstStyle/>
          <a:p>
            <a:pPr indent="0" marL="0">
              <a:buNone/>
            </a:pPr>
            <a:r>
              <a:rPr lang="en-US" sz="1350" b="1" dirty="0">
                <a:solidFill>
                  <a:srgbClr val="232B32"/>
                </a:solidFill>
                <a:latin typeface="Calibri" pitchFamily="34" charset="0"/>
                <a:ea typeface="Calibri" pitchFamily="34" charset="-122"/>
                <a:cs typeface="Calibri" pitchFamily="34" charset="-120"/>
              </a:rPr>
              <a:t>Cost bounded before spend</a:t>
            </a:r>
            <a:endParaRPr lang="en-US" sz="1350" dirty="0"/>
          </a:p>
        </p:txBody>
      </p:sp>
      <p:sp>
        <p:nvSpPr>
          <p:cNvPr id="28" name="Text 26"/>
          <p:cNvSpPr txBox="1"/>
          <p:nvPr/>
        </p:nvSpPr>
        <p:spPr>
          <a:xfrm>
            <a:off x="1307592" y="5239512"/>
            <a:ext cx="4434840" cy="777240"/>
          </a:xfrm>
          <a:prstGeom prst="rect">
            <a:avLst/>
          </a:prstGeom>
          <a:noFill/>
          <a:ln/>
        </p:spPr>
        <p:txBody>
          <a:bodyPr wrap="square" lIns="0" tIns="0" rIns="0" bIns="0" rtlCol="0" anchor="ctr"/>
          <a:lstStyle/>
          <a:p>
            <a:pPr indent="0" marL="0">
              <a:lnSpc>
                <a:spcPct val="120000"/>
              </a:lnSpc>
              <a:buNone/>
            </a:pPr>
            <a:r>
              <a:rPr lang="en-US" sz="1050" dirty="0">
                <a:solidFill>
                  <a:srgbClr val="6B7A87"/>
                </a:solidFill>
                <a:latin typeface="Calibri" pitchFamily="34" charset="0"/>
                <a:ea typeface="Calibri" pitchFamily="34" charset="-122"/>
                <a:cs typeface="Calibri" pitchFamily="34" charset="-120"/>
              </a:rPr>
              <a:t>Quota refuses, cache avoids, and routing keeps a simple lookup off an expensive model. You see every token in the usage screen.</a:t>
            </a:r>
            <a:endParaRPr lang="en-US" sz="1050" dirty="0"/>
          </a:p>
        </p:txBody>
      </p:sp>
      <p:sp>
        <p:nvSpPr>
          <p:cNvPr id="29" name="Shape 27"/>
          <p:cNvSpPr/>
          <p:nvPr/>
        </p:nvSpPr>
        <p:spPr>
          <a:xfrm>
            <a:off x="6217920" y="4727448"/>
            <a:ext cx="5303520" cy="1353312"/>
          </a:xfrm>
          <a:prstGeom prst="roundRect">
            <a:avLst>
              <a:gd name="adj" fmla="val 4054"/>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30" name="Shape 28"/>
          <p:cNvSpPr/>
          <p:nvPr/>
        </p:nvSpPr>
        <p:spPr>
          <a:xfrm>
            <a:off x="6473952" y="4946904"/>
            <a:ext cx="310896" cy="310896"/>
          </a:xfrm>
          <a:prstGeom prst="ellipse">
            <a:avLst/>
          </a:prstGeom>
          <a:solidFill>
            <a:srgbClr val="2F7A6E"/>
          </a:solidFill>
          <a:ln/>
        </p:spPr>
      </p:sp>
      <p:sp>
        <p:nvSpPr>
          <p:cNvPr id="31" name="Text 29"/>
          <p:cNvSpPr txBox="1"/>
          <p:nvPr/>
        </p:nvSpPr>
        <p:spPr>
          <a:xfrm>
            <a:off x="6473952" y="49469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2" name="Text 30"/>
          <p:cNvSpPr txBox="1"/>
          <p:nvPr/>
        </p:nvSpPr>
        <p:spPr>
          <a:xfrm>
            <a:off x="6885432" y="4910328"/>
            <a:ext cx="4434840" cy="292608"/>
          </a:xfrm>
          <a:prstGeom prst="rect">
            <a:avLst/>
          </a:prstGeom>
          <a:noFill/>
          <a:ln/>
        </p:spPr>
        <p:txBody>
          <a:bodyPr wrap="square" lIns="0" tIns="0" rIns="0" bIns="0" rtlCol="0" anchor="ctr"/>
          <a:lstStyle/>
          <a:p>
            <a:pPr indent="0" marL="0">
              <a:buNone/>
            </a:pPr>
            <a:r>
              <a:rPr lang="en-US" sz="1350" b="1" dirty="0">
                <a:solidFill>
                  <a:srgbClr val="232B32"/>
                </a:solidFill>
                <a:latin typeface="Calibri" pitchFamily="34" charset="0"/>
                <a:ea typeface="Calibri" pitchFamily="34" charset="-122"/>
                <a:cs typeface="Calibri" pitchFamily="34" charset="-120"/>
              </a:rPr>
              <a:t>Proven, not asserted</a:t>
            </a:r>
            <a:endParaRPr lang="en-US" sz="1350" dirty="0"/>
          </a:p>
        </p:txBody>
      </p:sp>
      <p:sp>
        <p:nvSpPr>
          <p:cNvPr id="33" name="Text 31"/>
          <p:cNvSpPr txBox="1"/>
          <p:nvPr/>
        </p:nvSpPr>
        <p:spPr>
          <a:xfrm>
            <a:off x="6885432" y="5239512"/>
            <a:ext cx="4434840" cy="777240"/>
          </a:xfrm>
          <a:prstGeom prst="rect">
            <a:avLst/>
          </a:prstGeom>
          <a:noFill/>
          <a:ln/>
        </p:spPr>
        <p:txBody>
          <a:bodyPr wrap="square" lIns="0" tIns="0" rIns="0" bIns="0" rtlCol="0" anchor="ctr"/>
          <a:lstStyle/>
          <a:p>
            <a:pPr indent="0" marL="0">
              <a:lnSpc>
                <a:spcPct val="120000"/>
              </a:lnSpc>
              <a:buNone/>
            </a:pPr>
            <a:r>
              <a:rPr lang="en-US" sz="1050" dirty="0">
                <a:solidFill>
                  <a:srgbClr val="6B7A87"/>
                </a:solidFill>
                <a:latin typeface="Calibri" pitchFamily="34" charset="0"/>
                <a:ea typeface="Calibri" pitchFamily="34" charset="-122"/>
                <a:cs typeface="Calibri" pitchFamily="34" charset="-120"/>
              </a:rPr>
              <a:t>180 automated tests, each protecting a behaviour that was once wrong. Live against real S/4 data today.</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32B32"/>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it refuses to do</a:t>
            </a:r>
            <a:endParaRPr lang="en-US" sz="3400" dirty="0"/>
          </a:p>
        </p:txBody>
      </p:sp>
      <p:sp>
        <p:nvSpPr>
          <p:cNvPr id="3" name="Text 1"/>
          <p:cNvSpPr txBox="1"/>
          <p:nvPr/>
        </p:nvSpPr>
        <p:spPr>
          <a:xfrm>
            <a:off x="640080" y="1097280"/>
            <a:ext cx="9601200" cy="365760"/>
          </a:xfrm>
          <a:prstGeom prst="rect">
            <a:avLst/>
          </a:prstGeom>
          <a:noFill/>
          <a:ln/>
        </p:spPr>
        <p:txBody>
          <a:bodyPr wrap="square" lIns="0" tIns="0" rIns="0" bIns="0" rtlCol="0" anchor="ctr"/>
          <a:lstStyle/>
          <a:p>
            <a:pPr indent="0" marL="0">
              <a:buNone/>
            </a:pPr>
            <a:r>
              <a:rPr lang="en-US" sz="1400" dirty="0">
                <a:solidFill>
                  <a:srgbClr val="9FB0BB"/>
                </a:solidFill>
                <a:latin typeface="Calibri" pitchFamily="34" charset="0"/>
                <a:ea typeface="Calibri" pitchFamily="34" charset="-122"/>
                <a:cs typeface="Calibri" pitchFamily="34" charset="-120"/>
              </a:rPr>
              <a:t>Every one of these was a real failure during construction. Each now has a test that fails if it returns.</a:t>
            </a:r>
            <a:endParaRPr lang="en-US" sz="1400" dirty="0"/>
          </a:p>
        </p:txBody>
      </p:sp>
      <p:sp>
        <p:nvSpPr>
          <p:cNvPr id="4" name="Shape 2"/>
          <p:cNvSpPr/>
          <p:nvPr/>
        </p:nvSpPr>
        <p:spPr>
          <a:xfrm>
            <a:off x="640080" y="1783080"/>
            <a:ext cx="5303520" cy="1234440"/>
          </a:xfrm>
          <a:prstGeom prst="roundRect">
            <a:avLst>
              <a:gd name="adj" fmla="val 4444"/>
            </a:avLst>
          </a:prstGeom>
          <a:solidFill>
            <a:srgbClr val="2C353D"/>
          </a:solidFill>
          <a:ln w="9525">
            <a:solidFill>
              <a:srgbClr val="3C4852"/>
            </a:solidFill>
            <a:prstDash val="solid"/>
          </a:ln>
        </p:spPr>
      </p:sp>
      <p:sp>
        <p:nvSpPr>
          <p:cNvPr id="5" name="Shape 3"/>
          <p:cNvSpPr/>
          <p:nvPr/>
        </p:nvSpPr>
        <p:spPr>
          <a:xfrm>
            <a:off x="896112" y="1984248"/>
            <a:ext cx="292608" cy="292608"/>
          </a:xfrm>
          <a:prstGeom prst="ellipse">
            <a:avLst/>
          </a:prstGeom>
          <a:solidFill>
            <a:srgbClr val="A8322A"/>
          </a:solidFill>
          <a:ln/>
        </p:spPr>
      </p:sp>
      <p:sp>
        <p:nvSpPr>
          <p:cNvPr id="6" name="Text 4"/>
          <p:cNvSpPr txBox="1"/>
          <p:nvPr/>
        </p:nvSpPr>
        <p:spPr>
          <a:xfrm>
            <a:off x="896112" y="198424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 name="Text 5"/>
          <p:cNvSpPr txBox="1"/>
          <p:nvPr/>
        </p:nvSpPr>
        <p:spPr>
          <a:xfrm>
            <a:off x="1280160" y="1947672"/>
            <a:ext cx="44348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Execute a write inline</a:t>
            </a:r>
            <a:endParaRPr lang="en-US" sz="1300" dirty="0"/>
          </a:p>
        </p:txBody>
      </p:sp>
      <p:sp>
        <p:nvSpPr>
          <p:cNvPr id="8" name="Text 6"/>
          <p:cNvSpPr txBox="1"/>
          <p:nvPr/>
        </p:nvSpPr>
        <p:spPr>
          <a:xfrm>
            <a:off x="1280160" y="2240280"/>
            <a:ext cx="4434840" cy="685800"/>
          </a:xfrm>
          <a:prstGeom prst="rect">
            <a:avLst/>
          </a:prstGeom>
          <a:noFill/>
          <a:ln/>
        </p:spPr>
        <p:txBody>
          <a:bodyPr wrap="square" lIns="0" tIns="0" rIns="0" bIns="0" rtlCol="0" anchor="ctr"/>
          <a:lstStyle/>
          <a:p>
            <a:pPr indent="0" marL="0">
              <a:lnSpc>
                <a:spcPct val="120000"/>
              </a:lnSpc>
              <a:buNone/>
            </a:pPr>
            <a:r>
              <a:rPr lang="en-US" sz="1050" dirty="0">
                <a:solidFill>
                  <a:srgbClr val="9FB0BB"/>
                </a:solidFill>
                <a:latin typeface="Calibri" pitchFamily="34" charset="0"/>
                <a:ea typeface="Calibri" pitchFamily="34" charset="-122"/>
                <a:cs typeface="Calibri" pitchFamily="34" charset="-120"/>
              </a:rPr>
              <a:t>A goods movement needs a human between the request and SAP.</a:t>
            </a:r>
            <a:endParaRPr lang="en-US" sz="1050" dirty="0"/>
          </a:p>
        </p:txBody>
      </p:sp>
      <p:sp>
        <p:nvSpPr>
          <p:cNvPr id="9" name="Shape 7"/>
          <p:cNvSpPr/>
          <p:nvPr/>
        </p:nvSpPr>
        <p:spPr>
          <a:xfrm>
            <a:off x="6217920" y="1783080"/>
            <a:ext cx="5303520" cy="1234440"/>
          </a:xfrm>
          <a:prstGeom prst="roundRect">
            <a:avLst>
              <a:gd name="adj" fmla="val 4444"/>
            </a:avLst>
          </a:prstGeom>
          <a:solidFill>
            <a:srgbClr val="2C353D"/>
          </a:solidFill>
          <a:ln w="9525">
            <a:solidFill>
              <a:srgbClr val="3C4852"/>
            </a:solidFill>
            <a:prstDash val="solid"/>
          </a:ln>
        </p:spPr>
      </p:sp>
      <p:sp>
        <p:nvSpPr>
          <p:cNvPr id="10" name="Shape 8"/>
          <p:cNvSpPr/>
          <p:nvPr/>
        </p:nvSpPr>
        <p:spPr>
          <a:xfrm>
            <a:off x="6473952" y="1984248"/>
            <a:ext cx="292608" cy="292608"/>
          </a:xfrm>
          <a:prstGeom prst="ellipse">
            <a:avLst/>
          </a:prstGeom>
          <a:solidFill>
            <a:srgbClr val="A8322A"/>
          </a:solidFill>
          <a:ln/>
        </p:spPr>
      </p:sp>
      <p:sp>
        <p:nvSpPr>
          <p:cNvPr id="11" name="Text 9"/>
          <p:cNvSpPr txBox="1"/>
          <p:nvPr/>
        </p:nvSpPr>
        <p:spPr>
          <a:xfrm>
            <a:off x="6473952" y="198424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2" name="Text 10"/>
          <p:cNvSpPr txBox="1"/>
          <p:nvPr/>
        </p:nvSpPr>
        <p:spPr>
          <a:xfrm>
            <a:off x="6858000" y="1947672"/>
            <a:ext cx="44348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Propose a write it cannot fully describe</a:t>
            </a:r>
            <a:endParaRPr lang="en-US" sz="1300" dirty="0"/>
          </a:p>
        </p:txBody>
      </p:sp>
      <p:sp>
        <p:nvSpPr>
          <p:cNvPr id="13" name="Text 11"/>
          <p:cNvSpPr txBox="1"/>
          <p:nvPr/>
        </p:nvSpPr>
        <p:spPr>
          <a:xfrm>
            <a:off x="6858000" y="2240280"/>
            <a:ext cx="4434840" cy="685800"/>
          </a:xfrm>
          <a:prstGeom prst="rect">
            <a:avLst/>
          </a:prstGeom>
          <a:noFill/>
          <a:ln/>
        </p:spPr>
        <p:txBody>
          <a:bodyPr wrap="square" lIns="0" tIns="0" rIns="0" bIns="0" rtlCol="0" anchor="ctr"/>
          <a:lstStyle/>
          <a:p>
            <a:pPr indent="0" marL="0">
              <a:lnSpc>
                <a:spcPct val="120000"/>
              </a:lnSpc>
              <a:buNone/>
            </a:pPr>
            <a:r>
              <a:rPr lang="en-US" sz="1050" dirty="0">
                <a:solidFill>
                  <a:srgbClr val="9FB0BB"/>
                </a:solidFill>
                <a:latin typeface="Calibri" pitchFamily="34" charset="0"/>
                <a:ea typeface="Calibri" pitchFamily="34" charset="-122"/>
                <a:cs typeface="Calibri" pitchFamily="34" charset="-120"/>
              </a:rPr>
              <a:t>A missing quantity once defaulted to 1, a missing material to a plausible code. It now asks.</a:t>
            </a:r>
            <a:endParaRPr lang="en-US" sz="1050" dirty="0"/>
          </a:p>
        </p:txBody>
      </p:sp>
      <p:sp>
        <p:nvSpPr>
          <p:cNvPr id="14" name="Shape 12"/>
          <p:cNvSpPr/>
          <p:nvPr/>
        </p:nvSpPr>
        <p:spPr>
          <a:xfrm>
            <a:off x="640080" y="3200400"/>
            <a:ext cx="5303520" cy="1234440"/>
          </a:xfrm>
          <a:prstGeom prst="roundRect">
            <a:avLst>
              <a:gd name="adj" fmla="val 4444"/>
            </a:avLst>
          </a:prstGeom>
          <a:solidFill>
            <a:srgbClr val="2C353D"/>
          </a:solidFill>
          <a:ln w="9525">
            <a:solidFill>
              <a:srgbClr val="3C4852"/>
            </a:solidFill>
            <a:prstDash val="solid"/>
          </a:ln>
        </p:spPr>
      </p:sp>
      <p:sp>
        <p:nvSpPr>
          <p:cNvPr id="15" name="Shape 13"/>
          <p:cNvSpPr/>
          <p:nvPr/>
        </p:nvSpPr>
        <p:spPr>
          <a:xfrm>
            <a:off x="896112" y="3401568"/>
            <a:ext cx="292608" cy="292608"/>
          </a:xfrm>
          <a:prstGeom prst="ellipse">
            <a:avLst/>
          </a:prstGeom>
          <a:solidFill>
            <a:srgbClr val="A8322A"/>
          </a:solidFill>
          <a:ln/>
        </p:spPr>
      </p:sp>
      <p:sp>
        <p:nvSpPr>
          <p:cNvPr id="16" name="Text 14"/>
          <p:cNvSpPr txBox="1"/>
          <p:nvPr/>
        </p:nvSpPr>
        <p:spPr>
          <a:xfrm>
            <a:off x="896112" y="340156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7" name="Text 15"/>
          <p:cNvSpPr txBox="1"/>
          <p:nvPr/>
        </p:nvSpPr>
        <p:spPr>
          <a:xfrm>
            <a:off x="1280160" y="3364992"/>
            <a:ext cx="44348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Report a sample as a total</a:t>
            </a:r>
            <a:endParaRPr lang="en-US" sz="1300" dirty="0"/>
          </a:p>
        </p:txBody>
      </p:sp>
      <p:sp>
        <p:nvSpPr>
          <p:cNvPr id="18" name="Text 16"/>
          <p:cNvSpPr txBox="1"/>
          <p:nvPr/>
        </p:nvSpPr>
        <p:spPr>
          <a:xfrm>
            <a:off x="1280160" y="3657600"/>
            <a:ext cx="4434840" cy="685800"/>
          </a:xfrm>
          <a:prstGeom prst="rect">
            <a:avLst/>
          </a:prstGeom>
          <a:noFill/>
          <a:ln/>
        </p:spPr>
        <p:txBody>
          <a:bodyPr wrap="square" lIns="0" tIns="0" rIns="0" bIns="0" rtlCol="0" anchor="ctr"/>
          <a:lstStyle/>
          <a:p>
            <a:pPr indent="0" marL="0">
              <a:lnSpc>
                <a:spcPct val="120000"/>
              </a:lnSpc>
              <a:buNone/>
            </a:pPr>
            <a:r>
              <a:rPr lang="en-US" sz="1050" dirty="0">
                <a:solidFill>
                  <a:srgbClr val="9FB0BB"/>
                </a:solidFill>
                <a:latin typeface="Calibri" pitchFamily="34" charset="0"/>
                <a:ea typeface="Calibri" pitchFamily="34" charset="-122"/>
                <a:cs typeface="Calibri" pitchFamily="34" charset="-120"/>
              </a:rPr>
              <a:t>25 rows of a 200-row result once answered with a confident figure that was an eighth of the truth.</a:t>
            </a:r>
            <a:endParaRPr lang="en-US" sz="1050" dirty="0"/>
          </a:p>
        </p:txBody>
      </p:sp>
      <p:sp>
        <p:nvSpPr>
          <p:cNvPr id="19" name="Shape 17"/>
          <p:cNvSpPr/>
          <p:nvPr/>
        </p:nvSpPr>
        <p:spPr>
          <a:xfrm>
            <a:off x="6217920" y="3200400"/>
            <a:ext cx="5303520" cy="1234440"/>
          </a:xfrm>
          <a:prstGeom prst="roundRect">
            <a:avLst>
              <a:gd name="adj" fmla="val 4444"/>
            </a:avLst>
          </a:prstGeom>
          <a:solidFill>
            <a:srgbClr val="2C353D"/>
          </a:solidFill>
          <a:ln w="9525">
            <a:solidFill>
              <a:srgbClr val="3C4852"/>
            </a:solidFill>
            <a:prstDash val="solid"/>
          </a:ln>
        </p:spPr>
      </p:sp>
      <p:sp>
        <p:nvSpPr>
          <p:cNvPr id="20" name="Shape 18"/>
          <p:cNvSpPr/>
          <p:nvPr/>
        </p:nvSpPr>
        <p:spPr>
          <a:xfrm>
            <a:off x="6473952" y="3401568"/>
            <a:ext cx="292608" cy="292608"/>
          </a:xfrm>
          <a:prstGeom prst="ellipse">
            <a:avLst/>
          </a:prstGeom>
          <a:solidFill>
            <a:srgbClr val="A8322A"/>
          </a:solidFill>
          <a:ln/>
        </p:spPr>
      </p:sp>
      <p:sp>
        <p:nvSpPr>
          <p:cNvPr id="21" name="Text 19"/>
          <p:cNvSpPr txBox="1"/>
          <p:nvPr/>
        </p:nvSpPr>
        <p:spPr>
          <a:xfrm>
            <a:off x="6473952" y="340156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20"/>
          <p:cNvSpPr txBox="1"/>
          <p:nvPr/>
        </p:nvSpPr>
        <p:spPr>
          <a:xfrm>
            <a:off x="6858000" y="3364992"/>
            <a:ext cx="44348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Say “no records” when a fetch failed</a:t>
            </a:r>
            <a:endParaRPr lang="en-US" sz="1300" dirty="0"/>
          </a:p>
        </p:txBody>
      </p:sp>
      <p:sp>
        <p:nvSpPr>
          <p:cNvPr id="23" name="Text 21"/>
          <p:cNvSpPr txBox="1"/>
          <p:nvPr/>
        </p:nvSpPr>
        <p:spPr>
          <a:xfrm>
            <a:off x="6858000" y="3657600"/>
            <a:ext cx="4434840" cy="685800"/>
          </a:xfrm>
          <a:prstGeom prst="rect">
            <a:avLst/>
          </a:prstGeom>
          <a:noFill/>
          <a:ln/>
        </p:spPr>
        <p:txBody>
          <a:bodyPr wrap="square" lIns="0" tIns="0" rIns="0" bIns="0" rtlCol="0" anchor="ctr"/>
          <a:lstStyle/>
          <a:p>
            <a:pPr indent="0" marL="0">
              <a:lnSpc>
                <a:spcPct val="120000"/>
              </a:lnSpc>
              <a:buNone/>
            </a:pPr>
            <a:r>
              <a:rPr lang="en-US" sz="1050" dirty="0">
                <a:solidFill>
                  <a:srgbClr val="9FB0BB"/>
                </a:solidFill>
                <a:latin typeface="Calibri" pitchFamily="34" charset="0"/>
                <a:ea typeface="Calibri" pitchFamily="34" charset="-122"/>
                <a:cs typeface="Calibri" pitchFamily="34" charset="-120"/>
              </a:rPr>
              <a:t>That reads as “there is no stock” when the truth is “I could not check”.</a:t>
            </a:r>
            <a:endParaRPr lang="en-US" sz="1050" dirty="0"/>
          </a:p>
        </p:txBody>
      </p:sp>
      <p:sp>
        <p:nvSpPr>
          <p:cNvPr id="24" name="Shape 22"/>
          <p:cNvSpPr/>
          <p:nvPr/>
        </p:nvSpPr>
        <p:spPr>
          <a:xfrm>
            <a:off x="640080" y="4617720"/>
            <a:ext cx="5303520" cy="1234440"/>
          </a:xfrm>
          <a:prstGeom prst="roundRect">
            <a:avLst>
              <a:gd name="adj" fmla="val 4444"/>
            </a:avLst>
          </a:prstGeom>
          <a:solidFill>
            <a:srgbClr val="2C353D"/>
          </a:solidFill>
          <a:ln w="9525">
            <a:solidFill>
              <a:srgbClr val="3C4852"/>
            </a:solidFill>
            <a:prstDash val="solid"/>
          </a:ln>
        </p:spPr>
      </p:sp>
      <p:sp>
        <p:nvSpPr>
          <p:cNvPr id="25" name="Shape 23"/>
          <p:cNvSpPr/>
          <p:nvPr/>
        </p:nvSpPr>
        <p:spPr>
          <a:xfrm>
            <a:off x="896112" y="4818888"/>
            <a:ext cx="292608" cy="292608"/>
          </a:xfrm>
          <a:prstGeom prst="ellipse">
            <a:avLst/>
          </a:prstGeom>
          <a:solidFill>
            <a:srgbClr val="A8322A"/>
          </a:solidFill>
          <a:ln/>
        </p:spPr>
      </p:sp>
      <p:sp>
        <p:nvSpPr>
          <p:cNvPr id="26" name="Text 24"/>
          <p:cNvSpPr txBox="1"/>
          <p:nvPr/>
        </p:nvSpPr>
        <p:spPr>
          <a:xfrm>
            <a:off x="896112" y="4818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7" name="Text 25"/>
          <p:cNvSpPr txBox="1"/>
          <p:nvPr/>
        </p:nvSpPr>
        <p:spPr>
          <a:xfrm>
            <a:off x="1280160" y="4782312"/>
            <a:ext cx="44348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Guess your intent when the model is down</a:t>
            </a:r>
            <a:endParaRPr lang="en-US" sz="1300" dirty="0"/>
          </a:p>
        </p:txBody>
      </p:sp>
      <p:sp>
        <p:nvSpPr>
          <p:cNvPr id="28" name="Text 26"/>
          <p:cNvSpPr txBox="1"/>
          <p:nvPr/>
        </p:nvSpPr>
        <p:spPr>
          <a:xfrm>
            <a:off x="1280160" y="5074920"/>
            <a:ext cx="4434840" cy="685800"/>
          </a:xfrm>
          <a:prstGeom prst="rect">
            <a:avLst/>
          </a:prstGeom>
          <a:noFill/>
          <a:ln/>
        </p:spPr>
        <p:txBody>
          <a:bodyPr wrap="square" lIns="0" tIns="0" rIns="0" bIns="0" rtlCol="0" anchor="ctr"/>
          <a:lstStyle/>
          <a:p>
            <a:pPr indent="0" marL="0">
              <a:lnSpc>
                <a:spcPct val="120000"/>
              </a:lnSpc>
              <a:buNone/>
            </a:pPr>
            <a:r>
              <a:rPr lang="en-US" sz="1050" dirty="0">
                <a:solidFill>
                  <a:srgbClr val="9FB0BB"/>
                </a:solidFill>
                <a:latin typeface="Calibri" pitchFamily="34" charset="0"/>
                <a:ea typeface="Calibri" pitchFamily="34" charset="-122"/>
                <a:cs typeface="Calibri" pitchFamily="34" charset="-120"/>
              </a:rPr>
              <a:t>Keyword matching once answered “what is your name” with an inventory count.</a:t>
            </a:r>
            <a:endParaRPr lang="en-US" sz="1050" dirty="0"/>
          </a:p>
        </p:txBody>
      </p:sp>
      <p:sp>
        <p:nvSpPr>
          <p:cNvPr id="29" name="Shape 27"/>
          <p:cNvSpPr/>
          <p:nvPr/>
        </p:nvSpPr>
        <p:spPr>
          <a:xfrm>
            <a:off x="6217920" y="4617720"/>
            <a:ext cx="5303520" cy="1234440"/>
          </a:xfrm>
          <a:prstGeom prst="roundRect">
            <a:avLst>
              <a:gd name="adj" fmla="val 4444"/>
            </a:avLst>
          </a:prstGeom>
          <a:solidFill>
            <a:srgbClr val="2C353D"/>
          </a:solidFill>
          <a:ln w="9525">
            <a:solidFill>
              <a:srgbClr val="3C4852"/>
            </a:solidFill>
            <a:prstDash val="solid"/>
          </a:ln>
        </p:spPr>
      </p:sp>
      <p:sp>
        <p:nvSpPr>
          <p:cNvPr id="30" name="Shape 28"/>
          <p:cNvSpPr/>
          <p:nvPr/>
        </p:nvSpPr>
        <p:spPr>
          <a:xfrm>
            <a:off x="6473952" y="4818888"/>
            <a:ext cx="292608" cy="292608"/>
          </a:xfrm>
          <a:prstGeom prst="ellipse">
            <a:avLst/>
          </a:prstGeom>
          <a:solidFill>
            <a:srgbClr val="A8322A"/>
          </a:solidFill>
          <a:ln/>
        </p:spPr>
      </p:sp>
      <p:sp>
        <p:nvSpPr>
          <p:cNvPr id="31" name="Text 29"/>
          <p:cNvSpPr txBox="1"/>
          <p:nvPr/>
        </p:nvSpPr>
        <p:spPr>
          <a:xfrm>
            <a:off x="6473952" y="48188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2" name="Text 30"/>
          <p:cNvSpPr txBox="1"/>
          <p:nvPr/>
        </p:nvSpPr>
        <p:spPr>
          <a:xfrm>
            <a:off x="6858000" y="4782312"/>
            <a:ext cx="44348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Exceed a quota under load</a:t>
            </a:r>
            <a:endParaRPr lang="en-US" sz="1300" dirty="0"/>
          </a:p>
        </p:txBody>
      </p:sp>
      <p:sp>
        <p:nvSpPr>
          <p:cNvPr id="33" name="Text 31"/>
          <p:cNvSpPr txBox="1"/>
          <p:nvPr/>
        </p:nvSpPr>
        <p:spPr>
          <a:xfrm>
            <a:off x="6858000" y="5074920"/>
            <a:ext cx="4434840" cy="685800"/>
          </a:xfrm>
          <a:prstGeom prst="rect">
            <a:avLst/>
          </a:prstGeom>
          <a:noFill/>
          <a:ln/>
        </p:spPr>
        <p:txBody>
          <a:bodyPr wrap="square" lIns="0" tIns="0" rIns="0" bIns="0" rtlCol="0" anchor="ctr"/>
          <a:lstStyle/>
          <a:p>
            <a:pPr indent="0" marL="0">
              <a:lnSpc>
                <a:spcPct val="120000"/>
              </a:lnSpc>
              <a:buNone/>
            </a:pPr>
            <a:r>
              <a:rPr lang="en-US" sz="1050" dirty="0">
                <a:solidFill>
                  <a:srgbClr val="9FB0BB"/>
                </a:solidFill>
                <a:latin typeface="Calibri" pitchFamily="34" charset="0"/>
                <a:ea typeface="Calibri" pitchFamily="34" charset="-122"/>
                <a:cs typeface="Calibri" pitchFamily="34" charset="-120"/>
              </a:rPr>
              <a:t>A cap of five once let twelve simultaneous requests through. The limit is now part of the database update.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indent="0" marL="0">
              <a:buNone/>
            </a:pPr>
            <a:r>
              <a:rPr lang="en-US" sz="3400" b="1" dirty="0">
                <a:solidFill>
                  <a:srgbClr val="232B32"/>
                </a:solidFill>
                <a:latin typeface="Cambria" pitchFamily="34" charset="0"/>
                <a:ea typeface="Cambria" pitchFamily="34" charset="-122"/>
                <a:cs typeface="Cambria" pitchFamily="34" charset="-120"/>
              </a:rPr>
              <a:t>Verified, not asserted</a:t>
            </a:r>
            <a:endParaRPr lang="en-US" sz="3400" dirty="0"/>
          </a:p>
        </p:txBody>
      </p:sp>
      <p:sp>
        <p:nvSpPr>
          <p:cNvPr id="3" name="Text 1"/>
          <p:cNvSpPr txBox="1"/>
          <p:nvPr/>
        </p:nvSpPr>
        <p:spPr>
          <a:xfrm>
            <a:off x="640080" y="1060704"/>
            <a:ext cx="10881360" cy="365760"/>
          </a:xfrm>
          <a:prstGeom prst="rect">
            <a:avLst/>
          </a:prstGeom>
          <a:noFill/>
          <a:ln/>
        </p:spPr>
        <p:txBody>
          <a:bodyPr wrap="square" lIns="0" tIns="0" rIns="0" bIns="0" rtlCol="0" anchor="ctr"/>
          <a:lstStyle/>
          <a:p>
            <a:pPr indent="0" marL="0">
              <a:buNone/>
            </a:pPr>
            <a:r>
              <a:rPr lang="en-US" sz="1400" dirty="0">
                <a:solidFill>
                  <a:srgbClr val="6B7A87"/>
                </a:solidFill>
                <a:latin typeface="Calibri" pitchFamily="34" charset="0"/>
                <a:ea typeface="Calibri" pitchFamily="34" charset="-122"/>
                <a:cs typeface="Calibri" pitchFamily="34" charset="-120"/>
              </a:rPr>
              <a:t>Every figure below was checked against the running system</a:t>
            </a:r>
            <a:endParaRPr lang="en-US" sz="1400" dirty="0"/>
          </a:p>
        </p:txBody>
      </p:sp>
      <p:sp>
        <p:nvSpPr>
          <p:cNvPr id="4" name="Shape 2"/>
          <p:cNvSpPr/>
          <p:nvPr/>
        </p:nvSpPr>
        <p:spPr>
          <a:xfrm>
            <a:off x="640080" y="1737360"/>
            <a:ext cx="3429000" cy="1143000"/>
          </a:xfrm>
          <a:prstGeom prst="roundRect">
            <a:avLst>
              <a:gd name="adj" fmla="val 4800"/>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5" name="Text 3"/>
          <p:cNvSpPr txBox="1"/>
          <p:nvPr/>
        </p:nvSpPr>
        <p:spPr>
          <a:xfrm>
            <a:off x="914400" y="1883664"/>
            <a:ext cx="1371600" cy="822960"/>
          </a:xfrm>
          <a:prstGeom prst="rect">
            <a:avLst/>
          </a:prstGeom>
          <a:noFill/>
          <a:ln/>
        </p:spPr>
        <p:txBody>
          <a:bodyPr wrap="square" lIns="0" tIns="0" rIns="0" bIns="0" rtlCol="0" anchor="ctr"/>
          <a:lstStyle/>
          <a:p>
            <a:pPr indent="0" marL="0">
              <a:buNone/>
            </a:pPr>
            <a:r>
              <a:rPr lang="en-US" sz="4000" b="1" dirty="0">
                <a:solidFill>
                  <a:srgbClr val="232B32"/>
                </a:solidFill>
                <a:latin typeface="Cambria" pitchFamily="34" charset="0"/>
                <a:ea typeface="Cambria" pitchFamily="34" charset="-122"/>
                <a:cs typeface="Cambria" pitchFamily="34" charset="-120"/>
              </a:rPr>
              <a:t>180</a:t>
            </a:r>
            <a:endParaRPr lang="en-US" sz="4000" dirty="0"/>
          </a:p>
        </p:txBody>
      </p:sp>
      <p:sp>
        <p:nvSpPr>
          <p:cNvPr id="6" name="Text 4"/>
          <p:cNvSpPr txBox="1"/>
          <p:nvPr/>
        </p:nvSpPr>
        <p:spPr>
          <a:xfrm>
            <a:off x="2240280" y="2121408"/>
            <a:ext cx="1691640" cy="457200"/>
          </a:xfrm>
          <a:prstGeom prst="rect">
            <a:avLst/>
          </a:prstGeom>
          <a:noFill/>
          <a:ln/>
        </p:spPr>
        <p:txBody>
          <a:bodyPr wrap="square" lIns="0" tIns="0" rIns="0" bIns="0" rtlCol="0" anchor="ctr"/>
          <a:lstStyle/>
          <a:p>
            <a:pPr indent="0" marL="0">
              <a:lnSpc>
                <a:spcPct val="110000"/>
              </a:lnSpc>
              <a:buNone/>
            </a:pPr>
            <a:r>
              <a:rPr lang="en-US" sz="1200" dirty="0">
                <a:solidFill>
                  <a:srgbClr val="6B7A87"/>
                </a:solidFill>
                <a:latin typeface="Calibri" pitchFamily="34" charset="0"/>
                <a:ea typeface="Calibri" pitchFamily="34" charset="-122"/>
                <a:cs typeface="Calibri" pitchFamily="34" charset="-120"/>
              </a:rPr>
              <a:t>automated tests</a:t>
            </a:r>
            <a:endParaRPr lang="en-US" sz="1200" dirty="0"/>
          </a:p>
        </p:txBody>
      </p:sp>
      <p:sp>
        <p:nvSpPr>
          <p:cNvPr id="7" name="Shape 5"/>
          <p:cNvSpPr/>
          <p:nvPr/>
        </p:nvSpPr>
        <p:spPr>
          <a:xfrm>
            <a:off x="4352544" y="1737360"/>
            <a:ext cx="3429000" cy="1143000"/>
          </a:xfrm>
          <a:prstGeom prst="roundRect">
            <a:avLst>
              <a:gd name="adj" fmla="val 4800"/>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8" name="Text 6"/>
          <p:cNvSpPr txBox="1"/>
          <p:nvPr/>
        </p:nvSpPr>
        <p:spPr>
          <a:xfrm>
            <a:off x="4626864" y="1883664"/>
            <a:ext cx="1371600" cy="822960"/>
          </a:xfrm>
          <a:prstGeom prst="rect">
            <a:avLst/>
          </a:prstGeom>
          <a:noFill/>
          <a:ln/>
        </p:spPr>
        <p:txBody>
          <a:bodyPr wrap="square" lIns="0" tIns="0" rIns="0" bIns="0" rtlCol="0" anchor="ctr"/>
          <a:lstStyle/>
          <a:p>
            <a:pPr indent="0" marL="0">
              <a:buNone/>
            </a:pPr>
            <a:r>
              <a:rPr lang="en-US" sz="4000" b="1" dirty="0">
                <a:solidFill>
                  <a:srgbClr val="232B32"/>
                </a:solidFill>
                <a:latin typeface="Cambria" pitchFamily="34" charset="0"/>
                <a:ea typeface="Cambria" pitchFamily="34" charset="-122"/>
                <a:cs typeface="Cambria" pitchFamily="34" charset="-120"/>
              </a:rPr>
              <a:t>8</a:t>
            </a:r>
            <a:endParaRPr lang="en-US" sz="4000" dirty="0"/>
          </a:p>
        </p:txBody>
      </p:sp>
      <p:sp>
        <p:nvSpPr>
          <p:cNvPr id="9" name="Text 7"/>
          <p:cNvSpPr txBox="1"/>
          <p:nvPr/>
        </p:nvSpPr>
        <p:spPr>
          <a:xfrm>
            <a:off x="5952744" y="2121408"/>
            <a:ext cx="1691640" cy="457200"/>
          </a:xfrm>
          <a:prstGeom prst="rect">
            <a:avLst/>
          </a:prstGeom>
          <a:noFill/>
          <a:ln/>
        </p:spPr>
        <p:txBody>
          <a:bodyPr wrap="square" lIns="0" tIns="0" rIns="0" bIns="0" rtlCol="0" anchor="ctr"/>
          <a:lstStyle/>
          <a:p>
            <a:pPr indent="0" marL="0">
              <a:lnSpc>
                <a:spcPct val="110000"/>
              </a:lnSpc>
              <a:buNone/>
            </a:pPr>
            <a:r>
              <a:rPr lang="en-US" sz="1200" dirty="0">
                <a:solidFill>
                  <a:srgbClr val="6B7A87"/>
                </a:solidFill>
                <a:latin typeface="Calibri" pitchFamily="34" charset="0"/>
                <a:ea typeface="Calibri" pitchFamily="34" charset="-122"/>
                <a:cs typeface="Calibri" pitchFamily="34" charset="-120"/>
              </a:rPr>
              <a:t>CAP services</a:t>
            </a:r>
            <a:endParaRPr lang="en-US" sz="1200" dirty="0"/>
          </a:p>
        </p:txBody>
      </p:sp>
      <p:sp>
        <p:nvSpPr>
          <p:cNvPr id="10" name="Shape 8"/>
          <p:cNvSpPr/>
          <p:nvPr/>
        </p:nvSpPr>
        <p:spPr>
          <a:xfrm>
            <a:off x="8065008" y="1737360"/>
            <a:ext cx="3429000" cy="1143000"/>
          </a:xfrm>
          <a:prstGeom prst="roundRect">
            <a:avLst>
              <a:gd name="adj" fmla="val 4800"/>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11" name="Text 9"/>
          <p:cNvSpPr txBox="1"/>
          <p:nvPr/>
        </p:nvSpPr>
        <p:spPr>
          <a:xfrm>
            <a:off x="8339328" y="1883664"/>
            <a:ext cx="1371600" cy="822960"/>
          </a:xfrm>
          <a:prstGeom prst="rect">
            <a:avLst/>
          </a:prstGeom>
          <a:noFill/>
          <a:ln/>
        </p:spPr>
        <p:txBody>
          <a:bodyPr wrap="square" lIns="0" tIns="0" rIns="0" bIns="0" rtlCol="0" anchor="ctr"/>
          <a:lstStyle/>
          <a:p>
            <a:pPr indent="0" marL="0">
              <a:buNone/>
            </a:pPr>
            <a:r>
              <a:rPr lang="en-US" sz="4000" b="1" dirty="0">
                <a:solidFill>
                  <a:srgbClr val="232B32"/>
                </a:solidFill>
                <a:latin typeface="Cambria" pitchFamily="34" charset="0"/>
                <a:ea typeface="Cambria" pitchFamily="34" charset="-122"/>
                <a:cs typeface="Cambria" pitchFamily="34" charset="-120"/>
              </a:rPr>
              <a:t>14</a:t>
            </a:r>
            <a:endParaRPr lang="en-US" sz="4000" dirty="0"/>
          </a:p>
        </p:txBody>
      </p:sp>
      <p:sp>
        <p:nvSpPr>
          <p:cNvPr id="12" name="Text 10"/>
          <p:cNvSpPr txBox="1"/>
          <p:nvPr/>
        </p:nvSpPr>
        <p:spPr>
          <a:xfrm>
            <a:off x="9665208" y="2121408"/>
            <a:ext cx="1691640" cy="457200"/>
          </a:xfrm>
          <a:prstGeom prst="rect">
            <a:avLst/>
          </a:prstGeom>
          <a:noFill/>
          <a:ln/>
        </p:spPr>
        <p:txBody>
          <a:bodyPr wrap="square" lIns="0" tIns="0" rIns="0" bIns="0" rtlCol="0" anchor="ctr"/>
          <a:lstStyle/>
          <a:p>
            <a:pPr indent="0" marL="0">
              <a:lnSpc>
                <a:spcPct val="110000"/>
              </a:lnSpc>
              <a:buNone/>
            </a:pPr>
            <a:r>
              <a:rPr lang="en-US" sz="1200" dirty="0">
                <a:solidFill>
                  <a:srgbClr val="6B7A87"/>
                </a:solidFill>
                <a:latin typeface="Calibri" pitchFamily="34" charset="0"/>
                <a:ea typeface="Calibri" pitchFamily="34" charset="-122"/>
                <a:cs typeface="Calibri" pitchFamily="34" charset="-120"/>
              </a:rPr>
              <a:t>admin screens</a:t>
            </a:r>
            <a:endParaRPr lang="en-US" sz="1200" dirty="0"/>
          </a:p>
        </p:txBody>
      </p:sp>
      <p:sp>
        <p:nvSpPr>
          <p:cNvPr id="13" name="Shape 11"/>
          <p:cNvSpPr/>
          <p:nvPr/>
        </p:nvSpPr>
        <p:spPr>
          <a:xfrm>
            <a:off x="640080" y="3108960"/>
            <a:ext cx="3429000" cy="1143000"/>
          </a:xfrm>
          <a:prstGeom prst="roundRect">
            <a:avLst>
              <a:gd name="adj" fmla="val 4800"/>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14" name="Text 12"/>
          <p:cNvSpPr txBox="1"/>
          <p:nvPr/>
        </p:nvSpPr>
        <p:spPr>
          <a:xfrm>
            <a:off x="914400" y="3255264"/>
            <a:ext cx="1371600" cy="822960"/>
          </a:xfrm>
          <a:prstGeom prst="rect">
            <a:avLst/>
          </a:prstGeom>
          <a:noFill/>
          <a:ln/>
        </p:spPr>
        <p:txBody>
          <a:bodyPr wrap="square" lIns="0" tIns="0" rIns="0" bIns="0" rtlCol="0" anchor="ctr"/>
          <a:lstStyle/>
          <a:p>
            <a:pPr indent="0" marL="0">
              <a:buNone/>
            </a:pPr>
            <a:r>
              <a:rPr lang="en-US" sz="4000" b="1" dirty="0">
                <a:solidFill>
                  <a:srgbClr val="232B32"/>
                </a:solidFill>
                <a:latin typeface="Cambria" pitchFamily="34" charset="0"/>
                <a:ea typeface="Cambria" pitchFamily="34" charset="-122"/>
                <a:cs typeface="Cambria" pitchFamily="34" charset="-120"/>
              </a:rPr>
              <a:t>15</a:t>
            </a:r>
            <a:endParaRPr lang="en-US" sz="4000" dirty="0"/>
          </a:p>
        </p:txBody>
      </p:sp>
      <p:sp>
        <p:nvSpPr>
          <p:cNvPr id="15" name="Text 13"/>
          <p:cNvSpPr txBox="1"/>
          <p:nvPr/>
        </p:nvSpPr>
        <p:spPr>
          <a:xfrm>
            <a:off x="2240280" y="3493008"/>
            <a:ext cx="1691640" cy="457200"/>
          </a:xfrm>
          <a:prstGeom prst="rect">
            <a:avLst/>
          </a:prstGeom>
          <a:noFill/>
          <a:ln/>
        </p:spPr>
        <p:txBody>
          <a:bodyPr wrap="square" lIns="0" tIns="0" rIns="0" bIns="0" rtlCol="0" anchor="ctr"/>
          <a:lstStyle/>
          <a:p>
            <a:pPr indent="0" marL="0">
              <a:lnSpc>
                <a:spcPct val="110000"/>
              </a:lnSpc>
              <a:buNone/>
            </a:pPr>
            <a:r>
              <a:rPr lang="en-US" sz="1200" dirty="0">
                <a:solidFill>
                  <a:srgbClr val="6B7A87"/>
                </a:solidFill>
                <a:latin typeface="Calibri" pitchFamily="34" charset="0"/>
                <a:ea typeface="Calibri" pitchFamily="34" charset="-122"/>
                <a:cs typeface="Calibri" pitchFamily="34" charset="-120"/>
              </a:rPr>
              <a:t>security scopes</a:t>
            </a:r>
            <a:endParaRPr lang="en-US" sz="1200" dirty="0"/>
          </a:p>
        </p:txBody>
      </p:sp>
      <p:sp>
        <p:nvSpPr>
          <p:cNvPr id="16" name="Shape 14"/>
          <p:cNvSpPr/>
          <p:nvPr/>
        </p:nvSpPr>
        <p:spPr>
          <a:xfrm>
            <a:off x="4352544" y="3108960"/>
            <a:ext cx="3429000" cy="1143000"/>
          </a:xfrm>
          <a:prstGeom prst="roundRect">
            <a:avLst>
              <a:gd name="adj" fmla="val 4800"/>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17" name="Text 15"/>
          <p:cNvSpPr txBox="1"/>
          <p:nvPr/>
        </p:nvSpPr>
        <p:spPr>
          <a:xfrm>
            <a:off x="4626864" y="3255264"/>
            <a:ext cx="1371600" cy="822960"/>
          </a:xfrm>
          <a:prstGeom prst="rect">
            <a:avLst/>
          </a:prstGeom>
          <a:noFill/>
          <a:ln/>
        </p:spPr>
        <p:txBody>
          <a:bodyPr wrap="square" lIns="0" tIns="0" rIns="0" bIns="0" rtlCol="0" anchor="ctr"/>
          <a:lstStyle/>
          <a:p>
            <a:pPr indent="0" marL="0">
              <a:buNone/>
            </a:pPr>
            <a:r>
              <a:rPr lang="en-US" sz="4000" b="1" dirty="0">
                <a:solidFill>
                  <a:srgbClr val="232B32"/>
                </a:solidFill>
                <a:latin typeface="Cambria" pitchFamily="34" charset="0"/>
                <a:ea typeface="Cambria" pitchFamily="34" charset="-122"/>
                <a:cs typeface="Cambria" pitchFamily="34" charset="-120"/>
              </a:rPr>
              <a:t>5</a:t>
            </a:r>
            <a:endParaRPr lang="en-US" sz="4000" dirty="0"/>
          </a:p>
        </p:txBody>
      </p:sp>
      <p:sp>
        <p:nvSpPr>
          <p:cNvPr id="18" name="Text 16"/>
          <p:cNvSpPr txBox="1"/>
          <p:nvPr/>
        </p:nvSpPr>
        <p:spPr>
          <a:xfrm>
            <a:off x="5952744" y="3493008"/>
            <a:ext cx="1691640" cy="457200"/>
          </a:xfrm>
          <a:prstGeom prst="rect">
            <a:avLst/>
          </a:prstGeom>
          <a:noFill/>
          <a:ln/>
        </p:spPr>
        <p:txBody>
          <a:bodyPr wrap="square" lIns="0" tIns="0" rIns="0" bIns="0" rtlCol="0" anchor="ctr"/>
          <a:lstStyle/>
          <a:p>
            <a:pPr indent="0" marL="0">
              <a:lnSpc>
                <a:spcPct val="110000"/>
              </a:lnSpc>
              <a:buNone/>
            </a:pPr>
            <a:r>
              <a:rPr lang="en-US" sz="1200" dirty="0">
                <a:solidFill>
                  <a:srgbClr val="6B7A87"/>
                </a:solidFill>
                <a:latin typeface="Calibri" pitchFamily="34" charset="0"/>
                <a:ea typeface="Calibri" pitchFamily="34" charset="-122"/>
                <a:cs typeface="Calibri" pitchFamily="34" charset="-120"/>
              </a:rPr>
              <a:t>SAP objects live</a:t>
            </a:r>
            <a:endParaRPr lang="en-US" sz="1200" dirty="0"/>
          </a:p>
        </p:txBody>
      </p:sp>
      <p:sp>
        <p:nvSpPr>
          <p:cNvPr id="19" name="Shape 17"/>
          <p:cNvSpPr/>
          <p:nvPr/>
        </p:nvSpPr>
        <p:spPr>
          <a:xfrm>
            <a:off x="8065008" y="3108960"/>
            <a:ext cx="3429000" cy="1143000"/>
          </a:xfrm>
          <a:prstGeom prst="roundRect">
            <a:avLst>
              <a:gd name="adj" fmla="val 4800"/>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20" name="Text 18"/>
          <p:cNvSpPr txBox="1"/>
          <p:nvPr/>
        </p:nvSpPr>
        <p:spPr>
          <a:xfrm>
            <a:off x="8339328" y="3255264"/>
            <a:ext cx="1371600" cy="822960"/>
          </a:xfrm>
          <a:prstGeom prst="rect">
            <a:avLst/>
          </a:prstGeom>
          <a:noFill/>
          <a:ln/>
        </p:spPr>
        <p:txBody>
          <a:bodyPr wrap="square" lIns="0" tIns="0" rIns="0" bIns="0" rtlCol="0" anchor="ctr"/>
          <a:lstStyle/>
          <a:p>
            <a:pPr indent="0" marL="0">
              <a:buNone/>
            </a:pPr>
            <a:r>
              <a:rPr lang="en-US" sz="4000" b="1" dirty="0">
                <a:solidFill>
                  <a:srgbClr val="232B32"/>
                </a:solidFill>
                <a:latin typeface="Cambria" pitchFamily="34" charset="0"/>
                <a:ea typeface="Cambria" pitchFamily="34" charset="-122"/>
                <a:cs typeface="Cambria" pitchFamily="34" charset="-120"/>
              </a:rPr>
              <a:t>0</a:t>
            </a:r>
            <a:endParaRPr lang="en-US" sz="4000" dirty="0"/>
          </a:p>
        </p:txBody>
      </p:sp>
      <p:sp>
        <p:nvSpPr>
          <p:cNvPr id="21" name="Text 19"/>
          <p:cNvSpPr txBox="1"/>
          <p:nvPr/>
        </p:nvSpPr>
        <p:spPr>
          <a:xfrm>
            <a:off x="9665208" y="3493008"/>
            <a:ext cx="1691640" cy="457200"/>
          </a:xfrm>
          <a:prstGeom prst="rect">
            <a:avLst/>
          </a:prstGeom>
          <a:noFill/>
          <a:ln/>
        </p:spPr>
        <p:txBody>
          <a:bodyPr wrap="square" lIns="0" tIns="0" rIns="0" bIns="0" rtlCol="0" anchor="ctr"/>
          <a:lstStyle/>
          <a:p>
            <a:pPr indent="0" marL="0">
              <a:lnSpc>
                <a:spcPct val="110000"/>
              </a:lnSpc>
              <a:buNone/>
            </a:pPr>
            <a:r>
              <a:rPr lang="en-US" sz="1200" dirty="0">
                <a:solidFill>
                  <a:srgbClr val="6B7A87"/>
                </a:solidFill>
                <a:latin typeface="Calibri" pitchFamily="34" charset="0"/>
                <a:ea typeface="Calibri" pitchFamily="34" charset="-122"/>
                <a:cs typeface="Calibri" pitchFamily="34" charset="-120"/>
              </a:rPr>
              <a:t>secrets in the database</a:t>
            </a:r>
            <a:endParaRPr lang="en-US" sz="1200" dirty="0"/>
          </a:p>
        </p:txBody>
      </p:sp>
      <p:sp>
        <p:nvSpPr>
          <p:cNvPr id="22" name="Shape 20"/>
          <p:cNvSpPr/>
          <p:nvPr/>
        </p:nvSpPr>
        <p:spPr>
          <a:xfrm>
            <a:off x="640080" y="4572000"/>
            <a:ext cx="10881360" cy="1417320"/>
          </a:xfrm>
          <a:prstGeom prst="roundRect">
            <a:avLst>
              <a:gd name="adj" fmla="val 3871"/>
            </a:avLst>
          </a:prstGeom>
          <a:solidFill>
            <a:srgbClr val="232B32"/>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23" name="Text 21"/>
          <p:cNvSpPr txBox="1"/>
          <p:nvPr/>
        </p:nvSpPr>
        <p:spPr>
          <a:xfrm>
            <a:off x="960120" y="4736592"/>
            <a:ext cx="5029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How you can check it yourself</a:t>
            </a:r>
            <a:endParaRPr lang="en-US" sz="1300" dirty="0"/>
          </a:p>
        </p:txBody>
      </p:sp>
      <p:sp>
        <p:nvSpPr>
          <p:cNvPr id="24" name="Text 22"/>
          <p:cNvSpPr txBox="1"/>
          <p:nvPr/>
        </p:nvSpPr>
        <p:spPr>
          <a:xfrm>
            <a:off x="960120" y="5120640"/>
            <a:ext cx="3474720" cy="685800"/>
          </a:xfrm>
          <a:prstGeom prst="rect">
            <a:avLst/>
          </a:prstGeom>
          <a:noFill/>
          <a:ln/>
        </p:spPr>
        <p:txBody>
          <a:bodyPr wrap="square" lIns="0" tIns="0" rIns="0" bIns="0" rtlCol="0" anchor="ctr"/>
          <a:lstStyle/>
          <a:p>
            <a:pPr marL="342900" indent="-342900">
              <a:lnSpc>
                <a:spcPct val="120000"/>
              </a:lnSpc>
              <a:buSzPct val="100000"/>
              <a:buChar char="•"/>
            </a:pPr>
            <a:r>
              <a:rPr lang="en-US" sz="1050" dirty="0">
                <a:solidFill>
                  <a:srgbClr val="9FB0BB"/>
                </a:solidFill>
                <a:latin typeface="Calibri" pitchFamily="34" charset="0"/>
                <a:ea typeface="Calibri" pitchFamily="34" charset="-122"/>
                <a:cs typeface="Calibri" pitchFamily="34" charset="-120"/>
              </a:rPr>
              <a:t>Expand Sources on any answer — the system, the row count and the query</a:t>
            </a:r>
            <a:endParaRPr lang="en-US" sz="1050" dirty="0"/>
          </a:p>
        </p:txBody>
      </p:sp>
      <p:sp>
        <p:nvSpPr>
          <p:cNvPr id="25" name="Text 23"/>
          <p:cNvSpPr txBox="1"/>
          <p:nvPr/>
        </p:nvSpPr>
        <p:spPr>
          <a:xfrm>
            <a:off x="4617720" y="5120640"/>
            <a:ext cx="3474720" cy="685800"/>
          </a:xfrm>
          <a:prstGeom prst="rect">
            <a:avLst/>
          </a:prstGeom>
          <a:noFill/>
          <a:ln/>
        </p:spPr>
        <p:txBody>
          <a:bodyPr wrap="square" lIns="0" tIns="0" rIns="0" bIns="0" rtlCol="0" anchor="ctr"/>
          <a:lstStyle/>
          <a:p>
            <a:pPr marL="342900" indent="-342900">
              <a:lnSpc>
                <a:spcPct val="120000"/>
              </a:lnSpc>
              <a:buSzPct val="100000"/>
              <a:buChar char="•"/>
            </a:pPr>
            <a:r>
              <a:rPr lang="en-US" sz="1050" dirty="0">
                <a:solidFill>
                  <a:srgbClr val="9FB0BB"/>
                </a:solidFill>
                <a:latin typeface="Calibri" pitchFamily="34" charset="0"/>
                <a:ea typeface="Calibri" pitchFamily="34" charset="-122"/>
                <a:cs typeface="Calibri" pitchFamily="34" charset="-120"/>
              </a:rPr>
              <a:t>cf logs factorypilot-srv — one line per SAP call, naming Graph or Hub</a:t>
            </a:r>
            <a:endParaRPr lang="en-US" sz="1050" dirty="0"/>
          </a:p>
        </p:txBody>
      </p:sp>
      <p:sp>
        <p:nvSpPr>
          <p:cNvPr id="26" name="Text 24"/>
          <p:cNvSpPr txBox="1"/>
          <p:nvPr/>
        </p:nvSpPr>
        <p:spPr>
          <a:xfrm>
            <a:off x="8275320" y="5120640"/>
            <a:ext cx="3474720" cy="685800"/>
          </a:xfrm>
          <a:prstGeom prst="rect">
            <a:avLst/>
          </a:prstGeom>
          <a:noFill/>
          <a:ln/>
        </p:spPr>
        <p:txBody>
          <a:bodyPr wrap="square" lIns="0" tIns="0" rIns="0" bIns="0" rtlCol="0" anchor="ctr"/>
          <a:lstStyle/>
          <a:p>
            <a:pPr marL="342900" indent="-342900">
              <a:lnSpc>
                <a:spcPct val="120000"/>
              </a:lnSpc>
              <a:buSzPct val="100000"/>
              <a:buChar char="•"/>
            </a:pPr>
            <a:r>
              <a:rPr lang="en-US" sz="1050" dirty="0">
                <a:solidFill>
                  <a:srgbClr val="9FB0BB"/>
                </a:solidFill>
                <a:latin typeface="Calibri" pitchFamily="34" charset="0"/>
                <a:ea typeface="Calibri" pitchFamily="34" charset="-122"/>
                <a:cs typeface="Calibri" pitchFamily="34" charset="-120"/>
              </a:rPr>
              <a:t>Session Log — one row per request, with the URL that was called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640080"/>
          </a:xfrm>
          <a:prstGeom prst="rect">
            <a:avLst/>
          </a:prstGeom>
          <a:noFill/>
          <a:ln/>
        </p:spPr>
        <p:txBody>
          <a:bodyPr wrap="square" lIns="0" tIns="0" rIns="0" bIns="0" rtlCol="0" anchor="ctr"/>
          <a:lstStyle/>
          <a:p>
            <a:pPr indent="0" marL="0">
              <a:buNone/>
            </a:pPr>
            <a:r>
              <a:rPr lang="en-US" sz="3400" b="1" dirty="0">
                <a:solidFill>
                  <a:srgbClr val="232B32"/>
                </a:solidFill>
                <a:latin typeface="Cambria" pitchFamily="34" charset="0"/>
                <a:ea typeface="Cambria" pitchFamily="34" charset="-122"/>
                <a:cs typeface="Cambria" pitchFamily="34" charset="-120"/>
              </a:rPr>
              <a:t>What comes next</a:t>
            </a:r>
            <a:endParaRPr lang="en-US" sz="3400" dirty="0"/>
          </a:p>
        </p:txBody>
      </p:sp>
      <p:sp>
        <p:nvSpPr>
          <p:cNvPr id="3" name="Text 1"/>
          <p:cNvSpPr txBox="1"/>
          <p:nvPr/>
        </p:nvSpPr>
        <p:spPr>
          <a:xfrm>
            <a:off x="640080" y="1060704"/>
            <a:ext cx="10881360" cy="365760"/>
          </a:xfrm>
          <a:prstGeom prst="rect">
            <a:avLst/>
          </a:prstGeom>
          <a:noFill/>
          <a:ln/>
        </p:spPr>
        <p:txBody>
          <a:bodyPr wrap="square" lIns="0" tIns="0" rIns="0" bIns="0" rtlCol="0" anchor="ctr"/>
          <a:lstStyle/>
          <a:p>
            <a:pPr indent="0" marL="0">
              <a:buNone/>
            </a:pPr>
            <a:r>
              <a:rPr lang="en-US" sz="1400" dirty="0">
                <a:solidFill>
                  <a:srgbClr val="6B7A87"/>
                </a:solidFill>
                <a:latin typeface="Calibri" pitchFamily="34" charset="0"/>
                <a:ea typeface="Calibri" pitchFamily="34" charset="-122"/>
                <a:cs typeface="Calibri" pitchFamily="34" charset="-120"/>
              </a:rPr>
              <a:t>Stated plainly, so the boundary is clear</a:t>
            </a:r>
            <a:endParaRPr lang="en-US" sz="1400" dirty="0"/>
          </a:p>
        </p:txBody>
      </p:sp>
      <p:sp>
        <p:nvSpPr>
          <p:cNvPr id="4" name="Shape 2"/>
          <p:cNvSpPr/>
          <p:nvPr/>
        </p:nvSpPr>
        <p:spPr>
          <a:xfrm>
            <a:off x="640080" y="1783080"/>
            <a:ext cx="3429000" cy="3749040"/>
          </a:xfrm>
          <a:prstGeom prst="roundRect">
            <a:avLst>
              <a:gd name="adj" fmla="val 1600"/>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5" name="Shape 3"/>
          <p:cNvSpPr/>
          <p:nvPr/>
        </p:nvSpPr>
        <p:spPr>
          <a:xfrm>
            <a:off x="896112" y="2011680"/>
            <a:ext cx="329184" cy="329184"/>
          </a:xfrm>
          <a:prstGeom prst="ellipse">
            <a:avLst/>
          </a:prstGeom>
          <a:solidFill>
            <a:srgbClr val="2F7A6E"/>
          </a:solidFill>
          <a:ln/>
        </p:spPr>
      </p:sp>
      <p:sp>
        <p:nvSpPr>
          <p:cNvPr id="6" name="Text 4"/>
          <p:cNvSpPr txBox="1"/>
          <p:nvPr/>
        </p:nvSpPr>
        <p:spPr>
          <a:xfrm>
            <a:off x="896112" y="20116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325880" y="2048256"/>
            <a:ext cx="2560320" cy="292608"/>
          </a:xfrm>
          <a:prstGeom prst="rect">
            <a:avLst/>
          </a:prstGeom>
          <a:noFill/>
          <a:ln/>
        </p:spPr>
        <p:txBody>
          <a:bodyPr wrap="square" lIns="0" tIns="0" rIns="0" bIns="0" rtlCol="0" anchor="ctr"/>
          <a:lstStyle/>
          <a:p>
            <a:pPr indent="0" marL="0">
              <a:buNone/>
            </a:pPr>
            <a:r>
              <a:rPr lang="en-US" sz="1600" b="1" dirty="0">
                <a:solidFill>
                  <a:srgbClr val="232B32"/>
                </a:solidFill>
                <a:latin typeface="Cambria" pitchFamily="34" charset="0"/>
                <a:ea typeface="Cambria" pitchFamily="34" charset="-122"/>
                <a:cs typeface="Cambria" pitchFamily="34" charset="-120"/>
              </a:rPr>
              <a:t>Live today</a:t>
            </a:r>
            <a:endParaRPr lang="en-US" sz="1600" dirty="0"/>
          </a:p>
        </p:txBody>
      </p:sp>
      <p:sp>
        <p:nvSpPr>
          <p:cNvPr id="8" name="Text 6"/>
          <p:cNvSpPr txBox="1"/>
          <p:nvPr/>
        </p:nvSpPr>
        <p:spPr>
          <a:xfrm>
            <a:off x="914400" y="2606040"/>
            <a:ext cx="2880360" cy="530352"/>
          </a:xfrm>
          <a:prstGeom prst="rect">
            <a:avLst/>
          </a:prstGeom>
          <a:noFill/>
          <a:ln/>
        </p:spPr>
        <p:txBody>
          <a:bodyPr wrap="square" lIns="0" tIns="0" rIns="0" bIns="0" rtlCol="0" anchor="ctr"/>
          <a:lstStyle/>
          <a:p>
            <a:pPr marL="342900" indent="-342900">
              <a:lnSpc>
                <a:spcPct val="115000"/>
              </a:lnSpc>
              <a:buSzPct val="100000"/>
              <a:buChar char="•"/>
            </a:pPr>
            <a:r>
              <a:rPr lang="en-US" sz="1100" dirty="0">
                <a:solidFill>
                  <a:srgbClr val="6B7A87"/>
                </a:solidFill>
                <a:latin typeface="Calibri" pitchFamily="34" charset="0"/>
                <a:ea typeface="Calibri" pitchFamily="34" charset="-122"/>
                <a:cs typeface="Calibri" pitchFamily="34" charset="-120"/>
              </a:rPr>
              <a:t>Live S/4 data through SAP Graph</a:t>
            </a:r>
            <a:endParaRPr lang="en-US" sz="1100" dirty="0"/>
          </a:p>
        </p:txBody>
      </p:sp>
      <p:sp>
        <p:nvSpPr>
          <p:cNvPr id="9" name="Text 7"/>
          <p:cNvSpPr txBox="1"/>
          <p:nvPr/>
        </p:nvSpPr>
        <p:spPr>
          <a:xfrm>
            <a:off x="914400" y="3172968"/>
            <a:ext cx="2880360" cy="530352"/>
          </a:xfrm>
          <a:prstGeom prst="rect">
            <a:avLst/>
          </a:prstGeom>
          <a:noFill/>
          <a:ln/>
        </p:spPr>
        <p:txBody>
          <a:bodyPr wrap="square" lIns="0" tIns="0" rIns="0" bIns="0" rtlCol="0" anchor="ctr"/>
          <a:lstStyle/>
          <a:p>
            <a:pPr marL="342900" indent="-342900">
              <a:lnSpc>
                <a:spcPct val="115000"/>
              </a:lnSpc>
              <a:buSzPct val="100000"/>
              <a:buChar char="•"/>
            </a:pPr>
            <a:r>
              <a:rPr lang="en-US" sz="1100" dirty="0">
                <a:solidFill>
                  <a:srgbClr val="6B7A87"/>
                </a:solidFill>
                <a:latin typeface="Calibri" pitchFamily="34" charset="0"/>
                <a:ea typeface="Calibri" pitchFamily="34" charset="-122"/>
                <a:cs typeface="Calibri" pitchFamily="34" charset="-120"/>
              </a:rPr>
              <a:t>Chat, tables and charts</a:t>
            </a:r>
            <a:endParaRPr lang="en-US" sz="1100" dirty="0"/>
          </a:p>
        </p:txBody>
      </p:sp>
      <p:sp>
        <p:nvSpPr>
          <p:cNvPr id="10" name="Text 8"/>
          <p:cNvSpPr txBox="1"/>
          <p:nvPr/>
        </p:nvSpPr>
        <p:spPr>
          <a:xfrm>
            <a:off x="914400" y="3739896"/>
            <a:ext cx="2880360" cy="530352"/>
          </a:xfrm>
          <a:prstGeom prst="rect">
            <a:avLst/>
          </a:prstGeom>
          <a:noFill/>
          <a:ln/>
        </p:spPr>
        <p:txBody>
          <a:bodyPr wrap="square" lIns="0" tIns="0" rIns="0" bIns="0" rtlCol="0" anchor="ctr"/>
          <a:lstStyle/>
          <a:p>
            <a:pPr marL="342900" indent="-342900">
              <a:lnSpc>
                <a:spcPct val="115000"/>
              </a:lnSpc>
              <a:buSzPct val="100000"/>
              <a:buChar char="•"/>
            </a:pPr>
            <a:r>
              <a:rPr lang="en-US" sz="1100" dirty="0">
                <a:solidFill>
                  <a:srgbClr val="6B7A87"/>
                </a:solidFill>
                <a:latin typeface="Calibri" pitchFamily="34" charset="0"/>
                <a:ea typeface="Calibri" pitchFamily="34" charset="-122"/>
                <a:cs typeface="Calibri" pitchFamily="34" charset="-120"/>
              </a:rPr>
              <a:t>Write approval workflow</a:t>
            </a:r>
            <a:endParaRPr lang="en-US" sz="1100" dirty="0"/>
          </a:p>
        </p:txBody>
      </p:sp>
      <p:sp>
        <p:nvSpPr>
          <p:cNvPr id="11" name="Text 9"/>
          <p:cNvSpPr txBox="1"/>
          <p:nvPr/>
        </p:nvSpPr>
        <p:spPr>
          <a:xfrm>
            <a:off x="914400" y="4306824"/>
            <a:ext cx="2880360" cy="530352"/>
          </a:xfrm>
          <a:prstGeom prst="rect">
            <a:avLst/>
          </a:prstGeom>
          <a:noFill/>
          <a:ln/>
        </p:spPr>
        <p:txBody>
          <a:bodyPr wrap="square" lIns="0" tIns="0" rIns="0" bIns="0" rtlCol="0" anchor="ctr"/>
          <a:lstStyle/>
          <a:p>
            <a:pPr marL="342900" indent="-342900">
              <a:lnSpc>
                <a:spcPct val="115000"/>
              </a:lnSpc>
              <a:buSzPct val="100000"/>
              <a:buChar char="•"/>
            </a:pPr>
            <a:r>
              <a:rPr lang="en-US" sz="1100" dirty="0">
                <a:solidFill>
                  <a:srgbClr val="6B7A87"/>
                </a:solidFill>
                <a:latin typeface="Calibri" pitchFamily="34" charset="0"/>
                <a:ea typeface="Calibri" pitchFamily="34" charset="-122"/>
                <a:cs typeface="Calibri" pitchFamily="34" charset="-120"/>
              </a:rPr>
              <a:t>Fourteen admin screens</a:t>
            </a:r>
            <a:endParaRPr lang="en-US" sz="1100" dirty="0"/>
          </a:p>
        </p:txBody>
      </p:sp>
      <p:sp>
        <p:nvSpPr>
          <p:cNvPr id="12" name="Text 10"/>
          <p:cNvSpPr txBox="1"/>
          <p:nvPr/>
        </p:nvSpPr>
        <p:spPr>
          <a:xfrm>
            <a:off x="914400" y="4873752"/>
            <a:ext cx="2880360" cy="530352"/>
          </a:xfrm>
          <a:prstGeom prst="rect">
            <a:avLst/>
          </a:prstGeom>
          <a:noFill/>
          <a:ln/>
        </p:spPr>
        <p:txBody>
          <a:bodyPr wrap="square" lIns="0" tIns="0" rIns="0" bIns="0" rtlCol="0" anchor="ctr"/>
          <a:lstStyle/>
          <a:p>
            <a:pPr marL="342900" indent="-342900">
              <a:lnSpc>
                <a:spcPct val="115000"/>
              </a:lnSpc>
              <a:buSzPct val="100000"/>
              <a:buChar char="•"/>
            </a:pPr>
            <a:r>
              <a:rPr lang="en-US" sz="1100" dirty="0">
                <a:solidFill>
                  <a:srgbClr val="6B7A87"/>
                </a:solidFill>
                <a:latin typeface="Calibri" pitchFamily="34" charset="0"/>
                <a:ea typeface="Calibri" pitchFamily="34" charset="-122"/>
                <a:cs typeface="Calibri" pitchFamily="34" charset="-120"/>
              </a:rPr>
              <a:t>Quotas, cache and audit</a:t>
            </a:r>
            <a:endParaRPr lang="en-US" sz="1100" dirty="0"/>
          </a:p>
        </p:txBody>
      </p:sp>
      <p:sp>
        <p:nvSpPr>
          <p:cNvPr id="13" name="Shape 11"/>
          <p:cNvSpPr/>
          <p:nvPr/>
        </p:nvSpPr>
        <p:spPr>
          <a:xfrm>
            <a:off x="4352544" y="1783080"/>
            <a:ext cx="3429000" cy="3749040"/>
          </a:xfrm>
          <a:prstGeom prst="roundRect">
            <a:avLst>
              <a:gd name="adj" fmla="val 1600"/>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14" name="Shape 12"/>
          <p:cNvSpPr/>
          <p:nvPr/>
        </p:nvSpPr>
        <p:spPr>
          <a:xfrm>
            <a:off x="4608576" y="2011680"/>
            <a:ext cx="329184" cy="329184"/>
          </a:xfrm>
          <a:prstGeom prst="ellipse">
            <a:avLst/>
          </a:prstGeom>
          <a:solidFill>
            <a:srgbClr val="E08A1E"/>
          </a:solidFill>
          <a:ln/>
        </p:spPr>
      </p:sp>
      <p:sp>
        <p:nvSpPr>
          <p:cNvPr id="15" name="Text 13"/>
          <p:cNvSpPr txBox="1"/>
          <p:nvPr/>
        </p:nvSpPr>
        <p:spPr>
          <a:xfrm>
            <a:off x="4608576" y="20116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4"/>
          <p:cNvSpPr txBox="1"/>
          <p:nvPr/>
        </p:nvSpPr>
        <p:spPr>
          <a:xfrm>
            <a:off x="5038344" y="2048256"/>
            <a:ext cx="2560320" cy="292608"/>
          </a:xfrm>
          <a:prstGeom prst="rect">
            <a:avLst/>
          </a:prstGeom>
          <a:noFill/>
          <a:ln/>
        </p:spPr>
        <p:txBody>
          <a:bodyPr wrap="square" lIns="0" tIns="0" rIns="0" bIns="0" rtlCol="0" anchor="ctr"/>
          <a:lstStyle/>
          <a:p>
            <a:pPr indent="0" marL="0">
              <a:buNone/>
            </a:pPr>
            <a:r>
              <a:rPr lang="en-US" sz="1600" b="1" dirty="0">
                <a:solidFill>
                  <a:srgbClr val="232B32"/>
                </a:solidFill>
                <a:latin typeface="Cambria" pitchFamily="34" charset="0"/>
                <a:ea typeface="Cambria" pitchFamily="34" charset="-122"/>
                <a:cs typeface="Cambria" pitchFamily="34" charset="-120"/>
              </a:rPr>
              <a:t>Next</a:t>
            </a:r>
            <a:endParaRPr lang="en-US" sz="1600" dirty="0"/>
          </a:p>
        </p:txBody>
      </p:sp>
      <p:sp>
        <p:nvSpPr>
          <p:cNvPr id="17" name="Text 15"/>
          <p:cNvSpPr txBox="1"/>
          <p:nvPr/>
        </p:nvSpPr>
        <p:spPr>
          <a:xfrm>
            <a:off x="4626864" y="2606040"/>
            <a:ext cx="2880360" cy="530352"/>
          </a:xfrm>
          <a:prstGeom prst="rect">
            <a:avLst/>
          </a:prstGeom>
          <a:noFill/>
          <a:ln/>
        </p:spPr>
        <p:txBody>
          <a:bodyPr wrap="square" lIns="0" tIns="0" rIns="0" bIns="0" rtlCol="0" anchor="ctr"/>
          <a:lstStyle/>
          <a:p>
            <a:pPr marL="342900" indent="-342900">
              <a:lnSpc>
                <a:spcPct val="115000"/>
              </a:lnSpc>
              <a:buSzPct val="100000"/>
              <a:buChar char="•"/>
            </a:pPr>
            <a:r>
              <a:rPr lang="en-US" sz="1100" dirty="0">
                <a:solidFill>
                  <a:srgbClr val="6B7A87"/>
                </a:solidFill>
                <a:latin typeface="Calibri" pitchFamily="34" charset="0"/>
                <a:ea typeface="Calibri" pitchFamily="34" charset="-122"/>
                <a:cs typeface="Calibri" pitchFamily="34" charset="-120"/>
              </a:rPr>
              <a:t>Vision — photograph a label or pallet</a:t>
            </a:r>
            <a:endParaRPr lang="en-US" sz="1100" dirty="0"/>
          </a:p>
        </p:txBody>
      </p:sp>
      <p:sp>
        <p:nvSpPr>
          <p:cNvPr id="18" name="Text 16"/>
          <p:cNvSpPr txBox="1"/>
          <p:nvPr/>
        </p:nvSpPr>
        <p:spPr>
          <a:xfrm>
            <a:off x="4626864" y="3172968"/>
            <a:ext cx="2880360" cy="530352"/>
          </a:xfrm>
          <a:prstGeom prst="rect">
            <a:avLst/>
          </a:prstGeom>
          <a:noFill/>
          <a:ln/>
        </p:spPr>
        <p:txBody>
          <a:bodyPr wrap="square" lIns="0" tIns="0" rIns="0" bIns="0" rtlCol="0" anchor="ctr"/>
          <a:lstStyle/>
          <a:p>
            <a:pPr marL="342900" indent="-342900">
              <a:lnSpc>
                <a:spcPct val="115000"/>
              </a:lnSpc>
              <a:buSzPct val="100000"/>
              <a:buChar char="•"/>
            </a:pPr>
            <a:r>
              <a:rPr lang="en-US" sz="1100" dirty="0">
                <a:solidFill>
                  <a:srgbClr val="6B7A87"/>
                </a:solidFill>
                <a:latin typeface="Calibri" pitchFamily="34" charset="0"/>
                <a:ea typeface="Calibri" pitchFamily="34" charset="-122"/>
                <a:cs typeface="Calibri" pitchFamily="34" charset="-120"/>
              </a:rPr>
              <a:t>Streaming answers, word by word</a:t>
            </a:r>
            <a:endParaRPr lang="en-US" sz="1100" dirty="0"/>
          </a:p>
        </p:txBody>
      </p:sp>
      <p:sp>
        <p:nvSpPr>
          <p:cNvPr id="19" name="Text 17"/>
          <p:cNvSpPr txBox="1"/>
          <p:nvPr/>
        </p:nvSpPr>
        <p:spPr>
          <a:xfrm>
            <a:off x="4626864" y="3739896"/>
            <a:ext cx="2880360" cy="530352"/>
          </a:xfrm>
          <a:prstGeom prst="rect">
            <a:avLst/>
          </a:prstGeom>
          <a:noFill/>
          <a:ln/>
        </p:spPr>
        <p:txBody>
          <a:bodyPr wrap="square" lIns="0" tIns="0" rIns="0" bIns="0" rtlCol="0" anchor="ctr"/>
          <a:lstStyle/>
          <a:p>
            <a:pPr marL="342900" indent="-342900">
              <a:lnSpc>
                <a:spcPct val="115000"/>
              </a:lnSpc>
              <a:buSzPct val="100000"/>
              <a:buChar char="•"/>
            </a:pPr>
            <a:r>
              <a:rPr lang="en-US" sz="1100" dirty="0">
                <a:solidFill>
                  <a:srgbClr val="6B7A87"/>
                </a:solidFill>
                <a:latin typeface="Calibri" pitchFamily="34" charset="0"/>
                <a:ea typeface="Calibri" pitchFamily="34" charset="-122"/>
                <a:cs typeface="Calibri" pitchFamily="34" charset="-120"/>
              </a:rPr>
              <a:t>More Graph entities — four already exposed</a:t>
            </a:r>
            <a:endParaRPr lang="en-US" sz="1100" dirty="0"/>
          </a:p>
        </p:txBody>
      </p:sp>
      <p:sp>
        <p:nvSpPr>
          <p:cNvPr id="20" name="Text 18"/>
          <p:cNvSpPr txBox="1"/>
          <p:nvPr/>
        </p:nvSpPr>
        <p:spPr>
          <a:xfrm>
            <a:off x="4626864" y="4306824"/>
            <a:ext cx="2880360" cy="530352"/>
          </a:xfrm>
          <a:prstGeom prst="rect">
            <a:avLst/>
          </a:prstGeom>
          <a:noFill/>
          <a:ln/>
        </p:spPr>
        <p:txBody>
          <a:bodyPr wrap="square" lIns="0" tIns="0" rIns="0" bIns="0" rtlCol="0" anchor="ctr"/>
          <a:lstStyle/>
          <a:p>
            <a:pPr marL="342900" indent="-342900">
              <a:lnSpc>
                <a:spcPct val="115000"/>
              </a:lnSpc>
              <a:buSzPct val="100000"/>
              <a:buChar char="•"/>
            </a:pPr>
            <a:r>
              <a:rPr lang="en-US" sz="1100" dirty="0">
                <a:solidFill>
                  <a:srgbClr val="6B7A87"/>
                </a:solidFill>
                <a:latin typeface="Calibri" pitchFamily="34" charset="0"/>
                <a:ea typeface="Calibri" pitchFamily="34" charset="-122"/>
                <a:cs typeface="Calibri" pitchFamily="34" charset="-120"/>
              </a:rPr>
              <a:t>Proactive digests and alerts</a:t>
            </a:r>
            <a:endParaRPr lang="en-US" sz="1100" dirty="0"/>
          </a:p>
        </p:txBody>
      </p:sp>
      <p:sp>
        <p:nvSpPr>
          <p:cNvPr id="21" name="Shape 19"/>
          <p:cNvSpPr/>
          <p:nvPr/>
        </p:nvSpPr>
        <p:spPr>
          <a:xfrm>
            <a:off x="8065008" y="1783080"/>
            <a:ext cx="3429000" cy="3749040"/>
          </a:xfrm>
          <a:prstGeom prst="roundRect">
            <a:avLst>
              <a:gd name="adj" fmla="val 1600"/>
            </a:avLst>
          </a:prstGeom>
          <a:solidFill>
            <a:srgbClr val="FFFFFF"/>
          </a:solidFill>
          <a:ln w="9525">
            <a:solidFill>
              <a:srgbClr val="D8DEE3"/>
            </a:solidFill>
            <a:prstDash val="solid"/>
          </a:ln>
          <a:effectLst>
            <a:outerShdw sx="100000" sy="100000" kx="0" ky="0" algn="bl" rotWithShape="0" blurRad="101600" dist="508" dir="5400000">
              <a:srgbClr val="9AA7B0">
                <a:alpha val="25000"/>
              </a:srgbClr>
            </a:outerShdw>
          </a:effectLst>
        </p:spPr>
      </p:sp>
      <p:sp>
        <p:nvSpPr>
          <p:cNvPr id="22" name="Shape 20"/>
          <p:cNvSpPr/>
          <p:nvPr/>
        </p:nvSpPr>
        <p:spPr>
          <a:xfrm>
            <a:off x="8321040" y="2011680"/>
            <a:ext cx="329184" cy="329184"/>
          </a:xfrm>
          <a:prstGeom prst="ellipse">
            <a:avLst/>
          </a:prstGeom>
          <a:solidFill>
            <a:srgbClr val="6B7A87"/>
          </a:solidFill>
          <a:ln/>
        </p:spPr>
      </p:sp>
      <p:sp>
        <p:nvSpPr>
          <p:cNvPr id="23" name="Text 21"/>
          <p:cNvSpPr txBox="1"/>
          <p:nvPr/>
        </p:nvSpPr>
        <p:spPr>
          <a:xfrm>
            <a:off x="8321040" y="20116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22"/>
          <p:cNvSpPr txBox="1"/>
          <p:nvPr/>
        </p:nvSpPr>
        <p:spPr>
          <a:xfrm>
            <a:off x="8750808" y="2048256"/>
            <a:ext cx="2560320" cy="292608"/>
          </a:xfrm>
          <a:prstGeom prst="rect">
            <a:avLst/>
          </a:prstGeom>
          <a:noFill/>
          <a:ln/>
        </p:spPr>
        <p:txBody>
          <a:bodyPr wrap="square" lIns="0" tIns="0" rIns="0" bIns="0" rtlCol="0" anchor="ctr"/>
          <a:lstStyle/>
          <a:p>
            <a:pPr indent="0" marL="0">
              <a:buNone/>
            </a:pPr>
            <a:r>
              <a:rPr lang="en-US" sz="1600" b="1" dirty="0">
                <a:solidFill>
                  <a:srgbClr val="232B32"/>
                </a:solidFill>
                <a:latin typeface="Cambria" pitchFamily="34" charset="0"/>
                <a:ea typeface="Cambria" pitchFamily="34" charset="-122"/>
                <a:cs typeface="Cambria" pitchFamily="34" charset="-120"/>
              </a:rPr>
              <a:t>Worth discussing</a:t>
            </a:r>
            <a:endParaRPr lang="en-US" sz="1600" dirty="0"/>
          </a:p>
        </p:txBody>
      </p:sp>
      <p:sp>
        <p:nvSpPr>
          <p:cNvPr id="25" name="Text 23"/>
          <p:cNvSpPr txBox="1"/>
          <p:nvPr/>
        </p:nvSpPr>
        <p:spPr>
          <a:xfrm>
            <a:off x="8339328" y="2606040"/>
            <a:ext cx="2880360" cy="530352"/>
          </a:xfrm>
          <a:prstGeom prst="rect">
            <a:avLst/>
          </a:prstGeom>
          <a:noFill/>
          <a:ln/>
        </p:spPr>
        <p:txBody>
          <a:bodyPr wrap="square" lIns="0" tIns="0" rIns="0" bIns="0" rtlCol="0" anchor="ctr"/>
          <a:lstStyle/>
          <a:p>
            <a:pPr marL="342900" indent="-342900">
              <a:lnSpc>
                <a:spcPct val="115000"/>
              </a:lnSpc>
              <a:buSzPct val="100000"/>
              <a:buChar char="•"/>
            </a:pPr>
            <a:r>
              <a:rPr lang="en-US" sz="1100" dirty="0">
                <a:solidFill>
                  <a:srgbClr val="6B7A87"/>
                </a:solidFill>
                <a:latin typeface="Calibri" pitchFamily="34" charset="0"/>
                <a:ea typeface="Calibri" pitchFamily="34" charset="-122"/>
                <a:cs typeface="Calibri" pitchFamily="34" charset="-120"/>
              </a:rPr>
              <a:t>LLM inside your tenant via SAP AI Core</a:t>
            </a:r>
            <a:endParaRPr lang="en-US" sz="1100" dirty="0"/>
          </a:p>
        </p:txBody>
      </p:sp>
      <p:sp>
        <p:nvSpPr>
          <p:cNvPr id="26" name="Text 24"/>
          <p:cNvSpPr txBox="1"/>
          <p:nvPr/>
        </p:nvSpPr>
        <p:spPr>
          <a:xfrm>
            <a:off x="8339328" y="3172968"/>
            <a:ext cx="2880360" cy="530352"/>
          </a:xfrm>
          <a:prstGeom prst="rect">
            <a:avLst/>
          </a:prstGeom>
          <a:noFill/>
          <a:ln/>
        </p:spPr>
        <p:txBody>
          <a:bodyPr wrap="square" lIns="0" tIns="0" rIns="0" bIns="0" rtlCol="0" anchor="ctr"/>
          <a:lstStyle/>
          <a:p>
            <a:pPr marL="342900" indent="-342900">
              <a:lnSpc>
                <a:spcPct val="115000"/>
              </a:lnSpc>
              <a:buSzPct val="100000"/>
              <a:buChar char="•"/>
            </a:pPr>
            <a:r>
              <a:rPr lang="en-US" sz="1100" dirty="0">
                <a:solidFill>
                  <a:srgbClr val="6B7A87"/>
                </a:solidFill>
                <a:latin typeface="Calibri" pitchFamily="34" charset="0"/>
                <a:ea typeface="Calibri" pitchFamily="34" charset="-122"/>
                <a:cs typeface="Calibri" pitchFamily="34" charset="-120"/>
              </a:rPr>
              <a:t>Additional plants and warehouses</a:t>
            </a:r>
            <a:endParaRPr lang="en-US" sz="1100" dirty="0"/>
          </a:p>
        </p:txBody>
      </p:sp>
      <p:sp>
        <p:nvSpPr>
          <p:cNvPr id="27" name="Text 25"/>
          <p:cNvSpPr txBox="1"/>
          <p:nvPr/>
        </p:nvSpPr>
        <p:spPr>
          <a:xfrm>
            <a:off x="8339328" y="3739896"/>
            <a:ext cx="2880360" cy="530352"/>
          </a:xfrm>
          <a:prstGeom prst="rect">
            <a:avLst/>
          </a:prstGeom>
          <a:noFill/>
          <a:ln/>
        </p:spPr>
        <p:txBody>
          <a:bodyPr wrap="square" lIns="0" tIns="0" rIns="0" bIns="0" rtlCol="0" anchor="ctr"/>
          <a:lstStyle/>
          <a:p>
            <a:pPr marL="342900" indent="-342900">
              <a:lnSpc>
                <a:spcPct val="115000"/>
              </a:lnSpc>
              <a:buSzPct val="100000"/>
              <a:buChar char="•"/>
            </a:pPr>
            <a:r>
              <a:rPr lang="en-US" sz="1100" dirty="0">
                <a:solidFill>
                  <a:srgbClr val="6B7A87"/>
                </a:solidFill>
                <a:latin typeface="Calibri" pitchFamily="34" charset="0"/>
                <a:ea typeface="Calibri" pitchFamily="34" charset="-122"/>
                <a:cs typeface="Calibri" pitchFamily="34" charset="-120"/>
              </a:rPr>
              <a:t>Deeper approval hierarchies</a:t>
            </a:r>
            <a:endParaRPr lang="en-US" sz="1100" dirty="0"/>
          </a:p>
        </p:txBody>
      </p:sp>
      <p:sp>
        <p:nvSpPr>
          <p:cNvPr id="28" name="Text 26"/>
          <p:cNvSpPr txBox="1"/>
          <p:nvPr/>
        </p:nvSpPr>
        <p:spPr>
          <a:xfrm>
            <a:off x="640080" y="5715000"/>
            <a:ext cx="10881360" cy="502920"/>
          </a:xfrm>
          <a:prstGeom prst="rect">
            <a:avLst/>
          </a:prstGeom>
          <a:noFill/>
          <a:ln/>
        </p:spPr>
        <p:txBody>
          <a:bodyPr wrap="square" lIns="0" tIns="0" rIns="0" bIns="0" rtlCol="0" anchor="ctr"/>
          <a:lstStyle/>
          <a:p>
            <a:pPr indent="0" marL="0">
              <a:lnSpc>
                <a:spcPct val="115000"/>
              </a:lnSpc>
              <a:buNone/>
            </a:pPr>
            <a:r>
              <a:rPr lang="en-US" sz="1200" i="1" dirty="0">
                <a:solidFill>
                  <a:srgbClr val="232B32"/>
                </a:solidFill>
                <a:latin typeface="Calibri" pitchFamily="34" charset="0"/>
                <a:ea typeface="Calibri" pitchFamily="34" charset="-122"/>
                <a:cs typeface="Calibri" pitchFamily="34" charset="-120"/>
              </a:rPr>
              <a:t>SAP AI Core would keep prompts inside your own tenant. It is not available on a trial entitlement — worth costing if data residency matters to you.</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32B32"/>
        </a:solidFill>
      </p:bgPr>
    </p:bg>
    <p:spTree>
      <p:nvGrpSpPr>
        <p:cNvPr id="1" name=""/>
        <p:cNvGrpSpPr/>
        <p:nvPr/>
      </p:nvGrpSpPr>
      <p:grpSpPr>
        <a:xfrm>
          <a:off x="0" y="0"/>
          <a:ext cx="0" cy="0"/>
          <a:chOff x="0" y="0"/>
          <a:chExt cx="0" cy="0"/>
        </a:xfrm>
      </p:grpSpPr>
      <p:sp>
        <p:nvSpPr>
          <p:cNvPr id="2" name="Text 0"/>
          <p:cNvSpPr txBox="1"/>
          <p:nvPr/>
        </p:nvSpPr>
        <p:spPr>
          <a:xfrm>
            <a:off x="640080" y="2331720"/>
            <a:ext cx="91440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Ask it something.</a:t>
            </a:r>
            <a:endParaRPr lang="en-US" sz="4600" dirty="0"/>
          </a:p>
        </p:txBody>
      </p:sp>
      <p:sp>
        <p:nvSpPr>
          <p:cNvPr id="3" name="Text 1"/>
          <p:cNvSpPr txBox="1"/>
          <p:nvPr/>
        </p:nvSpPr>
        <p:spPr>
          <a:xfrm>
            <a:off x="640080" y="3337560"/>
            <a:ext cx="8686800" cy="868680"/>
          </a:xfrm>
          <a:prstGeom prst="rect">
            <a:avLst/>
          </a:prstGeom>
          <a:noFill/>
          <a:ln/>
        </p:spPr>
        <p:txBody>
          <a:bodyPr wrap="square" lIns="0" tIns="0" rIns="0" bIns="0" rtlCol="0" anchor="ctr"/>
          <a:lstStyle/>
          <a:p>
            <a:pPr indent="0" marL="0">
              <a:lnSpc>
                <a:spcPct val="130000"/>
              </a:lnSpc>
              <a:buNone/>
            </a:pPr>
            <a:r>
              <a:rPr lang="en-US" sz="1700" dirty="0">
                <a:solidFill>
                  <a:srgbClr val="9FB0BB"/>
                </a:solidFill>
                <a:latin typeface="Calibri" pitchFamily="34" charset="0"/>
                <a:ea typeface="Calibri" pitchFamily="34" charset="-122"/>
                <a:cs typeface="Calibri" pitchFamily="34" charset="-120"/>
              </a:rPr>
              <a:t>Live S/4HANA data, through SAP Graph, on SAP BTP.</a:t>
            </a:r>
            <a:endParaRPr lang="en-US" sz="1700" dirty="0"/>
          </a:p>
          <a:p>
            <a:pPr indent="0" marL="0">
              <a:lnSpc>
                <a:spcPct val="130000"/>
              </a:lnSpc>
              <a:buNone/>
            </a:pPr>
            <a:r>
              <a:rPr lang="en-US" sz="1700" dirty="0">
                <a:solidFill>
                  <a:srgbClr val="9FB0BB"/>
                </a:solidFill>
                <a:latin typeface="Calibri" pitchFamily="34" charset="0"/>
                <a:ea typeface="Calibri" pitchFamily="34" charset="-122"/>
                <a:cs typeface="Calibri" pitchFamily="34" charset="-120"/>
              </a:rPr>
              <a:t>Every answer shows where it came from.</a:t>
            </a:r>
            <a:endParaRPr lang="en-US" sz="1700" dirty="0"/>
          </a:p>
        </p:txBody>
      </p:sp>
      <p:sp>
        <p:nvSpPr>
          <p:cNvPr id="4" name="Text 2"/>
          <p:cNvSpPr txBox="1"/>
          <p:nvPr/>
        </p:nvSpPr>
        <p:spPr>
          <a:xfrm>
            <a:off x="640080" y="4572000"/>
            <a:ext cx="5486400" cy="365760"/>
          </a:xfrm>
          <a:prstGeom prst="rect">
            <a:avLst/>
          </a:prstGeom>
          <a:noFill/>
          <a:ln/>
        </p:spPr>
        <p:txBody>
          <a:bodyPr wrap="square" lIns="0" tIns="0" rIns="0" bIns="0" rtlCol="0" anchor="ctr"/>
          <a:lstStyle/>
          <a:p>
            <a:pPr indent="0" marL="0">
              <a:buNone/>
            </a:pPr>
            <a:r>
              <a:rPr lang="en-US" sz="1200" dirty="0">
                <a:solidFill>
                  <a:srgbClr val="E08A1E"/>
                </a:solidFill>
                <a:latin typeface="Courier New" pitchFamily="34" charset="0"/>
                <a:ea typeface="Courier New" pitchFamily="34" charset="-122"/>
                <a:cs typeface="Courier New" pitchFamily="34" charset="-120"/>
              </a:rPr>
              <a:t>FactoryPilot_CAPM</a:t>
            </a:r>
            <a:endParaRPr lang="en-US" sz="1200" dirty="0"/>
          </a:p>
        </p:txBody>
      </p:sp>
      <p:sp>
        <p:nvSpPr>
          <p:cNvPr id="5" name="Shape 3"/>
          <p:cNvSpPr/>
          <p:nvPr/>
        </p:nvSpPr>
        <p:spPr>
          <a:xfrm>
            <a:off x="9966960" y="3749040"/>
            <a:ext cx="292608" cy="457200"/>
          </a:xfrm>
          <a:prstGeom prst="rect">
            <a:avLst/>
          </a:prstGeom>
          <a:solidFill>
            <a:srgbClr val="3A4650"/>
          </a:solidFill>
          <a:ln/>
        </p:spPr>
      </p:sp>
      <p:sp>
        <p:nvSpPr>
          <p:cNvPr id="6" name="Shape 4"/>
          <p:cNvSpPr/>
          <p:nvPr/>
        </p:nvSpPr>
        <p:spPr>
          <a:xfrm>
            <a:off x="10351008" y="3493008"/>
            <a:ext cx="292608" cy="713232"/>
          </a:xfrm>
          <a:prstGeom prst="rect">
            <a:avLst/>
          </a:prstGeom>
          <a:solidFill>
            <a:srgbClr val="3A4650"/>
          </a:solidFill>
          <a:ln/>
        </p:spPr>
      </p:sp>
      <p:sp>
        <p:nvSpPr>
          <p:cNvPr id="7" name="Shape 5"/>
          <p:cNvSpPr/>
          <p:nvPr/>
        </p:nvSpPr>
        <p:spPr>
          <a:xfrm>
            <a:off x="10735056" y="3182112"/>
            <a:ext cx="292608" cy="1024128"/>
          </a:xfrm>
          <a:prstGeom prst="rect">
            <a:avLst/>
          </a:prstGeom>
          <a:solidFill>
            <a:srgbClr val="E08A1E"/>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FactoryPilot_CAPM</dc:title>
  <dc:subject>PptxGenJS Presentation</dc:subject>
  <dc:creator>FactoryPilot</dc:creator>
  <cp:lastModifiedBy>FactoryPilot</cp:lastModifiedBy>
  <cp:revision>1</cp:revision>
  <dcterms:created xsi:type="dcterms:W3CDTF">2026-08-31T12:18:54Z</dcterms:created>
  <dcterms:modified xsi:type="dcterms:W3CDTF">2026-08-31T12:18:54Z</dcterms:modified>
</cp:coreProperties>
</file>